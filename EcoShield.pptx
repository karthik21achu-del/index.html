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hn5jDnrN85GcrVvK34hLxNr5ZQ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Good morning judges and distinguished guests. Today we present EcoShield: a multi-hazard disaster intelligence platform built to tackle one of the most recurring climate vulnerabilities in South Asia -- cascading monsoon disasters in Kerala. EcoShield bridges the gap between raw global satellite data and actionable ground-level emergency decisions using 100% explainable, deterministic intelligence. It is fully live right now at ecoshield-xi.vercel.app.</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 disaster management, seconds save lives. But right now, emergency commanders face three critical bottlenecks: First, disasters in Kerala are compound -- heavy rain creates saturated slopes that collapse while rivers swell simultaneously. Second, modern AI has largely failed emergency teams because neural networks operate as black boxes; an incident commander cannot risk lives on an unexplained probability. Third, the critical data is scattered across five separate government portals.</a:t>
            </a:r>
            <a:endParaRPr/>
          </a:p>
        </p:txBody>
      </p:sp>
      <p:sp>
        <p:nvSpPr>
          <p:cNvPr id="62" name="Google Shape;6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EcoShield answers this challenge with an open, unified architecture: We ingest five live global data streams; we replace black-box models with a deterministic Explainable AI engine where every point is auditable; and we automate the response plan, matching physical inventory to severity and flagging shortages instantly.</a:t>
            </a:r>
            <a:endParaRPr/>
          </a:p>
        </p:txBody>
      </p:sp>
      <p:sp>
        <p:nvSpPr>
          <p:cNvPr id="119" name="Google Shape;11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Data integrity is the foundation of EcoShield. We do not use mock data or static JSON in production. We connect to five live global data streams: Open-Meteo for high-frequency precipitation and soil moisture; GloFAS Copernicus for river discharge; NASA FIRMS NOAA-20 satellite for live thermal anomalies; Copernicus GLO-90 for terrain slope; and CAMS for atmospheric pollutants. Our NASA integration includes a zero-configuration fallback to open South Asia VIIRS data, ensuring the app works instantly anywhere without requiring pre-paid API keys.</a:t>
            </a:r>
            <a:endParaRPr/>
          </a:p>
        </p:txBody>
      </p:sp>
      <p:sp>
        <p:nvSpPr>
          <p:cNvPr id="177" name="Google Shape;17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How does the risk engine actually work? We normalize every input against critical empirical thresholds. For example, 100 millimeters of 24-hour rain reaches full saturation. Each hazard computes a weighted score. If an input is unavailable, we don't assume zero; we renormalize the remaining weights and flag the partial coverage. Most importantly, compound multi-hazard fusion takes the primary hazard and adds a fractional multiplier for secondary threats, preventing double-counting of correlated rainfall signals.</a:t>
            </a:r>
            <a:endParaRPr/>
          </a:p>
        </p:txBody>
      </p:sp>
      <p:sp>
        <p:nvSpPr>
          <p:cNvPr id="250" name="Google Shape;25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 is the user experience in action. The command center provides high-density, low-latency situational awareness. Operators get an interactive Leaflet map with layer toggles, 48-hour past-and-future rainfall area charts, and transparent risk drilldowns. Every action suggested by Eco-AI has a 'Why this recommendation?' button that shows the exact sensor threshold that triggered it, eliminating operator guesswork.</a:t>
            </a:r>
            <a:endParaRPr/>
          </a:p>
        </p:txBody>
      </p:sp>
      <p:sp>
        <p:nvSpPr>
          <p:cNvPr id="363" name="Google Shape;36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 disaster dashboard that only displays numbers is incomplete. EcoShield directly connects hazard intelligence to logistical action. Our resource allocation engine prioritizes high-risk zones based 70% on severity, 20% on human exposure, and 10% on depot travel proximity. Crucially, when resources run short, EcoShield doesn't pretend everything is fine -- it flags the exact capacity gap so authorities can immediately request inter-state or national NDRF reinforcement.</a:t>
            </a:r>
            <a:endParaRPr/>
          </a:p>
        </p:txBody>
      </p:sp>
      <p:sp>
        <p:nvSpPr>
          <p:cNvPr id="441" name="Google Shape;44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To validate our system before a crisis happens, EcoShield includes an Incident Replay digital twin. Operators can scrub across a 7-stage crisis timeline -- from the first 10 AM cloudburst to the 13:17 emergency dispatch. This lets state planners conduct realistic disaster drills, test automated alerting cadences, and review how earlier warnings could have saved lives.</a:t>
            </a:r>
            <a:endParaRPr/>
          </a:p>
        </p:txBody>
      </p:sp>
      <p:sp>
        <p:nvSpPr>
          <p:cNvPr id="508" name="Google Shape;50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On the engineering side, EcoShield is built for extreme performance and reliability: We use React 19 and Vite for a sub-second UI experience. Our backend uses a universal Worker architecture that compiles to Cloudflare Workers, Vercel Serverless Functions, or a standalone zero-dependency Node.js Docker container. Our test suite has 10 out of 10 passing tests verifying risk boundary math, rainfall accumulation windows, and inventory conservation.</a:t>
            </a:r>
            <a:endParaRPr/>
          </a:p>
        </p:txBody>
      </p:sp>
      <p:sp>
        <p:nvSpPr>
          <p:cNvPr id="576" name="Google Shape;57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What is the real-world impact? By giving emergency commanders explainable, multi-hazard intelligence, we eliminate decision paralysis and enable proactive evacuations. Our Phase 2 roadmap includes integrating IMD Doppler radar imagery, deploying physical LoRa nodes in high-risk tea plantation slopes, and generating automated local Malayalam voice broadcasts for vulnerable rural families.</a:t>
            </a:r>
            <a:endParaRPr/>
          </a:p>
        </p:txBody>
      </p:sp>
      <p:sp>
        <p:nvSpPr>
          <p:cNvPr id="624" name="Google Shape;62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6" name="Google Shape;67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To conclude: EcoShield proves that disaster intelligence does not have to be an opaque, expensive black box. With transparent mathematics, live global data, and actionable logistics, we can protect lives and build resilient communities. Thank you, and we invite you to explore the live deployment right now at ecoshield-xi.vercel.app. We are now open for your questions.</a:t>
            </a:r>
            <a:endParaRPr/>
          </a:p>
        </p:txBody>
      </p:sp>
      <p:sp>
        <p:nvSpPr>
          <p:cNvPr id="677" name="Google Shape;67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ecoshield-xi.vercel.ap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ecoshield-xi.vercel.ap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11" name="Shape 11"/>
        <p:cNvGrpSpPr/>
        <p:nvPr/>
      </p:nvGrpSpPr>
      <p:grpSpPr>
        <a:xfrm>
          <a:off x="0" y="0"/>
          <a:ext cx="0" cy="0"/>
          <a:chOff x="0" y="0"/>
          <a:chExt cx="0" cy="0"/>
        </a:xfrm>
      </p:grpSpPr>
      <p:sp>
        <p:nvSpPr>
          <p:cNvPr id="12" name="Google Shape;12;p1"/>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 name="Google Shape;13;p1"/>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14" name="Google Shape;14;p1"/>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i="0" lang="en-US" sz="1100" u="none" cap="none" strike="noStrike">
                <a:solidFill>
                  <a:srgbClr val="E8A23B"/>
                </a:solidFill>
                <a:latin typeface="Courier New"/>
                <a:ea typeface="Courier New"/>
                <a:cs typeface="Courier New"/>
                <a:sym typeface="Courier New"/>
              </a:rPr>
              <a:t>ECOSHIELD</a:t>
            </a:r>
            <a:endParaRPr b="0" i="0" sz="1100" u="none" cap="none" strike="noStrike">
              <a:solidFill>
                <a:schemeClr val="dk1"/>
              </a:solidFill>
              <a:latin typeface="Calibri"/>
              <a:ea typeface="Calibri"/>
              <a:cs typeface="Calibri"/>
              <a:sym typeface="Calibri"/>
            </a:endParaRPr>
          </a:p>
        </p:txBody>
      </p:sp>
      <p:sp>
        <p:nvSpPr>
          <p:cNvPr id="15" name="Google Shape;15;p1"/>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i="0" lang="en-US" sz="2200" u="none" cap="none" strike="noStrike">
                <a:solidFill>
                  <a:srgbClr val="FFFFFF"/>
                </a:solidFill>
                <a:latin typeface="Courier New"/>
                <a:ea typeface="Courier New"/>
                <a:cs typeface="Courier New"/>
                <a:sym typeface="Courier New"/>
              </a:rPr>
              <a:t>01</a:t>
            </a:r>
            <a:endParaRPr b="0" i="0" sz="2200" u="none" cap="none" strike="noStrike">
              <a:solidFill>
                <a:schemeClr val="dk1"/>
              </a:solidFill>
              <a:latin typeface="Calibri"/>
              <a:ea typeface="Calibri"/>
              <a:cs typeface="Calibri"/>
              <a:sym typeface="Calibri"/>
            </a:endParaRPr>
          </a:p>
        </p:txBody>
      </p:sp>
      <p:sp>
        <p:nvSpPr>
          <p:cNvPr id="16" name="Google Shape;16;p1"/>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b="0" i="0" lang="en-US" sz="900" u="none" cap="none" strike="noStrike">
                <a:solidFill>
                  <a:srgbClr val="C7A19C"/>
                </a:solidFill>
                <a:latin typeface="Courier New"/>
                <a:ea typeface="Courier New"/>
                <a:cs typeface="Courier New"/>
                <a:sym typeface="Courier New"/>
              </a:rPr>
              <a:t>/ 11</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rot="1200000">
            <a:off x="7985455" y="-1188720"/>
            <a:ext cx="5120640" cy="5120640"/>
          </a:xfrm>
          <a:prstGeom prst="rect">
            <a:avLst/>
          </a:prstGeom>
          <a:noFill/>
          <a:ln cap="flat" cmpd="sng" w="19050">
            <a:solidFill>
              <a:srgbClr val="2A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rot="1200000">
            <a:off x="9082735" y="-182880"/>
            <a:ext cx="2926080" cy="2926080"/>
          </a:xfrm>
          <a:prstGeom prst="rect">
            <a:avLst/>
          </a:prstGeom>
          <a:no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txBox="1"/>
          <p:nvPr/>
        </p:nvSpPr>
        <p:spPr>
          <a:xfrm>
            <a:off x="1188715" y="342893"/>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250"/>
              <a:buFont typeface="Courier New"/>
              <a:buNone/>
            </a:pPr>
            <a:r>
              <a:rPr b="1" i="0" lang="en-US" sz="1250" u="none" cap="none" strike="noStrike">
                <a:solidFill>
                  <a:srgbClr val="E8A23B"/>
                </a:solidFill>
                <a:latin typeface="Courier New"/>
                <a:ea typeface="Courier New"/>
                <a:cs typeface="Courier New"/>
                <a:sym typeface="Courier New"/>
              </a:rPr>
              <a:t>// DISASTER INTELLIGENCE PLATFORM</a:t>
            </a:r>
            <a:endParaRPr b="0" i="0" sz="1250" u="none" cap="none" strike="noStrike">
              <a:solidFill>
                <a:schemeClr val="dk1"/>
              </a:solidFill>
              <a:latin typeface="Calibri"/>
              <a:ea typeface="Calibri"/>
              <a:cs typeface="Calibri"/>
              <a:sym typeface="Calibri"/>
            </a:endParaRPr>
          </a:p>
        </p:txBody>
      </p:sp>
      <p:sp>
        <p:nvSpPr>
          <p:cNvPr id="25" name="Google Shape;25;p1"/>
          <p:cNvSpPr txBox="1"/>
          <p:nvPr/>
        </p:nvSpPr>
        <p:spPr>
          <a:xfrm>
            <a:off x="1188720" y="1211500"/>
            <a:ext cx="96012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800"/>
              <a:buFont typeface="Arial"/>
              <a:buNone/>
            </a:pPr>
            <a:r>
              <a:rPr b="1" i="0" lang="en-US" sz="6800" u="none" cap="none" strike="noStrike">
                <a:solidFill>
                  <a:srgbClr val="FFFFFF"/>
                </a:solidFill>
                <a:latin typeface="Arial"/>
                <a:ea typeface="Arial"/>
                <a:cs typeface="Arial"/>
                <a:sym typeface="Arial"/>
              </a:rPr>
              <a:t>ECOSHIELD</a:t>
            </a:r>
            <a:endParaRPr b="0" i="0" sz="6800" u="none" cap="none" strike="noStrike">
              <a:solidFill>
                <a:schemeClr val="dk1"/>
              </a:solidFill>
              <a:latin typeface="Calibri"/>
              <a:ea typeface="Calibri"/>
              <a:cs typeface="Calibri"/>
              <a:sym typeface="Calibri"/>
            </a:endParaRPr>
          </a:p>
        </p:txBody>
      </p:sp>
      <p:sp>
        <p:nvSpPr>
          <p:cNvPr id="26" name="Google Shape;26;p1"/>
          <p:cNvSpPr/>
          <p:nvPr/>
        </p:nvSpPr>
        <p:spPr>
          <a:xfrm>
            <a:off x="1234440" y="2542030"/>
            <a:ext cx="502800" cy="54900"/>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txBox="1"/>
          <p:nvPr/>
        </p:nvSpPr>
        <p:spPr>
          <a:xfrm>
            <a:off x="1234440" y="2852928"/>
            <a:ext cx="89611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700"/>
              <a:buFont typeface="Calibri"/>
              <a:buNone/>
            </a:pPr>
            <a:r>
              <a:rPr b="0" i="1" lang="en-US" sz="1700" u="none" cap="none" strike="noStrike">
                <a:solidFill>
                  <a:srgbClr val="C7A19C"/>
                </a:solidFill>
                <a:latin typeface="Calibri"/>
                <a:ea typeface="Calibri"/>
                <a:cs typeface="Calibri"/>
                <a:sym typeface="Calibri"/>
              </a:rPr>
              <a:t>Explainable, Real-Time Early Warning &amp; Decision Support for Compound Disasters</a:t>
            </a:r>
            <a:endParaRPr b="0" i="0" sz="1700" u="none" cap="none" strike="noStrike">
              <a:solidFill>
                <a:schemeClr val="dk1"/>
              </a:solidFill>
              <a:latin typeface="Calibri"/>
              <a:ea typeface="Calibri"/>
              <a:cs typeface="Calibri"/>
              <a:sym typeface="Calibri"/>
            </a:endParaRPr>
          </a:p>
        </p:txBody>
      </p:sp>
      <p:sp>
        <p:nvSpPr>
          <p:cNvPr id="28" name="Google Shape;28;p1"/>
          <p:cNvSpPr/>
          <p:nvPr/>
        </p:nvSpPr>
        <p:spPr>
          <a:xfrm>
            <a:off x="1234440" y="3657600"/>
            <a:ext cx="2450592" cy="105156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 name="Google Shape;29;p1"/>
          <p:cNvCxnSpPr/>
          <p:nvPr/>
        </p:nvCxnSpPr>
        <p:spPr>
          <a:xfrm>
            <a:off x="1234440" y="3657600"/>
            <a:ext cx="146304" cy="0"/>
          </a:xfrm>
          <a:prstGeom prst="straightConnector1">
            <a:avLst/>
          </a:prstGeom>
          <a:noFill/>
          <a:ln cap="flat" cmpd="sng" w="19050">
            <a:solidFill>
              <a:srgbClr val="D14A2E"/>
            </a:solidFill>
            <a:prstDash val="solid"/>
            <a:round/>
            <a:headEnd len="sm" w="sm" type="none"/>
            <a:tailEnd len="sm" w="sm" type="none"/>
          </a:ln>
        </p:spPr>
      </p:cxnSp>
      <p:cxnSp>
        <p:nvCxnSpPr>
          <p:cNvPr id="30" name="Google Shape;30;p1"/>
          <p:cNvCxnSpPr/>
          <p:nvPr/>
        </p:nvCxnSpPr>
        <p:spPr>
          <a:xfrm>
            <a:off x="1234440" y="3657600"/>
            <a:ext cx="0" cy="146304"/>
          </a:xfrm>
          <a:prstGeom prst="straightConnector1">
            <a:avLst/>
          </a:prstGeom>
          <a:noFill/>
          <a:ln cap="flat" cmpd="sng" w="19050">
            <a:solidFill>
              <a:srgbClr val="D14A2E"/>
            </a:solidFill>
            <a:prstDash val="solid"/>
            <a:round/>
            <a:headEnd len="sm" w="sm" type="none"/>
            <a:tailEnd len="sm" w="sm" type="none"/>
          </a:ln>
        </p:spPr>
      </p:cxnSp>
      <p:cxnSp>
        <p:nvCxnSpPr>
          <p:cNvPr id="31" name="Google Shape;31;p1"/>
          <p:cNvCxnSpPr/>
          <p:nvPr/>
        </p:nvCxnSpPr>
        <p:spPr>
          <a:xfrm>
            <a:off x="3538728" y="4709160"/>
            <a:ext cx="146304" cy="0"/>
          </a:xfrm>
          <a:prstGeom prst="straightConnector1">
            <a:avLst/>
          </a:prstGeom>
          <a:noFill/>
          <a:ln cap="flat" cmpd="sng" w="19050">
            <a:solidFill>
              <a:srgbClr val="D14A2E"/>
            </a:solidFill>
            <a:prstDash val="solid"/>
            <a:round/>
            <a:headEnd len="sm" w="sm" type="none"/>
            <a:tailEnd len="sm" w="sm" type="none"/>
          </a:ln>
        </p:spPr>
      </p:cxnSp>
      <p:cxnSp>
        <p:nvCxnSpPr>
          <p:cNvPr id="32" name="Google Shape;32;p1"/>
          <p:cNvCxnSpPr/>
          <p:nvPr/>
        </p:nvCxnSpPr>
        <p:spPr>
          <a:xfrm>
            <a:off x="3685032" y="4562856"/>
            <a:ext cx="0" cy="146304"/>
          </a:xfrm>
          <a:prstGeom prst="straightConnector1">
            <a:avLst/>
          </a:prstGeom>
          <a:noFill/>
          <a:ln cap="flat" cmpd="sng" w="19050">
            <a:solidFill>
              <a:srgbClr val="D14A2E"/>
            </a:solidFill>
            <a:prstDash val="solid"/>
            <a:round/>
            <a:headEnd len="sm" w="sm" type="none"/>
            <a:tailEnd len="sm" w="sm" type="none"/>
          </a:ln>
        </p:spPr>
      </p:cxnSp>
      <p:sp>
        <p:nvSpPr>
          <p:cNvPr id="33" name="Google Shape;33;p1"/>
          <p:cNvSpPr txBox="1"/>
          <p:nvPr/>
        </p:nvSpPr>
        <p:spPr>
          <a:xfrm>
            <a:off x="1371600" y="3776472"/>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000"/>
              <a:buFont typeface="Calibri"/>
              <a:buNone/>
            </a:pPr>
            <a:r>
              <a:rPr b="0" i="0" lang="en-US" sz="2000" u="none" cap="none" strike="noStrike">
                <a:solidFill>
                  <a:srgbClr val="E8A23B"/>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34" name="Google Shape;34;p1"/>
          <p:cNvSpPr txBox="1"/>
          <p:nvPr/>
        </p:nvSpPr>
        <p:spPr>
          <a:xfrm>
            <a:off x="1371600" y="4206240"/>
            <a:ext cx="2176272"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950"/>
              <a:buFont typeface="Courier New"/>
              <a:buNone/>
            </a:pPr>
            <a:r>
              <a:rPr b="1" i="0" lang="en-US" sz="950" u="none" cap="none" strike="noStrike">
                <a:solidFill>
                  <a:srgbClr val="F3E7E4"/>
                </a:solidFill>
                <a:latin typeface="Courier New"/>
                <a:ea typeface="Courier New"/>
                <a:cs typeface="Courier New"/>
                <a:sym typeface="Courier New"/>
              </a:rPr>
              <a:t>5 LIVE SATELLITE &amp; MET FEEDS</a:t>
            </a:r>
            <a:endParaRPr b="0" i="0" sz="950" u="none" cap="none" strike="noStrike">
              <a:solidFill>
                <a:schemeClr val="dk1"/>
              </a:solidFill>
              <a:latin typeface="Calibri"/>
              <a:ea typeface="Calibri"/>
              <a:cs typeface="Calibri"/>
              <a:sym typeface="Calibri"/>
            </a:endParaRPr>
          </a:p>
        </p:txBody>
      </p:sp>
      <p:sp>
        <p:nvSpPr>
          <p:cNvPr id="35" name="Google Shape;35;p1"/>
          <p:cNvSpPr/>
          <p:nvPr/>
        </p:nvSpPr>
        <p:spPr>
          <a:xfrm>
            <a:off x="3831336" y="3657600"/>
            <a:ext cx="2450592" cy="105156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 name="Google Shape;36;p1"/>
          <p:cNvCxnSpPr/>
          <p:nvPr/>
        </p:nvCxnSpPr>
        <p:spPr>
          <a:xfrm>
            <a:off x="3831336" y="3657600"/>
            <a:ext cx="146304" cy="0"/>
          </a:xfrm>
          <a:prstGeom prst="straightConnector1">
            <a:avLst/>
          </a:prstGeom>
          <a:noFill/>
          <a:ln cap="flat" cmpd="sng" w="19050">
            <a:solidFill>
              <a:srgbClr val="D14A2E"/>
            </a:solidFill>
            <a:prstDash val="solid"/>
            <a:round/>
            <a:headEnd len="sm" w="sm" type="none"/>
            <a:tailEnd len="sm" w="sm" type="none"/>
          </a:ln>
        </p:spPr>
      </p:cxnSp>
      <p:cxnSp>
        <p:nvCxnSpPr>
          <p:cNvPr id="37" name="Google Shape;37;p1"/>
          <p:cNvCxnSpPr/>
          <p:nvPr/>
        </p:nvCxnSpPr>
        <p:spPr>
          <a:xfrm>
            <a:off x="3831336" y="3657600"/>
            <a:ext cx="0" cy="146304"/>
          </a:xfrm>
          <a:prstGeom prst="straightConnector1">
            <a:avLst/>
          </a:prstGeom>
          <a:noFill/>
          <a:ln cap="flat" cmpd="sng" w="19050">
            <a:solidFill>
              <a:srgbClr val="D14A2E"/>
            </a:solidFill>
            <a:prstDash val="solid"/>
            <a:round/>
            <a:headEnd len="sm" w="sm" type="none"/>
            <a:tailEnd len="sm" w="sm" type="none"/>
          </a:ln>
        </p:spPr>
      </p:cxnSp>
      <p:cxnSp>
        <p:nvCxnSpPr>
          <p:cNvPr id="38" name="Google Shape;38;p1"/>
          <p:cNvCxnSpPr/>
          <p:nvPr/>
        </p:nvCxnSpPr>
        <p:spPr>
          <a:xfrm>
            <a:off x="6135624" y="4709160"/>
            <a:ext cx="146304" cy="0"/>
          </a:xfrm>
          <a:prstGeom prst="straightConnector1">
            <a:avLst/>
          </a:prstGeom>
          <a:noFill/>
          <a:ln cap="flat" cmpd="sng" w="19050">
            <a:solidFill>
              <a:srgbClr val="D14A2E"/>
            </a:solidFill>
            <a:prstDash val="solid"/>
            <a:round/>
            <a:headEnd len="sm" w="sm" type="none"/>
            <a:tailEnd len="sm" w="sm" type="none"/>
          </a:ln>
        </p:spPr>
      </p:cxnSp>
      <p:cxnSp>
        <p:nvCxnSpPr>
          <p:cNvPr id="39" name="Google Shape;39;p1"/>
          <p:cNvCxnSpPr/>
          <p:nvPr/>
        </p:nvCxnSpPr>
        <p:spPr>
          <a:xfrm>
            <a:off x="6281928" y="4562856"/>
            <a:ext cx="0" cy="146304"/>
          </a:xfrm>
          <a:prstGeom prst="straightConnector1">
            <a:avLst/>
          </a:prstGeom>
          <a:noFill/>
          <a:ln cap="flat" cmpd="sng" w="19050">
            <a:solidFill>
              <a:srgbClr val="D14A2E"/>
            </a:solidFill>
            <a:prstDash val="solid"/>
            <a:round/>
            <a:headEnd len="sm" w="sm" type="none"/>
            <a:tailEnd len="sm" w="sm" type="none"/>
          </a:ln>
        </p:spPr>
      </p:cxnSp>
      <p:sp>
        <p:nvSpPr>
          <p:cNvPr id="40" name="Google Shape;40;p1"/>
          <p:cNvSpPr txBox="1"/>
          <p:nvPr/>
        </p:nvSpPr>
        <p:spPr>
          <a:xfrm>
            <a:off x="3968496" y="3776472"/>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000"/>
              <a:buFont typeface="Calibri"/>
              <a:buNone/>
            </a:pPr>
            <a:r>
              <a:rPr b="0" i="0" lang="en-US" sz="2000" u="none" cap="none" strike="noStrike">
                <a:solidFill>
                  <a:srgbClr val="E8A23B"/>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41" name="Google Shape;41;p1"/>
          <p:cNvSpPr txBox="1"/>
          <p:nvPr/>
        </p:nvSpPr>
        <p:spPr>
          <a:xfrm>
            <a:off x="3968496" y="4206240"/>
            <a:ext cx="2176272"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950"/>
              <a:buFont typeface="Courier New"/>
              <a:buNone/>
            </a:pPr>
            <a:r>
              <a:rPr b="1" i="0" lang="en-US" sz="950" u="none" cap="none" strike="noStrike">
                <a:solidFill>
                  <a:srgbClr val="F3E7E4"/>
                </a:solidFill>
                <a:latin typeface="Courier New"/>
                <a:ea typeface="Courier New"/>
                <a:cs typeface="Courier New"/>
                <a:sym typeface="Courier New"/>
              </a:rPr>
              <a:t>ZERO BLACK-BOX MATH ENGINE</a:t>
            </a:r>
            <a:endParaRPr b="0" i="0" sz="950" u="none" cap="none" strike="noStrike">
              <a:solidFill>
                <a:schemeClr val="dk1"/>
              </a:solidFill>
              <a:latin typeface="Calibri"/>
              <a:ea typeface="Calibri"/>
              <a:cs typeface="Calibri"/>
              <a:sym typeface="Calibri"/>
            </a:endParaRPr>
          </a:p>
        </p:txBody>
      </p:sp>
      <p:sp>
        <p:nvSpPr>
          <p:cNvPr id="42" name="Google Shape;42;p1"/>
          <p:cNvSpPr/>
          <p:nvPr/>
        </p:nvSpPr>
        <p:spPr>
          <a:xfrm>
            <a:off x="6428232" y="3657600"/>
            <a:ext cx="2450592" cy="105156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1"/>
          <p:cNvCxnSpPr/>
          <p:nvPr/>
        </p:nvCxnSpPr>
        <p:spPr>
          <a:xfrm>
            <a:off x="6428232" y="3657600"/>
            <a:ext cx="146304" cy="0"/>
          </a:xfrm>
          <a:prstGeom prst="straightConnector1">
            <a:avLst/>
          </a:prstGeom>
          <a:noFill/>
          <a:ln cap="flat" cmpd="sng" w="19050">
            <a:solidFill>
              <a:srgbClr val="D14A2E"/>
            </a:solidFill>
            <a:prstDash val="solid"/>
            <a:round/>
            <a:headEnd len="sm" w="sm" type="none"/>
            <a:tailEnd len="sm" w="sm" type="none"/>
          </a:ln>
        </p:spPr>
      </p:cxnSp>
      <p:cxnSp>
        <p:nvCxnSpPr>
          <p:cNvPr id="44" name="Google Shape;44;p1"/>
          <p:cNvCxnSpPr/>
          <p:nvPr/>
        </p:nvCxnSpPr>
        <p:spPr>
          <a:xfrm>
            <a:off x="6428232" y="3657600"/>
            <a:ext cx="0" cy="146304"/>
          </a:xfrm>
          <a:prstGeom prst="straightConnector1">
            <a:avLst/>
          </a:prstGeom>
          <a:noFill/>
          <a:ln cap="flat" cmpd="sng" w="19050">
            <a:solidFill>
              <a:srgbClr val="D14A2E"/>
            </a:solidFill>
            <a:prstDash val="solid"/>
            <a:round/>
            <a:headEnd len="sm" w="sm" type="none"/>
            <a:tailEnd len="sm" w="sm" type="none"/>
          </a:ln>
        </p:spPr>
      </p:cxnSp>
      <p:cxnSp>
        <p:nvCxnSpPr>
          <p:cNvPr id="45" name="Google Shape;45;p1"/>
          <p:cNvCxnSpPr/>
          <p:nvPr/>
        </p:nvCxnSpPr>
        <p:spPr>
          <a:xfrm>
            <a:off x="8732520" y="4709160"/>
            <a:ext cx="146304" cy="0"/>
          </a:xfrm>
          <a:prstGeom prst="straightConnector1">
            <a:avLst/>
          </a:prstGeom>
          <a:noFill/>
          <a:ln cap="flat" cmpd="sng" w="19050">
            <a:solidFill>
              <a:srgbClr val="D14A2E"/>
            </a:solidFill>
            <a:prstDash val="solid"/>
            <a:round/>
            <a:headEnd len="sm" w="sm" type="none"/>
            <a:tailEnd len="sm" w="sm" type="none"/>
          </a:ln>
        </p:spPr>
      </p:cxnSp>
      <p:cxnSp>
        <p:nvCxnSpPr>
          <p:cNvPr id="46" name="Google Shape;46;p1"/>
          <p:cNvCxnSpPr/>
          <p:nvPr/>
        </p:nvCxnSpPr>
        <p:spPr>
          <a:xfrm>
            <a:off x="8878824" y="4562856"/>
            <a:ext cx="0" cy="146304"/>
          </a:xfrm>
          <a:prstGeom prst="straightConnector1">
            <a:avLst/>
          </a:prstGeom>
          <a:noFill/>
          <a:ln cap="flat" cmpd="sng" w="19050">
            <a:solidFill>
              <a:srgbClr val="D14A2E"/>
            </a:solidFill>
            <a:prstDash val="solid"/>
            <a:round/>
            <a:headEnd len="sm" w="sm" type="none"/>
            <a:tailEnd len="sm" w="sm" type="none"/>
          </a:ln>
        </p:spPr>
      </p:cxnSp>
      <p:sp>
        <p:nvSpPr>
          <p:cNvPr id="47" name="Google Shape;47;p1"/>
          <p:cNvSpPr txBox="1"/>
          <p:nvPr/>
        </p:nvSpPr>
        <p:spPr>
          <a:xfrm>
            <a:off x="6565392" y="3776472"/>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000"/>
              <a:buFont typeface="Calibri"/>
              <a:buNone/>
            </a:pPr>
            <a:r>
              <a:rPr b="0" i="0" lang="en-US" sz="2000" u="none" cap="none" strike="noStrike">
                <a:solidFill>
                  <a:srgbClr val="E8A23B"/>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48" name="Google Shape;48;p1"/>
          <p:cNvSpPr txBox="1"/>
          <p:nvPr/>
        </p:nvSpPr>
        <p:spPr>
          <a:xfrm>
            <a:off x="6565392" y="4206240"/>
            <a:ext cx="2176272"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950"/>
              <a:buFont typeface="Courier New"/>
              <a:buNone/>
            </a:pPr>
            <a:r>
              <a:rPr b="1" i="0" lang="en-US" sz="950" u="none" cap="none" strike="noStrike">
                <a:solidFill>
                  <a:srgbClr val="F3E7E4"/>
                </a:solidFill>
                <a:latin typeface="Courier New"/>
                <a:ea typeface="Courier New"/>
                <a:cs typeface="Courier New"/>
                <a:sym typeface="Courier New"/>
              </a:rPr>
              <a:t>1-CLICK DISPATCH PLAN</a:t>
            </a:r>
            <a:endParaRPr b="0" i="0" sz="950" u="none" cap="none" strike="noStrike">
              <a:solidFill>
                <a:schemeClr val="dk1"/>
              </a:solidFill>
              <a:latin typeface="Calibri"/>
              <a:ea typeface="Calibri"/>
              <a:cs typeface="Calibri"/>
              <a:sym typeface="Calibri"/>
            </a:endParaRPr>
          </a:p>
        </p:txBody>
      </p:sp>
      <p:sp>
        <p:nvSpPr>
          <p:cNvPr id="49" name="Google Shape;49;p1"/>
          <p:cNvSpPr txBox="1"/>
          <p:nvPr/>
        </p:nvSpPr>
        <p:spPr>
          <a:xfrm>
            <a:off x="9162288" y="3776472"/>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50" name="Google Shape;50;p1"/>
          <p:cNvSpPr/>
          <p:nvPr/>
        </p:nvSpPr>
        <p:spPr>
          <a:xfrm>
            <a:off x="1234440" y="5193792"/>
            <a:ext cx="7406640" cy="841248"/>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 name="Google Shape;51;p1"/>
          <p:cNvCxnSpPr/>
          <p:nvPr/>
        </p:nvCxnSpPr>
        <p:spPr>
          <a:xfrm>
            <a:off x="1234440" y="5193792"/>
            <a:ext cx="146304" cy="0"/>
          </a:xfrm>
          <a:prstGeom prst="straightConnector1">
            <a:avLst/>
          </a:prstGeom>
          <a:noFill/>
          <a:ln cap="flat" cmpd="sng" w="19050">
            <a:solidFill>
              <a:srgbClr val="3A2400"/>
            </a:solidFill>
            <a:prstDash val="solid"/>
            <a:round/>
            <a:headEnd len="sm" w="sm" type="none"/>
            <a:tailEnd len="sm" w="sm" type="none"/>
          </a:ln>
        </p:spPr>
      </p:cxnSp>
      <p:cxnSp>
        <p:nvCxnSpPr>
          <p:cNvPr id="52" name="Google Shape;52;p1"/>
          <p:cNvCxnSpPr/>
          <p:nvPr/>
        </p:nvCxnSpPr>
        <p:spPr>
          <a:xfrm>
            <a:off x="1234440" y="5193792"/>
            <a:ext cx="0" cy="146304"/>
          </a:xfrm>
          <a:prstGeom prst="straightConnector1">
            <a:avLst/>
          </a:prstGeom>
          <a:noFill/>
          <a:ln cap="flat" cmpd="sng" w="19050">
            <a:solidFill>
              <a:srgbClr val="3A2400"/>
            </a:solidFill>
            <a:prstDash val="solid"/>
            <a:round/>
            <a:headEnd len="sm" w="sm" type="none"/>
            <a:tailEnd len="sm" w="sm" type="none"/>
          </a:ln>
        </p:spPr>
      </p:cxnSp>
      <p:cxnSp>
        <p:nvCxnSpPr>
          <p:cNvPr id="53" name="Google Shape;53;p1"/>
          <p:cNvCxnSpPr/>
          <p:nvPr/>
        </p:nvCxnSpPr>
        <p:spPr>
          <a:xfrm>
            <a:off x="8494776" y="6035040"/>
            <a:ext cx="146304" cy="0"/>
          </a:xfrm>
          <a:prstGeom prst="straightConnector1">
            <a:avLst/>
          </a:prstGeom>
          <a:noFill/>
          <a:ln cap="flat" cmpd="sng" w="19050">
            <a:solidFill>
              <a:srgbClr val="3A2400"/>
            </a:solidFill>
            <a:prstDash val="solid"/>
            <a:round/>
            <a:headEnd len="sm" w="sm" type="none"/>
            <a:tailEnd len="sm" w="sm" type="none"/>
          </a:ln>
        </p:spPr>
      </p:cxnSp>
      <p:cxnSp>
        <p:nvCxnSpPr>
          <p:cNvPr id="54" name="Google Shape;54;p1"/>
          <p:cNvCxnSpPr/>
          <p:nvPr/>
        </p:nvCxnSpPr>
        <p:spPr>
          <a:xfrm>
            <a:off x="8641080" y="5888736"/>
            <a:ext cx="0" cy="146304"/>
          </a:xfrm>
          <a:prstGeom prst="straightConnector1">
            <a:avLst/>
          </a:prstGeom>
          <a:noFill/>
          <a:ln cap="flat" cmpd="sng" w="19050">
            <a:solidFill>
              <a:srgbClr val="3A2400"/>
            </a:solidFill>
            <a:prstDash val="solid"/>
            <a:round/>
            <a:headEnd len="sm" w="sm" type="none"/>
            <a:tailEnd len="sm" w="sm" type="none"/>
          </a:ln>
        </p:spPr>
      </p:cxnSp>
      <p:sp>
        <p:nvSpPr>
          <p:cNvPr id="55" name="Google Shape;55;p1"/>
          <p:cNvSpPr txBox="1"/>
          <p:nvPr/>
        </p:nvSpPr>
        <p:spPr>
          <a:xfrm>
            <a:off x="1463040" y="5193792"/>
            <a:ext cx="70408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2400"/>
              </a:buClr>
              <a:buSzPts val="1450"/>
              <a:buFont typeface="Courier New"/>
              <a:buNone/>
            </a:pPr>
            <a:r>
              <a:rPr b="1" i="0" lang="en-US" sz="1450" u="none" cap="none" strike="noStrike">
                <a:solidFill>
                  <a:srgbClr val="3A2400"/>
                </a:solidFill>
                <a:latin typeface="Courier New"/>
                <a:ea typeface="Courier New"/>
                <a:cs typeface="Courier New"/>
                <a:sym typeface="Courier New"/>
              </a:rPr>
              <a:t>[ LIVE NOW ]  </a:t>
            </a:r>
            <a:r>
              <a:rPr b="1" i="0" lang="en-US" sz="1450" u="sng" cap="none" strike="noStrike">
                <a:solidFill>
                  <a:schemeClr val="hlink"/>
                </a:solidFill>
                <a:latin typeface="Calibri"/>
                <a:ea typeface="Calibri"/>
                <a:cs typeface="Calibri"/>
                <a:sym typeface="Calibri"/>
                <a:hlinkClick r:id="rId3"/>
              </a:rPr>
              <a:t>https://ecoshield-xi.vercel.app</a:t>
            </a:r>
            <a:r>
              <a:rPr b="0" i="0" lang="en-US" sz="1450" u="none" cap="none" strike="noStrike">
                <a:solidFill>
                  <a:srgbClr val="3A2400"/>
                </a:solidFill>
                <a:latin typeface="Calibri"/>
                <a:ea typeface="Calibri"/>
                <a:cs typeface="Calibri"/>
                <a:sym typeface="Calibri"/>
              </a:rPr>
              <a:t>  (Kerala Operations Focus)</a:t>
            </a:r>
            <a:endParaRPr b="0" i="0" sz="1450" u="none" cap="none" strike="noStrike">
              <a:solidFill>
                <a:schemeClr val="dk1"/>
              </a:solidFill>
              <a:latin typeface="Calibri"/>
              <a:ea typeface="Calibri"/>
              <a:cs typeface="Calibri"/>
              <a:sym typeface="Calibri"/>
            </a:endParaRPr>
          </a:p>
        </p:txBody>
      </p:sp>
      <p:sp>
        <p:nvSpPr>
          <p:cNvPr id="56" name="Google Shape;56;p1"/>
          <p:cNvSpPr txBox="1"/>
          <p:nvPr/>
        </p:nvSpPr>
        <p:spPr>
          <a:xfrm>
            <a:off x="1234440" y="62636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000"/>
              <a:buFont typeface="Courier New"/>
              <a:buNone/>
            </a:pPr>
            <a:r>
              <a:rPr b="0" i="0" lang="en-US" sz="1000" u="none" cap="none" strike="noStrike">
                <a:solidFill>
                  <a:srgbClr val="C7A19C"/>
                </a:solidFill>
                <a:latin typeface="Courier New"/>
                <a:ea typeface="Courier New"/>
                <a:cs typeface="Courier New"/>
                <a:sym typeface="Courier New"/>
              </a:rPr>
              <a:t>Presented for the Kerala Disaster Resilience Challenge</a:t>
            </a:r>
            <a:endParaRPr b="0" i="0" sz="1000" u="none" cap="none" strike="noStrike">
              <a:solidFill>
                <a:schemeClr val="dk1"/>
              </a:solidFill>
              <a:latin typeface="Calibri"/>
              <a:ea typeface="Calibri"/>
              <a:cs typeface="Calibri"/>
              <a:sym typeface="Calibri"/>
            </a:endParaRPr>
          </a:p>
        </p:txBody>
      </p:sp>
      <p:sp>
        <p:nvSpPr>
          <p:cNvPr id="57" name="Google Shape;57;p1"/>
          <p:cNvSpPr/>
          <p:nvPr/>
        </p:nvSpPr>
        <p:spPr>
          <a:xfrm>
            <a:off x="1237400" y="805825"/>
            <a:ext cx="2498400" cy="291300"/>
          </a:xfrm>
          <a:prstGeom prst="rect">
            <a:avLst/>
          </a:prstGeom>
          <a:solidFill>
            <a:srgbClr val="BF9000"/>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1"/>
          <p:cNvSpPr txBox="1"/>
          <p:nvPr/>
        </p:nvSpPr>
        <p:spPr>
          <a:xfrm>
            <a:off x="1234450" y="703375"/>
            <a:ext cx="254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2A0F0F"/>
                </a:solidFill>
                <a:latin typeface="Courier New"/>
                <a:ea typeface="Courier New"/>
                <a:cs typeface="Courier New"/>
                <a:sym typeface="Courier New"/>
              </a:rPr>
              <a:t>TEAM : EXCLUSIVE</a:t>
            </a:r>
            <a:endParaRPr b="1" sz="1800">
              <a:solidFill>
                <a:srgbClr val="2A0F0F"/>
              </a:solidFill>
              <a:latin typeface="Courier New"/>
              <a:ea typeface="Courier New"/>
              <a:cs typeface="Courier New"/>
              <a:sym typeface="Courier Ne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63" name="Shape 63"/>
        <p:cNvGrpSpPr/>
        <p:nvPr/>
      </p:nvGrpSpPr>
      <p:grpSpPr>
        <a:xfrm>
          <a:off x="0" y="0"/>
          <a:ext cx="0" cy="0"/>
          <a:chOff x="0" y="0"/>
          <a:chExt cx="0" cy="0"/>
        </a:xfrm>
      </p:grpSpPr>
      <p:sp>
        <p:nvSpPr>
          <p:cNvPr id="64" name="Google Shape;64;p2"/>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 name="Google Shape;65;p2"/>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66" name="Google Shape;66;p2"/>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67" name="Google Shape;67;p2"/>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02</a:t>
            </a:r>
            <a:endParaRPr sz="2200">
              <a:solidFill>
                <a:schemeClr val="dk1"/>
              </a:solidFill>
              <a:latin typeface="Calibri"/>
              <a:ea typeface="Calibri"/>
              <a:cs typeface="Calibri"/>
              <a:sym typeface="Calibri"/>
            </a:endParaRPr>
          </a:p>
        </p:txBody>
      </p:sp>
      <p:sp>
        <p:nvSpPr>
          <p:cNvPr id="68" name="Google Shape;68;p2"/>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69" name="Google Shape;69;p2"/>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txBox="1"/>
          <p:nvPr/>
        </p:nvSpPr>
        <p:spPr>
          <a:xfrm>
            <a:off x="1234440" y="502920"/>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THE OPERATIONAL CHALLENGE</a:t>
            </a:r>
            <a:endParaRPr sz="1100">
              <a:solidFill>
                <a:schemeClr val="dk1"/>
              </a:solidFill>
              <a:latin typeface="Calibri"/>
              <a:ea typeface="Calibri"/>
              <a:cs typeface="Calibri"/>
              <a:sym typeface="Calibri"/>
            </a:endParaRPr>
          </a:p>
        </p:txBody>
      </p:sp>
      <p:sp>
        <p:nvSpPr>
          <p:cNvPr id="75" name="Google Shape;75;p2"/>
          <p:cNvSpPr txBox="1"/>
          <p:nvPr/>
        </p:nvSpPr>
        <p:spPr>
          <a:xfrm>
            <a:off x="1234440" y="804672"/>
            <a:ext cx="1045433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2700"/>
              <a:buFont typeface="Arial"/>
              <a:buNone/>
            </a:pPr>
            <a:r>
              <a:rPr b="1" lang="en-US" sz="2700">
                <a:solidFill>
                  <a:srgbClr val="F3E7E4"/>
                </a:solidFill>
                <a:latin typeface="Arial"/>
                <a:ea typeface="Arial"/>
                <a:cs typeface="Arial"/>
                <a:sym typeface="Arial"/>
              </a:rPr>
              <a:t>WHY EXISTING DISASTER SYSTEMS FAIL</a:t>
            </a:r>
            <a:endParaRPr sz="2700">
              <a:solidFill>
                <a:schemeClr val="dk1"/>
              </a:solidFill>
              <a:latin typeface="Calibri"/>
              <a:ea typeface="Calibri"/>
              <a:cs typeface="Calibri"/>
              <a:sym typeface="Calibri"/>
            </a:endParaRPr>
          </a:p>
        </p:txBody>
      </p:sp>
      <p:cxnSp>
        <p:nvCxnSpPr>
          <p:cNvPr id="76" name="Google Shape;76;p2"/>
          <p:cNvCxnSpPr/>
          <p:nvPr/>
        </p:nvCxnSpPr>
        <p:spPr>
          <a:xfrm>
            <a:off x="1234440" y="1463040"/>
            <a:ext cx="10454335" cy="0"/>
          </a:xfrm>
          <a:prstGeom prst="straightConnector1">
            <a:avLst/>
          </a:prstGeom>
          <a:noFill/>
          <a:ln cap="flat" cmpd="sng" w="12700">
            <a:solidFill>
              <a:srgbClr val="45201D"/>
            </a:solidFill>
            <a:prstDash val="solid"/>
            <a:round/>
            <a:headEnd len="sm" w="sm" type="none"/>
            <a:tailEnd len="sm" w="sm" type="none"/>
          </a:ln>
        </p:spPr>
      </p:cxnSp>
      <p:sp>
        <p:nvSpPr>
          <p:cNvPr id="77" name="Google Shape;77;p2"/>
          <p:cNvSpPr/>
          <p:nvPr/>
        </p:nvSpPr>
        <p:spPr>
          <a:xfrm>
            <a:off x="1234440" y="1783080"/>
            <a:ext cx="3332378" cy="4434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 name="Google Shape;78;p2"/>
          <p:cNvCxnSpPr/>
          <p:nvPr/>
        </p:nvCxnSpPr>
        <p:spPr>
          <a:xfrm>
            <a:off x="1234440" y="1783080"/>
            <a:ext cx="182880" cy="0"/>
          </a:xfrm>
          <a:prstGeom prst="straightConnector1">
            <a:avLst/>
          </a:prstGeom>
          <a:noFill/>
          <a:ln cap="flat" cmpd="sng" w="19050">
            <a:solidFill>
              <a:srgbClr val="B3271D"/>
            </a:solidFill>
            <a:prstDash val="solid"/>
            <a:round/>
            <a:headEnd len="sm" w="sm" type="none"/>
            <a:tailEnd len="sm" w="sm" type="none"/>
          </a:ln>
        </p:spPr>
      </p:cxnSp>
      <p:cxnSp>
        <p:nvCxnSpPr>
          <p:cNvPr id="79" name="Google Shape;79;p2"/>
          <p:cNvCxnSpPr/>
          <p:nvPr/>
        </p:nvCxnSpPr>
        <p:spPr>
          <a:xfrm>
            <a:off x="1234440" y="1783080"/>
            <a:ext cx="0" cy="182880"/>
          </a:xfrm>
          <a:prstGeom prst="straightConnector1">
            <a:avLst/>
          </a:prstGeom>
          <a:noFill/>
          <a:ln cap="flat" cmpd="sng" w="19050">
            <a:solidFill>
              <a:srgbClr val="B3271D"/>
            </a:solidFill>
            <a:prstDash val="solid"/>
            <a:round/>
            <a:headEnd len="sm" w="sm" type="none"/>
            <a:tailEnd len="sm" w="sm" type="none"/>
          </a:ln>
        </p:spPr>
      </p:cxnSp>
      <p:cxnSp>
        <p:nvCxnSpPr>
          <p:cNvPr id="80" name="Google Shape;80;p2"/>
          <p:cNvCxnSpPr/>
          <p:nvPr/>
        </p:nvCxnSpPr>
        <p:spPr>
          <a:xfrm>
            <a:off x="4383938" y="6217920"/>
            <a:ext cx="182880" cy="0"/>
          </a:xfrm>
          <a:prstGeom prst="straightConnector1">
            <a:avLst/>
          </a:prstGeom>
          <a:noFill/>
          <a:ln cap="flat" cmpd="sng" w="19050">
            <a:solidFill>
              <a:srgbClr val="B3271D"/>
            </a:solidFill>
            <a:prstDash val="solid"/>
            <a:round/>
            <a:headEnd len="sm" w="sm" type="none"/>
            <a:tailEnd len="sm" w="sm" type="none"/>
          </a:ln>
        </p:spPr>
      </p:cxnSp>
      <p:cxnSp>
        <p:nvCxnSpPr>
          <p:cNvPr id="81" name="Google Shape;81;p2"/>
          <p:cNvCxnSpPr/>
          <p:nvPr/>
        </p:nvCxnSpPr>
        <p:spPr>
          <a:xfrm>
            <a:off x="4566818" y="6035040"/>
            <a:ext cx="0" cy="182880"/>
          </a:xfrm>
          <a:prstGeom prst="straightConnector1">
            <a:avLst/>
          </a:prstGeom>
          <a:noFill/>
          <a:ln cap="flat" cmpd="sng" w="19050">
            <a:solidFill>
              <a:srgbClr val="B3271D"/>
            </a:solidFill>
            <a:prstDash val="solid"/>
            <a:round/>
            <a:headEnd len="sm" w="sm" type="none"/>
            <a:tailEnd len="sm" w="sm" type="none"/>
          </a:ln>
        </p:spPr>
      </p:cxnSp>
      <p:sp>
        <p:nvSpPr>
          <p:cNvPr id="82" name="Google Shape;82;p2"/>
          <p:cNvSpPr txBox="1"/>
          <p:nvPr/>
        </p:nvSpPr>
        <p:spPr>
          <a:xfrm>
            <a:off x="3789578" y="1920240"/>
            <a:ext cx="6400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300"/>
              <a:buFont typeface="Courier New"/>
              <a:buNone/>
            </a:pPr>
            <a:r>
              <a:rPr b="1" lang="en-US" sz="1300">
                <a:solidFill>
                  <a:srgbClr val="45201D"/>
                </a:solidFill>
                <a:latin typeface="Courier New"/>
                <a:ea typeface="Courier New"/>
                <a:cs typeface="Courier New"/>
                <a:sym typeface="Courier New"/>
              </a:rPr>
              <a:t>01</a:t>
            </a:r>
            <a:endParaRPr sz="1300">
              <a:solidFill>
                <a:schemeClr val="dk1"/>
              </a:solidFill>
              <a:latin typeface="Calibri"/>
              <a:ea typeface="Calibri"/>
              <a:cs typeface="Calibri"/>
              <a:sym typeface="Calibri"/>
            </a:endParaRPr>
          </a:p>
        </p:txBody>
      </p:sp>
      <p:sp>
        <p:nvSpPr>
          <p:cNvPr id="83" name="Google Shape;83;p2"/>
          <p:cNvSpPr/>
          <p:nvPr/>
        </p:nvSpPr>
        <p:spPr>
          <a:xfrm>
            <a:off x="1490472" y="2057400"/>
            <a:ext cx="548640" cy="548640"/>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txBox="1"/>
          <p:nvPr/>
        </p:nvSpPr>
        <p:spPr>
          <a:xfrm>
            <a:off x="1490472" y="20574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85" name="Google Shape;85;p2"/>
          <p:cNvSpPr txBox="1"/>
          <p:nvPr/>
        </p:nvSpPr>
        <p:spPr>
          <a:xfrm>
            <a:off x="1490472" y="2834640"/>
            <a:ext cx="2875178"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3800"/>
              <a:buFont typeface="Courier New"/>
              <a:buNone/>
            </a:pPr>
            <a:r>
              <a:rPr b="1" lang="en-US" sz="3800">
                <a:solidFill>
                  <a:srgbClr val="E8A23B"/>
                </a:solidFill>
                <a:latin typeface="Courier New"/>
                <a:ea typeface="Courier New"/>
                <a:cs typeface="Courier New"/>
                <a:sym typeface="Courier New"/>
              </a:rPr>
              <a:t>72H</a:t>
            </a:r>
            <a:endParaRPr sz="3800">
              <a:solidFill>
                <a:schemeClr val="dk1"/>
              </a:solidFill>
              <a:latin typeface="Calibri"/>
              <a:ea typeface="Calibri"/>
              <a:cs typeface="Calibri"/>
              <a:sym typeface="Calibri"/>
            </a:endParaRPr>
          </a:p>
        </p:txBody>
      </p:sp>
      <p:sp>
        <p:nvSpPr>
          <p:cNvPr id="86" name="Google Shape;86;p2"/>
          <p:cNvSpPr txBox="1"/>
          <p:nvPr/>
        </p:nvSpPr>
        <p:spPr>
          <a:xfrm>
            <a:off x="1508760" y="3474720"/>
            <a:ext cx="287517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CRITICAL WINDOW</a:t>
            </a:r>
            <a:endParaRPr sz="950">
              <a:solidFill>
                <a:schemeClr val="dk1"/>
              </a:solidFill>
              <a:latin typeface="Calibri"/>
              <a:ea typeface="Calibri"/>
              <a:cs typeface="Calibri"/>
              <a:sym typeface="Calibri"/>
            </a:endParaRPr>
          </a:p>
        </p:txBody>
      </p:sp>
      <p:cxnSp>
        <p:nvCxnSpPr>
          <p:cNvPr id="87" name="Google Shape;87;p2"/>
          <p:cNvCxnSpPr/>
          <p:nvPr/>
        </p:nvCxnSpPr>
        <p:spPr>
          <a:xfrm>
            <a:off x="1508760" y="3813048"/>
            <a:ext cx="2783738" cy="0"/>
          </a:xfrm>
          <a:prstGeom prst="straightConnector1">
            <a:avLst/>
          </a:prstGeom>
          <a:noFill/>
          <a:ln cap="flat" cmpd="sng" w="12700">
            <a:solidFill>
              <a:srgbClr val="45201D"/>
            </a:solidFill>
            <a:prstDash val="solid"/>
            <a:round/>
            <a:headEnd len="sm" w="sm" type="none"/>
            <a:tailEnd len="sm" w="sm" type="none"/>
          </a:ln>
        </p:spPr>
      </p:cxnSp>
      <p:sp>
        <p:nvSpPr>
          <p:cNvPr id="88" name="Google Shape;88;p2"/>
          <p:cNvSpPr txBox="1"/>
          <p:nvPr/>
        </p:nvSpPr>
        <p:spPr>
          <a:xfrm>
            <a:off x="1508760" y="3959352"/>
            <a:ext cx="2783738"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500"/>
              <a:buFont typeface="Arial"/>
              <a:buNone/>
            </a:pPr>
            <a:r>
              <a:rPr b="1" lang="en-US" sz="1500">
                <a:solidFill>
                  <a:srgbClr val="F3E7E4"/>
                </a:solidFill>
                <a:latin typeface="Arial"/>
                <a:ea typeface="Arial"/>
                <a:cs typeface="Arial"/>
                <a:sym typeface="Arial"/>
              </a:rPr>
              <a:t>Cascading Compound Disasters</a:t>
            </a:r>
            <a:endParaRPr sz="1500">
              <a:solidFill>
                <a:schemeClr val="dk1"/>
              </a:solidFill>
              <a:latin typeface="Calibri"/>
              <a:ea typeface="Calibri"/>
              <a:cs typeface="Calibri"/>
              <a:sym typeface="Calibri"/>
            </a:endParaRPr>
          </a:p>
        </p:txBody>
      </p:sp>
      <p:sp>
        <p:nvSpPr>
          <p:cNvPr id="89" name="Google Shape;89;p2"/>
          <p:cNvSpPr txBox="1"/>
          <p:nvPr/>
        </p:nvSpPr>
        <p:spPr>
          <a:xfrm>
            <a:off x="1508760" y="4526280"/>
            <a:ext cx="278373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200"/>
              <a:buFont typeface="Calibri"/>
              <a:buNone/>
            </a:pPr>
            <a:r>
              <a:rPr lang="en-US" sz="1200">
                <a:solidFill>
                  <a:srgbClr val="C7A19C"/>
                </a:solidFill>
                <a:latin typeface="Calibri"/>
                <a:ea typeface="Calibri"/>
                <a:cs typeface="Calibri"/>
                <a:sym typeface="Calibri"/>
              </a:rPr>
              <a:t>Heavy monsoon rain doesn't cause isolated events. Hillside slopes saturate and collapse while river valleys flood downstream simultaneously.</a:t>
            </a:r>
            <a:endParaRPr sz="1200">
              <a:solidFill>
                <a:schemeClr val="dk1"/>
              </a:solidFill>
              <a:latin typeface="Calibri"/>
              <a:ea typeface="Calibri"/>
              <a:cs typeface="Calibri"/>
              <a:sym typeface="Calibri"/>
            </a:endParaRPr>
          </a:p>
        </p:txBody>
      </p:sp>
      <p:sp>
        <p:nvSpPr>
          <p:cNvPr id="90" name="Google Shape;90;p2"/>
          <p:cNvSpPr/>
          <p:nvPr/>
        </p:nvSpPr>
        <p:spPr>
          <a:xfrm>
            <a:off x="4795418" y="1783080"/>
            <a:ext cx="3332378" cy="4434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 name="Google Shape;91;p2"/>
          <p:cNvCxnSpPr/>
          <p:nvPr/>
        </p:nvCxnSpPr>
        <p:spPr>
          <a:xfrm>
            <a:off x="4795418" y="1783080"/>
            <a:ext cx="182880" cy="0"/>
          </a:xfrm>
          <a:prstGeom prst="straightConnector1">
            <a:avLst/>
          </a:prstGeom>
          <a:noFill/>
          <a:ln cap="flat" cmpd="sng" w="19050">
            <a:solidFill>
              <a:srgbClr val="C4841F"/>
            </a:solidFill>
            <a:prstDash val="solid"/>
            <a:round/>
            <a:headEnd len="sm" w="sm" type="none"/>
            <a:tailEnd len="sm" w="sm" type="none"/>
          </a:ln>
        </p:spPr>
      </p:cxnSp>
      <p:cxnSp>
        <p:nvCxnSpPr>
          <p:cNvPr id="92" name="Google Shape;92;p2"/>
          <p:cNvCxnSpPr/>
          <p:nvPr/>
        </p:nvCxnSpPr>
        <p:spPr>
          <a:xfrm>
            <a:off x="4795418" y="1783080"/>
            <a:ext cx="0" cy="182880"/>
          </a:xfrm>
          <a:prstGeom prst="straightConnector1">
            <a:avLst/>
          </a:prstGeom>
          <a:noFill/>
          <a:ln cap="flat" cmpd="sng" w="19050">
            <a:solidFill>
              <a:srgbClr val="C4841F"/>
            </a:solidFill>
            <a:prstDash val="solid"/>
            <a:round/>
            <a:headEnd len="sm" w="sm" type="none"/>
            <a:tailEnd len="sm" w="sm" type="none"/>
          </a:ln>
        </p:spPr>
      </p:cxnSp>
      <p:cxnSp>
        <p:nvCxnSpPr>
          <p:cNvPr id="93" name="Google Shape;93;p2"/>
          <p:cNvCxnSpPr/>
          <p:nvPr/>
        </p:nvCxnSpPr>
        <p:spPr>
          <a:xfrm>
            <a:off x="7944917" y="6217920"/>
            <a:ext cx="182880" cy="0"/>
          </a:xfrm>
          <a:prstGeom prst="straightConnector1">
            <a:avLst/>
          </a:prstGeom>
          <a:noFill/>
          <a:ln cap="flat" cmpd="sng" w="19050">
            <a:solidFill>
              <a:srgbClr val="C4841F"/>
            </a:solidFill>
            <a:prstDash val="solid"/>
            <a:round/>
            <a:headEnd len="sm" w="sm" type="none"/>
            <a:tailEnd len="sm" w="sm" type="none"/>
          </a:ln>
        </p:spPr>
      </p:cxnSp>
      <p:cxnSp>
        <p:nvCxnSpPr>
          <p:cNvPr id="94" name="Google Shape;94;p2"/>
          <p:cNvCxnSpPr/>
          <p:nvPr/>
        </p:nvCxnSpPr>
        <p:spPr>
          <a:xfrm>
            <a:off x="8127797" y="6035040"/>
            <a:ext cx="0" cy="182880"/>
          </a:xfrm>
          <a:prstGeom prst="straightConnector1">
            <a:avLst/>
          </a:prstGeom>
          <a:noFill/>
          <a:ln cap="flat" cmpd="sng" w="19050">
            <a:solidFill>
              <a:srgbClr val="C4841F"/>
            </a:solidFill>
            <a:prstDash val="solid"/>
            <a:round/>
            <a:headEnd len="sm" w="sm" type="none"/>
            <a:tailEnd len="sm" w="sm" type="none"/>
          </a:ln>
        </p:spPr>
      </p:cxnSp>
      <p:sp>
        <p:nvSpPr>
          <p:cNvPr id="95" name="Google Shape;95;p2"/>
          <p:cNvSpPr txBox="1"/>
          <p:nvPr/>
        </p:nvSpPr>
        <p:spPr>
          <a:xfrm>
            <a:off x="7350557" y="1920240"/>
            <a:ext cx="6400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300"/>
              <a:buFont typeface="Courier New"/>
              <a:buNone/>
            </a:pPr>
            <a:r>
              <a:rPr b="1" lang="en-US" sz="1300">
                <a:solidFill>
                  <a:srgbClr val="45201D"/>
                </a:solidFill>
                <a:latin typeface="Courier New"/>
                <a:ea typeface="Courier New"/>
                <a:cs typeface="Courier New"/>
                <a:sym typeface="Courier New"/>
              </a:rPr>
              <a:t>02</a:t>
            </a:r>
            <a:endParaRPr sz="1300">
              <a:solidFill>
                <a:schemeClr val="dk1"/>
              </a:solidFill>
              <a:latin typeface="Calibri"/>
              <a:ea typeface="Calibri"/>
              <a:cs typeface="Calibri"/>
              <a:sym typeface="Calibri"/>
            </a:endParaRPr>
          </a:p>
        </p:txBody>
      </p:sp>
      <p:sp>
        <p:nvSpPr>
          <p:cNvPr id="96" name="Google Shape;96;p2"/>
          <p:cNvSpPr/>
          <p:nvPr/>
        </p:nvSpPr>
        <p:spPr>
          <a:xfrm>
            <a:off x="5051450" y="2057400"/>
            <a:ext cx="548640" cy="548640"/>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txBox="1"/>
          <p:nvPr/>
        </p:nvSpPr>
        <p:spPr>
          <a:xfrm>
            <a:off x="5051450" y="20574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98" name="Google Shape;98;p2"/>
          <p:cNvSpPr txBox="1"/>
          <p:nvPr/>
        </p:nvSpPr>
        <p:spPr>
          <a:xfrm>
            <a:off x="5051450" y="2834640"/>
            <a:ext cx="2875178"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3800"/>
              <a:buFont typeface="Courier New"/>
              <a:buNone/>
            </a:pPr>
            <a:r>
              <a:rPr b="1" lang="en-US" sz="3800">
                <a:solidFill>
                  <a:srgbClr val="E8A23B"/>
                </a:solidFill>
                <a:latin typeface="Courier New"/>
                <a:ea typeface="Courier New"/>
                <a:cs typeface="Courier New"/>
                <a:sym typeface="Courier New"/>
              </a:rPr>
              <a:t>0%</a:t>
            </a:r>
            <a:endParaRPr sz="3800">
              <a:solidFill>
                <a:schemeClr val="dk1"/>
              </a:solidFill>
              <a:latin typeface="Calibri"/>
              <a:ea typeface="Calibri"/>
              <a:cs typeface="Calibri"/>
              <a:sym typeface="Calibri"/>
            </a:endParaRPr>
          </a:p>
        </p:txBody>
      </p:sp>
      <p:sp>
        <p:nvSpPr>
          <p:cNvPr id="99" name="Google Shape;99;p2"/>
          <p:cNvSpPr txBox="1"/>
          <p:nvPr/>
        </p:nvSpPr>
        <p:spPr>
          <a:xfrm>
            <a:off x="5069738" y="3474720"/>
            <a:ext cx="287517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AUDITABILITY</a:t>
            </a:r>
            <a:endParaRPr sz="950">
              <a:solidFill>
                <a:schemeClr val="dk1"/>
              </a:solidFill>
              <a:latin typeface="Calibri"/>
              <a:ea typeface="Calibri"/>
              <a:cs typeface="Calibri"/>
              <a:sym typeface="Calibri"/>
            </a:endParaRPr>
          </a:p>
        </p:txBody>
      </p:sp>
      <p:cxnSp>
        <p:nvCxnSpPr>
          <p:cNvPr id="100" name="Google Shape;100;p2"/>
          <p:cNvCxnSpPr/>
          <p:nvPr/>
        </p:nvCxnSpPr>
        <p:spPr>
          <a:xfrm>
            <a:off x="5069738" y="3813048"/>
            <a:ext cx="2783738" cy="0"/>
          </a:xfrm>
          <a:prstGeom prst="straightConnector1">
            <a:avLst/>
          </a:prstGeom>
          <a:noFill/>
          <a:ln cap="flat" cmpd="sng" w="12700">
            <a:solidFill>
              <a:srgbClr val="45201D"/>
            </a:solidFill>
            <a:prstDash val="solid"/>
            <a:round/>
            <a:headEnd len="sm" w="sm" type="none"/>
            <a:tailEnd len="sm" w="sm" type="none"/>
          </a:ln>
        </p:spPr>
      </p:cxnSp>
      <p:sp>
        <p:nvSpPr>
          <p:cNvPr id="101" name="Google Shape;101;p2"/>
          <p:cNvSpPr txBox="1"/>
          <p:nvPr/>
        </p:nvSpPr>
        <p:spPr>
          <a:xfrm>
            <a:off x="5069738" y="3959352"/>
            <a:ext cx="2783738"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500"/>
              <a:buFont typeface="Arial"/>
              <a:buNone/>
            </a:pPr>
            <a:r>
              <a:rPr b="1" lang="en-US" sz="1500">
                <a:solidFill>
                  <a:srgbClr val="F3E7E4"/>
                </a:solidFill>
                <a:latin typeface="Arial"/>
                <a:ea typeface="Arial"/>
                <a:cs typeface="Arial"/>
                <a:sym typeface="Arial"/>
              </a:rPr>
              <a:t>The “Black-Box” AI Dilemma</a:t>
            </a:r>
            <a:endParaRPr sz="1500">
              <a:solidFill>
                <a:schemeClr val="dk1"/>
              </a:solidFill>
              <a:latin typeface="Calibri"/>
              <a:ea typeface="Calibri"/>
              <a:cs typeface="Calibri"/>
              <a:sym typeface="Calibri"/>
            </a:endParaRPr>
          </a:p>
        </p:txBody>
      </p:sp>
      <p:sp>
        <p:nvSpPr>
          <p:cNvPr id="102" name="Google Shape;102;p2"/>
          <p:cNvSpPr txBox="1"/>
          <p:nvPr/>
        </p:nvSpPr>
        <p:spPr>
          <a:xfrm>
            <a:off x="5069738" y="4526280"/>
            <a:ext cx="278373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200"/>
              <a:buFont typeface="Calibri"/>
              <a:buNone/>
            </a:pPr>
            <a:r>
              <a:rPr lang="en-US" sz="1200">
                <a:solidFill>
                  <a:srgbClr val="C7A19C"/>
                </a:solidFill>
                <a:latin typeface="Calibri"/>
                <a:ea typeface="Calibri"/>
                <a:cs typeface="Calibri"/>
                <a:sym typeface="Calibri"/>
              </a:rPr>
              <a:t>Deep neural networks produce risk scores without explaining why. Commanders cannot risk mass evacuations or hospital moves on opaque predictions.</a:t>
            </a:r>
            <a:endParaRPr sz="1200">
              <a:solidFill>
                <a:schemeClr val="dk1"/>
              </a:solidFill>
              <a:latin typeface="Calibri"/>
              <a:ea typeface="Calibri"/>
              <a:cs typeface="Calibri"/>
              <a:sym typeface="Calibri"/>
            </a:endParaRPr>
          </a:p>
        </p:txBody>
      </p:sp>
      <p:sp>
        <p:nvSpPr>
          <p:cNvPr id="103" name="Google Shape;103;p2"/>
          <p:cNvSpPr/>
          <p:nvPr/>
        </p:nvSpPr>
        <p:spPr>
          <a:xfrm>
            <a:off x="8356397" y="1783080"/>
            <a:ext cx="3332378" cy="4434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 name="Google Shape;104;p2"/>
          <p:cNvCxnSpPr/>
          <p:nvPr/>
        </p:nvCxnSpPr>
        <p:spPr>
          <a:xfrm>
            <a:off x="8356397" y="1783080"/>
            <a:ext cx="182880" cy="0"/>
          </a:xfrm>
          <a:prstGeom prst="straightConnector1">
            <a:avLst/>
          </a:prstGeom>
          <a:noFill/>
          <a:ln cap="flat" cmpd="sng" w="19050">
            <a:solidFill>
              <a:srgbClr val="5C1414"/>
            </a:solidFill>
            <a:prstDash val="solid"/>
            <a:round/>
            <a:headEnd len="sm" w="sm" type="none"/>
            <a:tailEnd len="sm" w="sm" type="none"/>
          </a:ln>
        </p:spPr>
      </p:cxnSp>
      <p:cxnSp>
        <p:nvCxnSpPr>
          <p:cNvPr id="105" name="Google Shape;105;p2"/>
          <p:cNvCxnSpPr/>
          <p:nvPr/>
        </p:nvCxnSpPr>
        <p:spPr>
          <a:xfrm>
            <a:off x="8356397" y="1783080"/>
            <a:ext cx="0" cy="182880"/>
          </a:xfrm>
          <a:prstGeom prst="straightConnector1">
            <a:avLst/>
          </a:prstGeom>
          <a:noFill/>
          <a:ln cap="flat" cmpd="sng" w="19050">
            <a:solidFill>
              <a:srgbClr val="5C1414"/>
            </a:solidFill>
            <a:prstDash val="solid"/>
            <a:round/>
            <a:headEnd len="sm" w="sm" type="none"/>
            <a:tailEnd len="sm" w="sm" type="none"/>
          </a:ln>
        </p:spPr>
      </p:cxnSp>
      <p:cxnSp>
        <p:nvCxnSpPr>
          <p:cNvPr id="106" name="Google Shape;106;p2"/>
          <p:cNvCxnSpPr/>
          <p:nvPr/>
        </p:nvCxnSpPr>
        <p:spPr>
          <a:xfrm>
            <a:off x="11505895" y="6217920"/>
            <a:ext cx="182880" cy="0"/>
          </a:xfrm>
          <a:prstGeom prst="straightConnector1">
            <a:avLst/>
          </a:prstGeom>
          <a:noFill/>
          <a:ln cap="flat" cmpd="sng" w="19050">
            <a:solidFill>
              <a:srgbClr val="5C1414"/>
            </a:solidFill>
            <a:prstDash val="solid"/>
            <a:round/>
            <a:headEnd len="sm" w="sm" type="none"/>
            <a:tailEnd len="sm" w="sm" type="none"/>
          </a:ln>
        </p:spPr>
      </p:cxnSp>
      <p:cxnSp>
        <p:nvCxnSpPr>
          <p:cNvPr id="107" name="Google Shape;107;p2"/>
          <p:cNvCxnSpPr/>
          <p:nvPr/>
        </p:nvCxnSpPr>
        <p:spPr>
          <a:xfrm>
            <a:off x="11688775" y="6035040"/>
            <a:ext cx="0" cy="182880"/>
          </a:xfrm>
          <a:prstGeom prst="straightConnector1">
            <a:avLst/>
          </a:prstGeom>
          <a:noFill/>
          <a:ln cap="flat" cmpd="sng" w="19050">
            <a:solidFill>
              <a:srgbClr val="5C1414"/>
            </a:solidFill>
            <a:prstDash val="solid"/>
            <a:round/>
            <a:headEnd len="sm" w="sm" type="none"/>
            <a:tailEnd len="sm" w="sm" type="none"/>
          </a:ln>
        </p:spPr>
      </p:cxnSp>
      <p:sp>
        <p:nvSpPr>
          <p:cNvPr id="108" name="Google Shape;108;p2"/>
          <p:cNvSpPr txBox="1"/>
          <p:nvPr/>
        </p:nvSpPr>
        <p:spPr>
          <a:xfrm>
            <a:off x="10911535" y="1920240"/>
            <a:ext cx="6400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300"/>
              <a:buFont typeface="Courier New"/>
              <a:buNone/>
            </a:pPr>
            <a:r>
              <a:rPr b="1" lang="en-US" sz="1300">
                <a:solidFill>
                  <a:srgbClr val="45201D"/>
                </a:solidFill>
                <a:latin typeface="Courier New"/>
                <a:ea typeface="Courier New"/>
                <a:cs typeface="Courier New"/>
                <a:sym typeface="Courier New"/>
              </a:rPr>
              <a:t>03</a:t>
            </a:r>
            <a:endParaRPr sz="1300">
              <a:solidFill>
                <a:schemeClr val="dk1"/>
              </a:solidFill>
              <a:latin typeface="Calibri"/>
              <a:ea typeface="Calibri"/>
              <a:cs typeface="Calibri"/>
              <a:sym typeface="Calibri"/>
            </a:endParaRPr>
          </a:p>
        </p:txBody>
      </p:sp>
      <p:sp>
        <p:nvSpPr>
          <p:cNvPr id="109" name="Google Shape;109;p2"/>
          <p:cNvSpPr/>
          <p:nvPr/>
        </p:nvSpPr>
        <p:spPr>
          <a:xfrm>
            <a:off x="8612429" y="2057400"/>
            <a:ext cx="548640" cy="548640"/>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txBox="1"/>
          <p:nvPr/>
        </p:nvSpPr>
        <p:spPr>
          <a:xfrm>
            <a:off x="8612429" y="20574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111" name="Google Shape;111;p2"/>
          <p:cNvSpPr txBox="1"/>
          <p:nvPr/>
        </p:nvSpPr>
        <p:spPr>
          <a:xfrm>
            <a:off x="8612429" y="2834640"/>
            <a:ext cx="2875178"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3800"/>
              <a:buFont typeface="Courier New"/>
              <a:buNone/>
            </a:pPr>
            <a:r>
              <a:rPr b="1" lang="en-US" sz="3800">
                <a:solidFill>
                  <a:srgbClr val="E8A23B"/>
                </a:solidFill>
                <a:latin typeface="Courier New"/>
                <a:ea typeface="Courier New"/>
                <a:cs typeface="Courier New"/>
                <a:sym typeface="Courier New"/>
              </a:rPr>
              <a:t>5+</a:t>
            </a:r>
            <a:endParaRPr sz="3800">
              <a:solidFill>
                <a:schemeClr val="dk1"/>
              </a:solidFill>
              <a:latin typeface="Calibri"/>
              <a:ea typeface="Calibri"/>
              <a:cs typeface="Calibri"/>
              <a:sym typeface="Calibri"/>
            </a:endParaRPr>
          </a:p>
        </p:txBody>
      </p:sp>
      <p:sp>
        <p:nvSpPr>
          <p:cNvPr id="112" name="Google Shape;112;p2"/>
          <p:cNvSpPr txBox="1"/>
          <p:nvPr/>
        </p:nvSpPr>
        <p:spPr>
          <a:xfrm>
            <a:off x="8630717" y="3474720"/>
            <a:ext cx="287517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DISCONNECTED PORTALS</a:t>
            </a:r>
            <a:endParaRPr sz="950">
              <a:solidFill>
                <a:schemeClr val="dk1"/>
              </a:solidFill>
              <a:latin typeface="Calibri"/>
              <a:ea typeface="Calibri"/>
              <a:cs typeface="Calibri"/>
              <a:sym typeface="Calibri"/>
            </a:endParaRPr>
          </a:p>
        </p:txBody>
      </p:sp>
      <p:cxnSp>
        <p:nvCxnSpPr>
          <p:cNvPr id="113" name="Google Shape;113;p2"/>
          <p:cNvCxnSpPr/>
          <p:nvPr/>
        </p:nvCxnSpPr>
        <p:spPr>
          <a:xfrm>
            <a:off x="8630717" y="3813048"/>
            <a:ext cx="2783738" cy="0"/>
          </a:xfrm>
          <a:prstGeom prst="straightConnector1">
            <a:avLst/>
          </a:prstGeom>
          <a:noFill/>
          <a:ln cap="flat" cmpd="sng" w="12700">
            <a:solidFill>
              <a:srgbClr val="45201D"/>
            </a:solidFill>
            <a:prstDash val="solid"/>
            <a:round/>
            <a:headEnd len="sm" w="sm" type="none"/>
            <a:tailEnd len="sm" w="sm" type="none"/>
          </a:ln>
        </p:spPr>
      </p:cxnSp>
      <p:sp>
        <p:nvSpPr>
          <p:cNvPr id="114" name="Google Shape;114;p2"/>
          <p:cNvSpPr txBox="1"/>
          <p:nvPr/>
        </p:nvSpPr>
        <p:spPr>
          <a:xfrm>
            <a:off x="8630717" y="3959352"/>
            <a:ext cx="2783738"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500"/>
              <a:buFont typeface="Arial"/>
              <a:buNone/>
            </a:pPr>
            <a:r>
              <a:rPr b="1" lang="en-US" sz="1500">
                <a:solidFill>
                  <a:srgbClr val="F3E7E4"/>
                </a:solidFill>
                <a:latin typeface="Arial"/>
                <a:ea typeface="Arial"/>
                <a:cs typeface="Arial"/>
                <a:sym typeface="Arial"/>
              </a:rPr>
              <a:t>Data Silos &amp; Fragmentation</a:t>
            </a:r>
            <a:endParaRPr sz="1500">
              <a:solidFill>
                <a:schemeClr val="dk1"/>
              </a:solidFill>
              <a:latin typeface="Calibri"/>
              <a:ea typeface="Calibri"/>
              <a:cs typeface="Calibri"/>
              <a:sym typeface="Calibri"/>
            </a:endParaRPr>
          </a:p>
        </p:txBody>
      </p:sp>
      <p:sp>
        <p:nvSpPr>
          <p:cNvPr id="115" name="Google Shape;115;p2"/>
          <p:cNvSpPr txBox="1"/>
          <p:nvPr/>
        </p:nvSpPr>
        <p:spPr>
          <a:xfrm>
            <a:off x="8630717" y="4526280"/>
            <a:ext cx="278373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200"/>
              <a:buFont typeface="Calibri"/>
              <a:buNone/>
            </a:pPr>
            <a:r>
              <a:rPr lang="en-US" sz="1200">
                <a:solidFill>
                  <a:srgbClr val="C7A19C"/>
                </a:solidFill>
                <a:latin typeface="Calibri"/>
                <a:ea typeface="Calibri"/>
                <a:cs typeface="Calibri"/>
                <a:sym typeface="Calibri"/>
              </a:rPr>
              <a:t>Weather, hydrology, satellite thermal, and elevation data sit in separate departmental silos. Manual synthesis is far too slow.</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120" name="Shape 120"/>
        <p:cNvGrpSpPr/>
        <p:nvPr/>
      </p:nvGrpSpPr>
      <p:grpSpPr>
        <a:xfrm>
          <a:off x="0" y="0"/>
          <a:ext cx="0" cy="0"/>
          <a:chOff x="0" y="0"/>
          <a:chExt cx="0" cy="0"/>
        </a:xfrm>
      </p:grpSpPr>
      <p:sp>
        <p:nvSpPr>
          <p:cNvPr id="121" name="Google Shape;121;p3"/>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2" name="Google Shape;122;p3"/>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123" name="Google Shape;123;p3"/>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124" name="Google Shape;124;p3"/>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03</a:t>
            </a:r>
            <a:endParaRPr sz="2200">
              <a:solidFill>
                <a:schemeClr val="dk1"/>
              </a:solidFill>
              <a:latin typeface="Calibri"/>
              <a:ea typeface="Calibri"/>
              <a:cs typeface="Calibri"/>
              <a:sym typeface="Calibri"/>
            </a:endParaRPr>
          </a:p>
        </p:txBody>
      </p:sp>
      <p:sp>
        <p:nvSpPr>
          <p:cNvPr id="125" name="Google Shape;125;p3"/>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126" name="Google Shape;126;p3"/>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txBox="1"/>
          <p:nvPr/>
        </p:nvSpPr>
        <p:spPr>
          <a:xfrm>
            <a:off x="1234440" y="502920"/>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THE SOLUTION</a:t>
            </a:r>
            <a:endParaRPr sz="1100">
              <a:solidFill>
                <a:schemeClr val="dk1"/>
              </a:solidFill>
              <a:latin typeface="Calibri"/>
              <a:ea typeface="Calibri"/>
              <a:cs typeface="Calibri"/>
              <a:sym typeface="Calibri"/>
            </a:endParaRPr>
          </a:p>
        </p:txBody>
      </p:sp>
      <p:sp>
        <p:nvSpPr>
          <p:cNvPr id="132" name="Google Shape;132;p3"/>
          <p:cNvSpPr txBox="1"/>
          <p:nvPr/>
        </p:nvSpPr>
        <p:spPr>
          <a:xfrm>
            <a:off x="1234440" y="804672"/>
            <a:ext cx="1045433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2700"/>
              <a:buFont typeface="Arial"/>
              <a:buNone/>
            </a:pPr>
            <a:r>
              <a:rPr b="1" lang="en-US" sz="2700">
                <a:solidFill>
                  <a:srgbClr val="F3E7E4"/>
                </a:solidFill>
                <a:latin typeface="Arial"/>
                <a:ea typeface="Arial"/>
                <a:cs typeface="Arial"/>
                <a:sym typeface="Arial"/>
              </a:rPr>
              <a:t>ECOSHIELD: THE EXPLAINABLE ARCHITECTURE</a:t>
            </a:r>
            <a:endParaRPr sz="2700">
              <a:solidFill>
                <a:schemeClr val="dk1"/>
              </a:solidFill>
              <a:latin typeface="Calibri"/>
              <a:ea typeface="Calibri"/>
              <a:cs typeface="Calibri"/>
              <a:sym typeface="Calibri"/>
            </a:endParaRPr>
          </a:p>
        </p:txBody>
      </p:sp>
      <p:cxnSp>
        <p:nvCxnSpPr>
          <p:cNvPr id="133" name="Google Shape;133;p3"/>
          <p:cNvCxnSpPr/>
          <p:nvPr/>
        </p:nvCxnSpPr>
        <p:spPr>
          <a:xfrm>
            <a:off x="1234440" y="1463040"/>
            <a:ext cx="10454335" cy="0"/>
          </a:xfrm>
          <a:prstGeom prst="straightConnector1">
            <a:avLst/>
          </a:prstGeom>
          <a:noFill/>
          <a:ln cap="flat" cmpd="sng" w="12700">
            <a:solidFill>
              <a:srgbClr val="45201D"/>
            </a:solidFill>
            <a:prstDash val="solid"/>
            <a:round/>
            <a:headEnd len="sm" w="sm" type="none"/>
            <a:tailEnd len="sm" w="sm" type="none"/>
          </a:ln>
        </p:spPr>
      </p:cxnSp>
      <p:sp>
        <p:nvSpPr>
          <p:cNvPr id="134" name="Google Shape;134;p3"/>
          <p:cNvSpPr/>
          <p:nvPr/>
        </p:nvSpPr>
        <p:spPr>
          <a:xfrm>
            <a:off x="1234440" y="1783080"/>
            <a:ext cx="5112868" cy="2084832"/>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 name="Google Shape;135;p3"/>
          <p:cNvCxnSpPr/>
          <p:nvPr/>
        </p:nvCxnSpPr>
        <p:spPr>
          <a:xfrm>
            <a:off x="1234440" y="1783080"/>
            <a:ext cx="182880" cy="0"/>
          </a:xfrm>
          <a:prstGeom prst="straightConnector1">
            <a:avLst/>
          </a:prstGeom>
          <a:noFill/>
          <a:ln cap="flat" cmpd="sng" w="19050">
            <a:solidFill>
              <a:srgbClr val="B3271D"/>
            </a:solidFill>
            <a:prstDash val="solid"/>
            <a:round/>
            <a:headEnd len="sm" w="sm" type="none"/>
            <a:tailEnd len="sm" w="sm" type="none"/>
          </a:ln>
        </p:spPr>
      </p:cxnSp>
      <p:cxnSp>
        <p:nvCxnSpPr>
          <p:cNvPr id="136" name="Google Shape;136;p3"/>
          <p:cNvCxnSpPr/>
          <p:nvPr/>
        </p:nvCxnSpPr>
        <p:spPr>
          <a:xfrm>
            <a:off x="1234440" y="1783080"/>
            <a:ext cx="0" cy="182880"/>
          </a:xfrm>
          <a:prstGeom prst="straightConnector1">
            <a:avLst/>
          </a:prstGeom>
          <a:noFill/>
          <a:ln cap="flat" cmpd="sng" w="19050">
            <a:solidFill>
              <a:srgbClr val="B3271D"/>
            </a:solidFill>
            <a:prstDash val="solid"/>
            <a:round/>
            <a:headEnd len="sm" w="sm" type="none"/>
            <a:tailEnd len="sm" w="sm" type="none"/>
          </a:ln>
        </p:spPr>
      </p:cxnSp>
      <p:cxnSp>
        <p:nvCxnSpPr>
          <p:cNvPr id="137" name="Google Shape;137;p3"/>
          <p:cNvCxnSpPr/>
          <p:nvPr/>
        </p:nvCxnSpPr>
        <p:spPr>
          <a:xfrm>
            <a:off x="6164428" y="3867912"/>
            <a:ext cx="182880" cy="0"/>
          </a:xfrm>
          <a:prstGeom prst="straightConnector1">
            <a:avLst/>
          </a:prstGeom>
          <a:noFill/>
          <a:ln cap="flat" cmpd="sng" w="19050">
            <a:solidFill>
              <a:srgbClr val="B3271D"/>
            </a:solidFill>
            <a:prstDash val="solid"/>
            <a:round/>
            <a:headEnd len="sm" w="sm" type="none"/>
            <a:tailEnd len="sm" w="sm" type="none"/>
          </a:ln>
        </p:spPr>
      </p:cxnSp>
      <p:cxnSp>
        <p:nvCxnSpPr>
          <p:cNvPr id="138" name="Google Shape;138;p3"/>
          <p:cNvCxnSpPr/>
          <p:nvPr/>
        </p:nvCxnSpPr>
        <p:spPr>
          <a:xfrm>
            <a:off x="6347308" y="3685032"/>
            <a:ext cx="0" cy="182880"/>
          </a:xfrm>
          <a:prstGeom prst="straightConnector1">
            <a:avLst/>
          </a:prstGeom>
          <a:noFill/>
          <a:ln cap="flat" cmpd="sng" w="19050">
            <a:solidFill>
              <a:srgbClr val="B3271D"/>
            </a:solidFill>
            <a:prstDash val="solid"/>
            <a:round/>
            <a:headEnd len="sm" w="sm" type="none"/>
            <a:tailEnd len="sm" w="sm" type="none"/>
          </a:ln>
        </p:spPr>
      </p:cxnSp>
      <p:sp>
        <p:nvSpPr>
          <p:cNvPr id="139" name="Google Shape;139;p3"/>
          <p:cNvSpPr txBox="1"/>
          <p:nvPr/>
        </p:nvSpPr>
        <p:spPr>
          <a:xfrm>
            <a:off x="5661508" y="1892808"/>
            <a:ext cx="5486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200"/>
              <a:buFont typeface="Courier New"/>
              <a:buNone/>
            </a:pPr>
            <a:r>
              <a:rPr b="1" lang="en-US" sz="1200">
                <a:solidFill>
                  <a:srgbClr val="45201D"/>
                </a:solidFill>
                <a:latin typeface="Courier New"/>
                <a:ea typeface="Courier New"/>
                <a:cs typeface="Courier New"/>
                <a:sym typeface="Courier New"/>
              </a:rPr>
              <a:t>01</a:t>
            </a:r>
            <a:endParaRPr sz="1200">
              <a:solidFill>
                <a:schemeClr val="dk1"/>
              </a:solidFill>
              <a:latin typeface="Calibri"/>
              <a:ea typeface="Calibri"/>
              <a:cs typeface="Calibri"/>
              <a:sym typeface="Calibri"/>
            </a:endParaRPr>
          </a:p>
        </p:txBody>
      </p:sp>
      <p:sp>
        <p:nvSpPr>
          <p:cNvPr id="140" name="Google Shape;140;p3"/>
          <p:cNvSpPr/>
          <p:nvPr/>
        </p:nvSpPr>
        <p:spPr>
          <a:xfrm>
            <a:off x="1472184" y="2020824"/>
            <a:ext cx="502920" cy="502920"/>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txBox="1"/>
          <p:nvPr/>
        </p:nvSpPr>
        <p:spPr>
          <a:xfrm>
            <a:off x="1472184" y="202082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142" name="Google Shape;142;p3"/>
          <p:cNvSpPr txBox="1"/>
          <p:nvPr/>
        </p:nvSpPr>
        <p:spPr>
          <a:xfrm>
            <a:off x="2130552" y="1984248"/>
            <a:ext cx="36498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450"/>
              <a:buFont typeface="Arial"/>
              <a:buNone/>
            </a:pPr>
            <a:r>
              <a:rPr b="1" lang="en-US" sz="1450">
                <a:solidFill>
                  <a:srgbClr val="F3E7E4"/>
                </a:solidFill>
                <a:latin typeface="Arial"/>
                <a:ea typeface="Arial"/>
                <a:cs typeface="Arial"/>
                <a:sym typeface="Arial"/>
              </a:rPr>
              <a:t>Unified Multi-Stream Fusion</a:t>
            </a:r>
            <a:endParaRPr sz="1450">
              <a:solidFill>
                <a:schemeClr val="dk1"/>
              </a:solidFill>
              <a:latin typeface="Calibri"/>
              <a:ea typeface="Calibri"/>
              <a:cs typeface="Calibri"/>
              <a:sym typeface="Calibri"/>
            </a:endParaRPr>
          </a:p>
        </p:txBody>
      </p:sp>
      <p:sp>
        <p:nvSpPr>
          <p:cNvPr id="143" name="Google Shape;143;p3"/>
          <p:cNvSpPr txBox="1"/>
          <p:nvPr/>
        </p:nvSpPr>
        <p:spPr>
          <a:xfrm>
            <a:off x="2130552" y="2441448"/>
            <a:ext cx="4015588"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150"/>
              <a:buFont typeface="Calibri"/>
              <a:buNone/>
            </a:pPr>
            <a:r>
              <a:rPr lang="en-US" sz="1150">
                <a:solidFill>
                  <a:srgbClr val="C7A19C"/>
                </a:solidFill>
                <a:latin typeface="Calibri"/>
                <a:ea typeface="Calibri"/>
                <a:cs typeface="Calibri"/>
                <a:sym typeface="Calibri"/>
              </a:rPr>
              <a:t>Synchronizes rainfall, river discharge, satellite thermal hotspots, air quality, and terrain elevation into a single pane of glass.</a:t>
            </a:r>
            <a:endParaRPr sz="1150">
              <a:solidFill>
                <a:schemeClr val="dk1"/>
              </a:solidFill>
              <a:latin typeface="Calibri"/>
              <a:ea typeface="Calibri"/>
              <a:cs typeface="Calibri"/>
              <a:sym typeface="Calibri"/>
            </a:endParaRPr>
          </a:p>
        </p:txBody>
      </p:sp>
      <p:sp>
        <p:nvSpPr>
          <p:cNvPr id="144" name="Google Shape;144;p3"/>
          <p:cNvSpPr/>
          <p:nvPr/>
        </p:nvSpPr>
        <p:spPr>
          <a:xfrm>
            <a:off x="6575908" y="1783080"/>
            <a:ext cx="5112868" cy="2084832"/>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 name="Google Shape;145;p3"/>
          <p:cNvCxnSpPr/>
          <p:nvPr/>
        </p:nvCxnSpPr>
        <p:spPr>
          <a:xfrm>
            <a:off x="6575908" y="1783080"/>
            <a:ext cx="182880" cy="0"/>
          </a:xfrm>
          <a:prstGeom prst="straightConnector1">
            <a:avLst/>
          </a:prstGeom>
          <a:noFill/>
          <a:ln cap="flat" cmpd="sng" w="19050">
            <a:solidFill>
              <a:srgbClr val="C4841F"/>
            </a:solidFill>
            <a:prstDash val="solid"/>
            <a:round/>
            <a:headEnd len="sm" w="sm" type="none"/>
            <a:tailEnd len="sm" w="sm" type="none"/>
          </a:ln>
        </p:spPr>
      </p:cxnSp>
      <p:cxnSp>
        <p:nvCxnSpPr>
          <p:cNvPr id="146" name="Google Shape;146;p3"/>
          <p:cNvCxnSpPr/>
          <p:nvPr/>
        </p:nvCxnSpPr>
        <p:spPr>
          <a:xfrm>
            <a:off x="6575908" y="1783080"/>
            <a:ext cx="0" cy="182880"/>
          </a:xfrm>
          <a:prstGeom prst="straightConnector1">
            <a:avLst/>
          </a:prstGeom>
          <a:noFill/>
          <a:ln cap="flat" cmpd="sng" w="19050">
            <a:solidFill>
              <a:srgbClr val="C4841F"/>
            </a:solidFill>
            <a:prstDash val="solid"/>
            <a:round/>
            <a:headEnd len="sm" w="sm" type="none"/>
            <a:tailEnd len="sm" w="sm" type="none"/>
          </a:ln>
        </p:spPr>
      </p:cxnSp>
      <p:cxnSp>
        <p:nvCxnSpPr>
          <p:cNvPr id="147" name="Google Shape;147;p3"/>
          <p:cNvCxnSpPr/>
          <p:nvPr/>
        </p:nvCxnSpPr>
        <p:spPr>
          <a:xfrm>
            <a:off x="11505895" y="3867912"/>
            <a:ext cx="182880" cy="0"/>
          </a:xfrm>
          <a:prstGeom prst="straightConnector1">
            <a:avLst/>
          </a:prstGeom>
          <a:noFill/>
          <a:ln cap="flat" cmpd="sng" w="19050">
            <a:solidFill>
              <a:srgbClr val="C4841F"/>
            </a:solidFill>
            <a:prstDash val="solid"/>
            <a:round/>
            <a:headEnd len="sm" w="sm" type="none"/>
            <a:tailEnd len="sm" w="sm" type="none"/>
          </a:ln>
        </p:spPr>
      </p:cxnSp>
      <p:cxnSp>
        <p:nvCxnSpPr>
          <p:cNvPr id="148" name="Google Shape;148;p3"/>
          <p:cNvCxnSpPr/>
          <p:nvPr/>
        </p:nvCxnSpPr>
        <p:spPr>
          <a:xfrm>
            <a:off x="11688775" y="3685032"/>
            <a:ext cx="0" cy="182880"/>
          </a:xfrm>
          <a:prstGeom prst="straightConnector1">
            <a:avLst/>
          </a:prstGeom>
          <a:noFill/>
          <a:ln cap="flat" cmpd="sng" w="19050">
            <a:solidFill>
              <a:srgbClr val="C4841F"/>
            </a:solidFill>
            <a:prstDash val="solid"/>
            <a:round/>
            <a:headEnd len="sm" w="sm" type="none"/>
            <a:tailEnd len="sm" w="sm" type="none"/>
          </a:ln>
        </p:spPr>
      </p:cxnSp>
      <p:sp>
        <p:nvSpPr>
          <p:cNvPr id="149" name="Google Shape;149;p3"/>
          <p:cNvSpPr txBox="1"/>
          <p:nvPr/>
        </p:nvSpPr>
        <p:spPr>
          <a:xfrm>
            <a:off x="11002975" y="1892808"/>
            <a:ext cx="5486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200"/>
              <a:buFont typeface="Courier New"/>
              <a:buNone/>
            </a:pPr>
            <a:r>
              <a:rPr b="1" lang="en-US" sz="1200">
                <a:solidFill>
                  <a:srgbClr val="45201D"/>
                </a:solidFill>
                <a:latin typeface="Courier New"/>
                <a:ea typeface="Courier New"/>
                <a:cs typeface="Courier New"/>
                <a:sym typeface="Courier New"/>
              </a:rPr>
              <a:t>02</a:t>
            </a:r>
            <a:endParaRPr sz="1200">
              <a:solidFill>
                <a:schemeClr val="dk1"/>
              </a:solidFill>
              <a:latin typeface="Calibri"/>
              <a:ea typeface="Calibri"/>
              <a:cs typeface="Calibri"/>
              <a:sym typeface="Calibri"/>
            </a:endParaRPr>
          </a:p>
        </p:txBody>
      </p:sp>
      <p:sp>
        <p:nvSpPr>
          <p:cNvPr id="150" name="Google Shape;150;p3"/>
          <p:cNvSpPr/>
          <p:nvPr/>
        </p:nvSpPr>
        <p:spPr>
          <a:xfrm>
            <a:off x="6813652" y="2020824"/>
            <a:ext cx="502920" cy="502920"/>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txBox="1"/>
          <p:nvPr/>
        </p:nvSpPr>
        <p:spPr>
          <a:xfrm>
            <a:off x="6813652" y="202082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152" name="Google Shape;152;p3"/>
          <p:cNvSpPr txBox="1"/>
          <p:nvPr/>
        </p:nvSpPr>
        <p:spPr>
          <a:xfrm>
            <a:off x="7472020" y="1984248"/>
            <a:ext cx="36498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450"/>
              <a:buFont typeface="Arial"/>
              <a:buNone/>
            </a:pPr>
            <a:r>
              <a:rPr b="1" lang="en-US" sz="1450">
                <a:solidFill>
                  <a:srgbClr val="F3E7E4"/>
                </a:solidFill>
                <a:latin typeface="Arial"/>
                <a:ea typeface="Arial"/>
                <a:cs typeface="Arial"/>
                <a:sym typeface="Arial"/>
              </a:rPr>
              <a:t>100% Explainable AI Engine</a:t>
            </a:r>
            <a:endParaRPr sz="1450">
              <a:solidFill>
                <a:schemeClr val="dk1"/>
              </a:solidFill>
              <a:latin typeface="Calibri"/>
              <a:ea typeface="Calibri"/>
              <a:cs typeface="Calibri"/>
              <a:sym typeface="Calibri"/>
            </a:endParaRPr>
          </a:p>
        </p:txBody>
      </p:sp>
      <p:sp>
        <p:nvSpPr>
          <p:cNvPr id="153" name="Google Shape;153;p3"/>
          <p:cNvSpPr txBox="1"/>
          <p:nvPr/>
        </p:nvSpPr>
        <p:spPr>
          <a:xfrm>
            <a:off x="7472020" y="2441448"/>
            <a:ext cx="4015588"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150"/>
              <a:buFont typeface="Calibri"/>
              <a:buNone/>
            </a:pPr>
            <a:r>
              <a:rPr lang="en-US" sz="1150">
                <a:solidFill>
                  <a:srgbClr val="C7A19C"/>
                </a:solidFill>
                <a:latin typeface="Calibri"/>
                <a:ea typeface="Calibri"/>
                <a:cs typeface="Calibri"/>
                <a:sym typeface="Calibri"/>
              </a:rPr>
              <a:t>Zero black-box hallucinations. Deterministic scoring where every point is backed by physics, thresholds, and sensor weights.</a:t>
            </a:r>
            <a:endParaRPr sz="1150">
              <a:solidFill>
                <a:schemeClr val="dk1"/>
              </a:solidFill>
              <a:latin typeface="Calibri"/>
              <a:ea typeface="Calibri"/>
              <a:cs typeface="Calibri"/>
              <a:sym typeface="Calibri"/>
            </a:endParaRPr>
          </a:p>
        </p:txBody>
      </p:sp>
      <p:sp>
        <p:nvSpPr>
          <p:cNvPr id="154" name="Google Shape;154;p3"/>
          <p:cNvSpPr/>
          <p:nvPr/>
        </p:nvSpPr>
        <p:spPr>
          <a:xfrm>
            <a:off x="1234440" y="4069080"/>
            <a:ext cx="5112868" cy="2084832"/>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5" name="Google Shape;155;p3"/>
          <p:cNvCxnSpPr/>
          <p:nvPr/>
        </p:nvCxnSpPr>
        <p:spPr>
          <a:xfrm>
            <a:off x="1234440" y="4069080"/>
            <a:ext cx="182880" cy="0"/>
          </a:xfrm>
          <a:prstGeom prst="straightConnector1">
            <a:avLst/>
          </a:prstGeom>
          <a:noFill/>
          <a:ln cap="flat" cmpd="sng" w="19050">
            <a:solidFill>
              <a:srgbClr val="5C1414"/>
            </a:solidFill>
            <a:prstDash val="solid"/>
            <a:round/>
            <a:headEnd len="sm" w="sm" type="none"/>
            <a:tailEnd len="sm" w="sm" type="none"/>
          </a:ln>
        </p:spPr>
      </p:cxnSp>
      <p:cxnSp>
        <p:nvCxnSpPr>
          <p:cNvPr id="156" name="Google Shape;156;p3"/>
          <p:cNvCxnSpPr/>
          <p:nvPr/>
        </p:nvCxnSpPr>
        <p:spPr>
          <a:xfrm>
            <a:off x="1234440" y="4069080"/>
            <a:ext cx="0" cy="182880"/>
          </a:xfrm>
          <a:prstGeom prst="straightConnector1">
            <a:avLst/>
          </a:prstGeom>
          <a:noFill/>
          <a:ln cap="flat" cmpd="sng" w="19050">
            <a:solidFill>
              <a:srgbClr val="5C1414"/>
            </a:solidFill>
            <a:prstDash val="solid"/>
            <a:round/>
            <a:headEnd len="sm" w="sm" type="none"/>
            <a:tailEnd len="sm" w="sm" type="none"/>
          </a:ln>
        </p:spPr>
      </p:cxnSp>
      <p:cxnSp>
        <p:nvCxnSpPr>
          <p:cNvPr id="157" name="Google Shape;157;p3"/>
          <p:cNvCxnSpPr/>
          <p:nvPr/>
        </p:nvCxnSpPr>
        <p:spPr>
          <a:xfrm>
            <a:off x="6164428" y="6153912"/>
            <a:ext cx="182880" cy="0"/>
          </a:xfrm>
          <a:prstGeom prst="straightConnector1">
            <a:avLst/>
          </a:prstGeom>
          <a:noFill/>
          <a:ln cap="flat" cmpd="sng" w="19050">
            <a:solidFill>
              <a:srgbClr val="5C1414"/>
            </a:solidFill>
            <a:prstDash val="solid"/>
            <a:round/>
            <a:headEnd len="sm" w="sm" type="none"/>
            <a:tailEnd len="sm" w="sm" type="none"/>
          </a:ln>
        </p:spPr>
      </p:cxnSp>
      <p:cxnSp>
        <p:nvCxnSpPr>
          <p:cNvPr id="158" name="Google Shape;158;p3"/>
          <p:cNvCxnSpPr/>
          <p:nvPr/>
        </p:nvCxnSpPr>
        <p:spPr>
          <a:xfrm>
            <a:off x="6347308" y="5971032"/>
            <a:ext cx="0" cy="182880"/>
          </a:xfrm>
          <a:prstGeom prst="straightConnector1">
            <a:avLst/>
          </a:prstGeom>
          <a:noFill/>
          <a:ln cap="flat" cmpd="sng" w="19050">
            <a:solidFill>
              <a:srgbClr val="5C1414"/>
            </a:solidFill>
            <a:prstDash val="solid"/>
            <a:round/>
            <a:headEnd len="sm" w="sm" type="none"/>
            <a:tailEnd len="sm" w="sm" type="none"/>
          </a:ln>
        </p:spPr>
      </p:cxnSp>
      <p:sp>
        <p:nvSpPr>
          <p:cNvPr id="159" name="Google Shape;159;p3"/>
          <p:cNvSpPr txBox="1"/>
          <p:nvPr/>
        </p:nvSpPr>
        <p:spPr>
          <a:xfrm>
            <a:off x="5661508" y="4178808"/>
            <a:ext cx="5486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200"/>
              <a:buFont typeface="Courier New"/>
              <a:buNone/>
            </a:pPr>
            <a:r>
              <a:rPr b="1" lang="en-US" sz="1200">
                <a:solidFill>
                  <a:srgbClr val="45201D"/>
                </a:solidFill>
                <a:latin typeface="Courier New"/>
                <a:ea typeface="Courier New"/>
                <a:cs typeface="Courier New"/>
                <a:sym typeface="Courier New"/>
              </a:rPr>
              <a:t>03</a:t>
            </a:r>
            <a:endParaRPr sz="1200">
              <a:solidFill>
                <a:schemeClr val="dk1"/>
              </a:solidFill>
              <a:latin typeface="Calibri"/>
              <a:ea typeface="Calibri"/>
              <a:cs typeface="Calibri"/>
              <a:sym typeface="Calibri"/>
            </a:endParaRPr>
          </a:p>
        </p:txBody>
      </p:sp>
      <p:sp>
        <p:nvSpPr>
          <p:cNvPr id="160" name="Google Shape;160;p3"/>
          <p:cNvSpPr/>
          <p:nvPr/>
        </p:nvSpPr>
        <p:spPr>
          <a:xfrm>
            <a:off x="1472184" y="4306824"/>
            <a:ext cx="502920" cy="502920"/>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txBox="1"/>
          <p:nvPr/>
        </p:nvSpPr>
        <p:spPr>
          <a:xfrm>
            <a:off x="1472184" y="430682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162" name="Google Shape;162;p3"/>
          <p:cNvSpPr txBox="1"/>
          <p:nvPr/>
        </p:nvSpPr>
        <p:spPr>
          <a:xfrm>
            <a:off x="2130552" y="4270248"/>
            <a:ext cx="36498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450"/>
              <a:buFont typeface="Arial"/>
              <a:buNone/>
            </a:pPr>
            <a:r>
              <a:rPr b="1" lang="en-US" sz="1450">
                <a:solidFill>
                  <a:srgbClr val="F3E7E4"/>
                </a:solidFill>
                <a:latin typeface="Arial"/>
                <a:ea typeface="Arial"/>
                <a:cs typeface="Arial"/>
                <a:sym typeface="Arial"/>
              </a:rPr>
              <a:t>Algorithmic Resource Staging</a:t>
            </a:r>
            <a:endParaRPr sz="1450">
              <a:solidFill>
                <a:schemeClr val="dk1"/>
              </a:solidFill>
              <a:latin typeface="Calibri"/>
              <a:ea typeface="Calibri"/>
              <a:cs typeface="Calibri"/>
              <a:sym typeface="Calibri"/>
            </a:endParaRPr>
          </a:p>
        </p:txBody>
      </p:sp>
      <p:sp>
        <p:nvSpPr>
          <p:cNvPr id="163" name="Google Shape;163;p3"/>
          <p:cNvSpPr txBox="1"/>
          <p:nvPr/>
        </p:nvSpPr>
        <p:spPr>
          <a:xfrm>
            <a:off x="2130552" y="4727448"/>
            <a:ext cx="4015588"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150"/>
              <a:buFont typeface="Calibri"/>
              <a:buNone/>
            </a:pPr>
            <a:r>
              <a:rPr lang="en-US" sz="1150">
                <a:solidFill>
                  <a:srgbClr val="C7A19C"/>
                </a:solidFill>
                <a:latin typeface="Calibri"/>
                <a:ea typeface="Calibri"/>
                <a:cs typeface="Calibri"/>
                <a:sym typeface="Calibri"/>
              </a:rPr>
              <a:t>Automatically ranks district triage, stages rescue assets, and explicitly flags capacity gaps before they become crises.</a:t>
            </a:r>
            <a:endParaRPr sz="1150">
              <a:solidFill>
                <a:schemeClr val="dk1"/>
              </a:solidFill>
              <a:latin typeface="Calibri"/>
              <a:ea typeface="Calibri"/>
              <a:cs typeface="Calibri"/>
              <a:sym typeface="Calibri"/>
            </a:endParaRPr>
          </a:p>
        </p:txBody>
      </p:sp>
      <p:sp>
        <p:nvSpPr>
          <p:cNvPr id="164" name="Google Shape;164;p3"/>
          <p:cNvSpPr/>
          <p:nvPr/>
        </p:nvSpPr>
        <p:spPr>
          <a:xfrm>
            <a:off x="6575908" y="4069080"/>
            <a:ext cx="5112868" cy="2084832"/>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5" name="Google Shape;165;p3"/>
          <p:cNvCxnSpPr/>
          <p:nvPr/>
        </p:nvCxnSpPr>
        <p:spPr>
          <a:xfrm>
            <a:off x="6575908" y="4069080"/>
            <a:ext cx="182880" cy="0"/>
          </a:xfrm>
          <a:prstGeom prst="straightConnector1">
            <a:avLst/>
          </a:prstGeom>
          <a:noFill/>
          <a:ln cap="flat" cmpd="sng" w="19050">
            <a:solidFill>
              <a:srgbClr val="D14A2E"/>
            </a:solidFill>
            <a:prstDash val="solid"/>
            <a:round/>
            <a:headEnd len="sm" w="sm" type="none"/>
            <a:tailEnd len="sm" w="sm" type="none"/>
          </a:ln>
        </p:spPr>
      </p:cxnSp>
      <p:cxnSp>
        <p:nvCxnSpPr>
          <p:cNvPr id="166" name="Google Shape;166;p3"/>
          <p:cNvCxnSpPr/>
          <p:nvPr/>
        </p:nvCxnSpPr>
        <p:spPr>
          <a:xfrm>
            <a:off x="6575908" y="4069080"/>
            <a:ext cx="0" cy="182880"/>
          </a:xfrm>
          <a:prstGeom prst="straightConnector1">
            <a:avLst/>
          </a:prstGeom>
          <a:noFill/>
          <a:ln cap="flat" cmpd="sng" w="19050">
            <a:solidFill>
              <a:srgbClr val="D14A2E"/>
            </a:solidFill>
            <a:prstDash val="solid"/>
            <a:round/>
            <a:headEnd len="sm" w="sm" type="none"/>
            <a:tailEnd len="sm" w="sm" type="none"/>
          </a:ln>
        </p:spPr>
      </p:cxnSp>
      <p:cxnSp>
        <p:nvCxnSpPr>
          <p:cNvPr id="167" name="Google Shape;167;p3"/>
          <p:cNvCxnSpPr/>
          <p:nvPr/>
        </p:nvCxnSpPr>
        <p:spPr>
          <a:xfrm>
            <a:off x="11505895" y="6153912"/>
            <a:ext cx="182880" cy="0"/>
          </a:xfrm>
          <a:prstGeom prst="straightConnector1">
            <a:avLst/>
          </a:prstGeom>
          <a:noFill/>
          <a:ln cap="flat" cmpd="sng" w="19050">
            <a:solidFill>
              <a:srgbClr val="D14A2E"/>
            </a:solidFill>
            <a:prstDash val="solid"/>
            <a:round/>
            <a:headEnd len="sm" w="sm" type="none"/>
            <a:tailEnd len="sm" w="sm" type="none"/>
          </a:ln>
        </p:spPr>
      </p:cxnSp>
      <p:cxnSp>
        <p:nvCxnSpPr>
          <p:cNvPr id="168" name="Google Shape;168;p3"/>
          <p:cNvCxnSpPr/>
          <p:nvPr/>
        </p:nvCxnSpPr>
        <p:spPr>
          <a:xfrm>
            <a:off x="11688775" y="5971032"/>
            <a:ext cx="0" cy="182880"/>
          </a:xfrm>
          <a:prstGeom prst="straightConnector1">
            <a:avLst/>
          </a:prstGeom>
          <a:noFill/>
          <a:ln cap="flat" cmpd="sng" w="19050">
            <a:solidFill>
              <a:srgbClr val="D14A2E"/>
            </a:solidFill>
            <a:prstDash val="solid"/>
            <a:round/>
            <a:headEnd len="sm" w="sm" type="none"/>
            <a:tailEnd len="sm" w="sm" type="none"/>
          </a:ln>
        </p:spPr>
      </p:cxnSp>
      <p:sp>
        <p:nvSpPr>
          <p:cNvPr id="169" name="Google Shape;169;p3"/>
          <p:cNvSpPr txBox="1"/>
          <p:nvPr/>
        </p:nvSpPr>
        <p:spPr>
          <a:xfrm>
            <a:off x="11002975" y="4178808"/>
            <a:ext cx="5486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200"/>
              <a:buFont typeface="Courier New"/>
              <a:buNone/>
            </a:pPr>
            <a:r>
              <a:rPr b="1" lang="en-US" sz="1200">
                <a:solidFill>
                  <a:srgbClr val="45201D"/>
                </a:solidFill>
                <a:latin typeface="Courier New"/>
                <a:ea typeface="Courier New"/>
                <a:cs typeface="Courier New"/>
                <a:sym typeface="Courier New"/>
              </a:rPr>
              <a:t>04</a:t>
            </a:r>
            <a:endParaRPr sz="1200">
              <a:solidFill>
                <a:schemeClr val="dk1"/>
              </a:solidFill>
              <a:latin typeface="Calibri"/>
              <a:ea typeface="Calibri"/>
              <a:cs typeface="Calibri"/>
              <a:sym typeface="Calibri"/>
            </a:endParaRPr>
          </a:p>
        </p:txBody>
      </p:sp>
      <p:sp>
        <p:nvSpPr>
          <p:cNvPr id="170" name="Google Shape;170;p3"/>
          <p:cNvSpPr/>
          <p:nvPr/>
        </p:nvSpPr>
        <p:spPr>
          <a:xfrm>
            <a:off x="6813652" y="4306824"/>
            <a:ext cx="502920" cy="502920"/>
          </a:xfrm>
          <a:prstGeom prst="rect">
            <a:avLst/>
          </a:prstGeom>
          <a:solidFill>
            <a:srgbClr val="D14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txBox="1"/>
          <p:nvPr/>
        </p:nvSpPr>
        <p:spPr>
          <a:xfrm>
            <a:off x="6813652" y="430682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172" name="Google Shape;172;p3"/>
          <p:cNvSpPr txBox="1"/>
          <p:nvPr/>
        </p:nvSpPr>
        <p:spPr>
          <a:xfrm>
            <a:off x="7472020" y="4270248"/>
            <a:ext cx="36498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450"/>
              <a:buFont typeface="Arial"/>
              <a:buNone/>
            </a:pPr>
            <a:r>
              <a:rPr b="1" lang="en-US" sz="1450">
                <a:solidFill>
                  <a:srgbClr val="F3E7E4"/>
                </a:solidFill>
                <a:latin typeface="Arial"/>
                <a:ea typeface="Arial"/>
                <a:cs typeface="Arial"/>
                <a:sym typeface="Arial"/>
              </a:rPr>
              <a:t>Zero-Lock-In Deployment</a:t>
            </a:r>
            <a:endParaRPr sz="1450">
              <a:solidFill>
                <a:schemeClr val="dk1"/>
              </a:solidFill>
              <a:latin typeface="Calibri"/>
              <a:ea typeface="Calibri"/>
              <a:cs typeface="Calibri"/>
              <a:sym typeface="Calibri"/>
            </a:endParaRPr>
          </a:p>
        </p:txBody>
      </p:sp>
      <p:sp>
        <p:nvSpPr>
          <p:cNvPr id="173" name="Google Shape;173;p3"/>
          <p:cNvSpPr txBox="1"/>
          <p:nvPr/>
        </p:nvSpPr>
        <p:spPr>
          <a:xfrm>
            <a:off x="7472020" y="4727448"/>
            <a:ext cx="4015588"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150"/>
              <a:buFont typeface="Calibri"/>
              <a:buNone/>
            </a:pPr>
            <a:r>
              <a:rPr lang="en-US" sz="1150">
                <a:solidFill>
                  <a:srgbClr val="C7A19C"/>
                </a:solidFill>
                <a:latin typeface="Calibri"/>
                <a:ea typeface="Calibri"/>
                <a:cs typeface="Calibri"/>
                <a:sym typeface="Calibri"/>
              </a:rPr>
              <a:t>Built with open feeds and zero-cost fallbacks -- no paid LLM or proprietary database required to run in production.</a:t>
            </a:r>
            <a:endParaRPr sz="11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178" name="Shape 178"/>
        <p:cNvGrpSpPr/>
        <p:nvPr/>
      </p:nvGrpSpPr>
      <p:grpSpPr>
        <a:xfrm>
          <a:off x="0" y="0"/>
          <a:ext cx="0" cy="0"/>
          <a:chOff x="0" y="0"/>
          <a:chExt cx="0" cy="0"/>
        </a:xfrm>
      </p:grpSpPr>
      <p:sp>
        <p:nvSpPr>
          <p:cNvPr id="179" name="Google Shape;179;p4"/>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0" name="Google Shape;180;p4"/>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181" name="Google Shape;181;p4"/>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182" name="Google Shape;182;p4"/>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04</a:t>
            </a:r>
            <a:endParaRPr sz="2200">
              <a:solidFill>
                <a:schemeClr val="dk1"/>
              </a:solidFill>
              <a:latin typeface="Calibri"/>
              <a:ea typeface="Calibri"/>
              <a:cs typeface="Calibri"/>
              <a:sym typeface="Calibri"/>
            </a:endParaRPr>
          </a:p>
        </p:txBody>
      </p:sp>
      <p:sp>
        <p:nvSpPr>
          <p:cNvPr id="183" name="Google Shape;183;p4"/>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184" name="Google Shape;184;p4"/>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4"/>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
          <p:cNvSpPr txBox="1"/>
          <p:nvPr/>
        </p:nvSpPr>
        <p:spPr>
          <a:xfrm>
            <a:off x="1234440" y="502920"/>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DATA INTEGRITY &amp; INGESTION</a:t>
            </a:r>
            <a:endParaRPr sz="1100">
              <a:solidFill>
                <a:schemeClr val="dk1"/>
              </a:solidFill>
              <a:latin typeface="Calibri"/>
              <a:ea typeface="Calibri"/>
              <a:cs typeface="Calibri"/>
              <a:sym typeface="Calibri"/>
            </a:endParaRPr>
          </a:p>
        </p:txBody>
      </p:sp>
      <p:sp>
        <p:nvSpPr>
          <p:cNvPr id="190" name="Google Shape;190;p4"/>
          <p:cNvSpPr txBox="1"/>
          <p:nvPr/>
        </p:nvSpPr>
        <p:spPr>
          <a:xfrm>
            <a:off x="1234440" y="804672"/>
            <a:ext cx="1045433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2700"/>
              <a:buFont typeface="Arial"/>
              <a:buNone/>
            </a:pPr>
            <a:r>
              <a:rPr b="1" lang="en-US" sz="2700">
                <a:solidFill>
                  <a:srgbClr val="F3E7E4"/>
                </a:solidFill>
                <a:latin typeface="Arial"/>
                <a:ea typeface="Arial"/>
                <a:cs typeface="Arial"/>
                <a:sym typeface="Arial"/>
              </a:rPr>
              <a:t>5 LIVE OPERATIONAL DATA STREAMS</a:t>
            </a:r>
            <a:endParaRPr sz="2700">
              <a:solidFill>
                <a:schemeClr val="dk1"/>
              </a:solidFill>
              <a:latin typeface="Calibri"/>
              <a:ea typeface="Calibri"/>
              <a:cs typeface="Calibri"/>
              <a:sym typeface="Calibri"/>
            </a:endParaRPr>
          </a:p>
        </p:txBody>
      </p:sp>
      <p:cxnSp>
        <p:nvCxnSpPr>
          <p:cNvPr id="191" name="Google Shape;191;p4"/>
          <p:cNvCxnSpPr/>
          <p:nvPr/>
        </p:nvCxnSpPr>
        <p:spPr>
          <a:xfrm>
            <a:off x="1234440" y="1463040"/>
            <a:ext cx="10454335" cy="0"/>
          </a:xfrm>
          <a:prstGeom prst="straightConnector1">
            <a:avLst/>
          </a:prstGeom>
          <a:noFill/>
          <a:ln cap="flat" cmpd="sng" w="12700">
            <a:solidFill>
              <a:srgbClr val="45201D"/>
            </a:solidFill>
            <a:prstDash val="solid"/>
            <a:round/>
            <a:headEnd len="sm" w="sm" type="none"/>
            <a:tailEnd len="sm" w="sm" type="none"/>
          </a:ln>
        </p:spPr>
      </p:cxnSp>
      <p:sp>
        <p:nvSpPr>
          <p:cNvPr id="192" name="Google Shape;192;p4"/>
          <p:cNvSpPr/>
          <p:nvPr/>
        </p:nvSpPr>
        <p:spPr>
          <a:xfrm>
            <a:off x="1234440" y="1737360"/>
            <a:ext cx="10454335" cy="859536"/>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3" name="Google Shape;193;p4"/>
          <p:cNvCxnSpPr/>
          <p:nvPr/>
        </p:nvCxnSpPr>
        <p:spPr>
          <a:xfrm>
            <a:off x="1234440" y="1737360"/>
            <a:ext cx="128016" cy="0"/>
          </a:xfrm>
          <a:prstGeom prst="straightConnector1">
            <a:avLst/>
          </a:prstGeom>
          <a:noFill/>
          <a:ln cap="flat" cmpd="sng" w="19050">
            <a:solidFill>
              <a:srgbClr val="B3271D"/>
            </a:solidFill>
            <a:prstDash val="solid"/>
            <a:round/>
            <a:headEnd len="sm" w="sm" type="none"/>
            <a:tailEnd len="sm" w="sm" type="none"/>
          </a:ln>
        </p:spPr>
      </p:cxnSp>
      <p:cxnSp>
        <p:nvCxnSpPr>
          <p:cNvPr id="194" name="Google Shape;194;p4"/>
          <p:cNvCxnSpPr/>
          <p:nvPr/>
        </p:nvCxnSpPr>
        <p:spPr>
          <a:xfrm>
            <a:off x="1234440" y="1737360"/>
            <a:ext cx="0" cy="128016"/>
          </a:xfrm>
          <a:prstGeom prst="straightConnector1">
            <a:avLst/>
          </a:prstGeom>
          <a:noFill/>
          <a:ln cap="flat" cmpd="sng" w="19050">
            <a:solidFill>
              <a:srgbClr val="B3271D"/>
            </a:solidFill>
            <a:prstDash val="solid"/>
            <a:round/>
            <a:headEnd len="sm" w="sm" type="none"/>
            <a:tailEnd len="sm" w="sm" type="none"/>
          </a:ln>
        </p:spPr>
      </p:cxnSp>
      <p:cxnSp>
        <p:nvCxnSpPr>
          <p:cNvPr id="195" name="Google Shape;195;p4"/>
          <p:cNvCxnSpPr/>
          <p:nvPr/>
        </p:nvCxnSpPr>
        <p:spPr>
          <a:xfrm>
            <a:off x="11560759" y="2596896"/>
            <a:ext cx="128016" cy="0"/>
          </a:xfrm>
          <a:prstGeom prst="straightConnector1">
            <a:avLst/>
          </a:prstGeom>
          <a:noFill/>
          <a:ln cap="flat" cmpd="sng" w="19050">
            <a:solidFill>
              <a:srgbClr val="B3271D"/>
            </a:solidFill>
            <a:prstDash val="solid"/>
            <a:round/>
            <a:headEnd len="sm" w="sm" type="none"/>
            <a:tailEnd len="sm" w="sm" type="none"/>
          </a:ln>
        </p:spPr>
      </p:cxnSp>
      <p:cxnSp>
        <p:nvCxnSpPr>
          <p:cNvPr id="196" name="Google Shape;196;p4"/>
          <p:cNvCxnSpPr/>
          <p:nvPr/>
        </p:nvCxnSpPr>
        <p:spPr>
          <a:xfrm>
            <a:off x="11688775" y="2468880"/>
            <a:ext cx="0" cy="128016"/>
          </a:xfrm>
          <a:prstGeom prst="straightConnector1">
            <a:avLst/>
          </a:prstGeom>
          <a:noFill/>
          <a:ln cap="flat" cmpd="sng" w="19050">
            <a:solidFill>
              <a:srgbClr val="B3271D"/>
            </a:solidFill>
            <a:prstDash val="solid"/>
            <a:round/>
            <a:headEnd len="sm" w="sm" type="none"/>
            <a:tailEnd len="sm" w="sm" type="none"/>
          </a:ln>
        </p:spPr>
      </p:cxnSp>
      <p:sp>
        <p:nvSpPr>
          <p:cNvPr id="197" name="Google Shape;197;p4"/>
          <p:cNvSpPr txBox="1"/>
          <p:nvPr/>
        </p:nvSpPr>
        <p:spPr>
          <a:xfrm>
            <a:off x="1371600" y="1737360"/>
            <a:ext cx="548640" cy="8595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5201D"/>
              </a:buClr>
              <a:buSzPts val="1300"/>
              <a:buFont typeface="Courier New"/>
              <a:buNone/>
            </a:pPr>
            <a:r>
              <a:rPr b="1" lang="en-US" sz="1300">
                <a:solidFill>
                  <a:srgbClr val="45201D"/>
                </a:solidFill>
                <a:latin typeface="Courier New"/>
                <a:ea typeface="Courier New"/>
                <a:cs typeface="Courier New"/>
                <a:sym typeface="Courier New"/>
              </a:rPr>
              <a:t>01</a:t>
            </a:r>
            <a:endParaRPr sz="1300">
              <a:solidFill>
                <a:schemeClr val="dk1"/>
              </a:solidFill>
              <a:latin typeface="Calibri"/>
              <a:ea typeface="Calibri"/>
              <a:cs typeface="Calibri"/>
              <a:sym typeface="Calibri"/>
            </a:endParaRPr>
          </a:p>
        </p:txBody>
      </p:sp>
      <p:sp>
        <p:nvSpPr>
          <p:cNvPr id="198" name="Google Shape;198;p4"/>
          <p:cNvSpPr/>
          <p:nvPr/>
        </p:nvSpPr>
        <p:spPr>
          <a:xfrm>
            <a:off x="2011680" y="1920240"/>
            <a:ext cx="493776" cy="493776"/>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txBox="1"/>
          <p:nvPr/>
        </p:nvSpPr>
        <p:spPr>
          <a:xfrm>
            <a:off x="2011680" y="1920240"/>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00" name="Google Shape;200;p4"/>
          <p:cNvSpPr txBox="1"/>
          <p:nvPr/>
        </p:nvSpPr>
        <p:spPr>
          <a:xfrm>
            <a:off x="2697480" y="1828800"/>
            <a:ext cx="283464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350"/>
              <a:buFont typeface="Arial"/>
              <a:buNone/>
            </a:pPr>
            <a:r>
              <a:rPr b="1" lang="en-US" sz="1350">
                <a:solidFill>
                  <a:srgbClr val="F3E7E4"/>
                </a:solidFill>
                <a:latin typeface="Arial"/>
                <a:ea typeface="Arial"/>
                <a:cs typeface="Arial"/>
                <a:sym typeface="Arial"/>
              </a:rPr>
              <a:t>Open-Meteo Weather</a:t>
            </a:r>
            <a:endParaRPr sz="1350">
              <a:solidFill>
                <a:schemeClr val="dk1"/>
              </a:solidFill>
              <a:latin typeface="Calibri"/>
              <a:ea typeface="Calibri"/>
              <a:cs typeface="Calibri"/>
              <a:sym typeface="Calibri"/>
            </a:endParaRPr>
          </a:p>
        </p:txBody>
      </p:sp>
      <p:cxnSp>
        <p:nvCxnSpPr>
          <p:cNvPr id="201" name="Google Shape;201;p4"/>
          <p:cNvCxnSpPr/>
          <p:nvPr/>
        </p:nvCxnSpPr>
        <p:spPr>
          <a:xfrm>
            <a:off x="5669280" y="1883664"/>
            <a:ext cx="0" cy="566928"/>
          </a:xfrm>
          <a:prstGeom prst="straightConnector1">
            <a:avLst/>
          </a:prstGeom>
          <a:noFill/>
          <a:ln cap="flat" cmpd="sng" w="12700">
            <a:solidFill>
              <a:srgbClr val="45201D"/>
            </a:solidFill>
            <a:prstDash val="solid"/>
            <a:round/>
            <a:headEnd len="sm" w="sm" type="none"/>
            <a:tailEnd len="sm" w="sm" type="none"/>
          </a:ln>
        </p:spPr>
      </p:cxnSp>
      <p:sp>
        <p:nvSpPr>
          <p:cNvPr id="202" name="Google Shape;202;p4"/>
          <p:cNvSpPr txBox="1"/>
          <p:nvPr/>
        </p:nvSpPr>
        <p:spPr>
          <a:xfrm>
            <a:off x="5897880" y="1828800"/>
            <a:ext cx="5653735"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200"/>
              <a:buFont typeface="Calibri"/>
              <a:buNone/>
            </a:pPr>
            <a:r>
              <a:rPr lang="en-US" sz="1200">
                <a:solidFill>
                  <a:srgbClr val="C7A19C"/>
                </a:solidFill>
                <a:latin typeface="Calibri"/>
                <a:ea typeface="Calibri"/>
                <a:cs typeface="Calibri"/>
                <a:sym typeface="Calibri"/>
              </a:rPr>
              <a:t>1h / 24h / 72h rainfall, 24h forecast, temperature, humidity, wind, and volumetric soil moisture (9–27 cm).</a:t>
            </a:r>
            <a:endParaRPr sz="1200">
              <a:solidFill>
                <a:schemeClr val="dk1"/>
              </a:solidFill>
              <a:latin typeface="Calibri"/>
              <a:ea typeface="Calibri"/>
              <a:cs typeface="Calibri"/>
              <a:sym typeface="Calibri"/>
            </a:endParaRPr>
          </a:p>
        </p:txBody>
      </p:sp>
      <p:sp>
        <p:nvSpPr>
          <p:cNvPr id="203" name="Google Shape;203;p4"/>
          <p:cNvSpPr/>
          <p:nvPr/>
        </p:nvSpPr>
        <p:spPr>
          <a:xfrm>
            <a:off x="1234440" y="2688336"/>
            <a:ext cx="10454335" cy="859536"/>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4" name="Google Shape;204;p4"/>
          <p:cNvCxnSpPr/>
          <p:nvPr/>
        </p:nvCxnSpPr>
        <p:spPr>
          <a:xfrm>
            <a:off x="1234440" y="2688336"/>
            <a:ext cx="128016" cy="0"/>
          </a:xfrm>
          <a:prstGeom prst="straightConnector1">
            <a:avLst/>
          </a:prstGeom>
          <a:noFill/>
          <a:ln cap="flat" cmpd="sng" w="19050">
            <a:solidFill>
              <a:srgbClr val="C4841F"/>
            </a:solidFill>
            <a:prstDash val="solid"/>
            <a:round/>
            <a:headEnd len="sm" w="sm" type="none"/>
            <a:tailEnd len="sm" w="sm" type="none"/>
          </a:ln>
        </p:spPr>
      </p:cxnSp>
      <p:cxnSp>
        <p:nvCxnSpPr>
          <p:cNvPr id="205" name="Google Shape;205;p4"/>
          <p:cNvCxnSpPr/>
          <p:nvPr/>
        </p:nvCxnSpPr>
        <p:spPr>
          <a:xfrm>
            <a:off x="1234440" y="2688336"/>
            <a:ext cx="0" cy="128016"/>
          </a:xfrm>
          <a:prstGeom prst="straightConnector1">
            <a:avLst/>
          </a:prstGeom>
          <a:noFill/>
          <a:ln cap="flat" cmpd="sng" w="19050">
            <a:solidFill>
              <a:srgbClr val="C4841F"/>
            </a:solidFill>
            <a:prstDash val="solid"/>
            <a:round/>
            <a:headEnd len="sm" w="sm" type="none"/>
            <a:tailEnd len="sm" w="sm" type="none"/>
          </a:ln>
        </p:spPr>
      </p:cxnSp>
      <p:cxnSp>
        <p:nvCxnSpPr>
          <p:cNvPr id="206" name="Google Shape;206;p4"/>
          <p:cNvCxnSpPr/>
          <p:nvPr/>
        </p:nvCxnSpPr>
        <p:spPr>
          <a:xfrm>
            <a:off x="11560759" y="3547872"/>
            <a:ext cx="128016" cy="0"/>
          </a:xfrm>
          <a:prstGeom prst="straightConnector1">
            <a:avLst/>
          </a:prstGeom>
          <a:noFill/>
          <a:ln cap="flat" cmpd="sng" w="19050">
            <a:solidFill>
              <a:srgbClr val="C4841F"/>
            </a:solidFill>
            <a:prstDash val="solid"/>
            <a:round/>
            <a:headEnd len="sm" w="sm" type="none"/>
            <a:tailEnd len="sm" w="sm" type="none"/>
          </a:ln>
        </p:spPr>
      </p:cxnSp>
      <p:cxnSp>
        <p:nvCxnSpPr>
          <p:cNvPr id="207" name="Google Shape;207;p4"/>
          <p:cNvCxnSpPr/>
          <p:nvPr/>
        </p:nvCxnSpPr>
        <p:spPr>
          <a:xfrm>
            <a:off x="11688775" y="3419856"/>
            <a:ext cx="0" cy="128016"/>
          </a:xfrm>
          <a:prstGeom prst="straightConnector1">
            <a:avLst/>
          </a:prstGeom>
          <a:noFill/>
          <a:ln cap="flat" cmpd="sng" w="19050">
            <a:solidFill>
              <a:srgbClr val="C4841F"/>
            </a:solidFill>
            <a:prstDash val="solid"/>
            <a:round/>
            <a:headEnd len="sm" w="sm" type="none"/>
            <a:tailEnd len="sm" w="sm" type="none"/>
          </a:ln>
        </p:spPr>
      </p:cxnSp>
      <p:sp>
        <p:nvSpPr>
          <p:cNvPr id="208" name="Google Shape;208;p4"/>
          <p:cNvSpPr txBox="1"/>
          <p:nvPr/>
        </p:nvSpPr>
        <p:spPr>
          <a:xfrm>
            <a:off x="1371600" y="2688336"/>
            <a:ext cx="548640" cy="8595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5201D"/>
              </a:buClr>
              <a:buSzPts val="1300"/>
              <a:buFont typeface="Courier New"/>
              <a:buNone/>
            </a:pPr>
            <a:r>
              <a:rPr b="1" lang="en-US" sz="1300">
                <a:solidFill>
                  <a:srgbClr val="45201D"/>
                </a:solidFill>
                <a:latin typeface="Courier New"/>
                <a:ea typeface="Courier New"/>
                <a:cs typeface="Courier New"/>
                <a:sym typeface="Courier New"/>
              </a:rPr>
              <a:t>02</a:t>
            </a:r>
            <a:endParaRPr sz="1300">
              <a:solidFill>
                <a:schemeClr val="dk1"/>
              </a:solidFill>
              <a:latin typeface="Calibri"/>
              <a:ea typeface="Calibri"/>
              <a:cs typeface="Calibri"/>
              <a:sym typeface="Calibri"/>
            </a:endParaRPr>
          </a:p>
        </p:txBody>
      </p:sp>
      <p:sp>
        <p:nvSpPr>
          <p:cNvPr id="209" name="Google Shape;209;p4"/>
          <p:cNvSpPr/>
          <p:nvPr/>
        </p:nvSpPr>
        <p:spPr>
          <a:xfrm>
            <a:off x="2011680" y="2871216"/>
            <a:ext cx="493776" cy="493776"/>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
          <p:cNvSpPr txBox="1"/>
          <p:nvPr/>
        </p:nvSpPr>
        <p:spPr>
          <a:xfrm>
            <a:off x="2011680" y="2871216"/>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11" name="Google Shape;211;p4"/>
          <p:cNvSpPr txBox="1"/>
          <p:nvPr/>
        </p:nvSpPr>
        <p:spPr>
          <a:xfrm>
            <a:off x="2697480" y="2779776"/>
            <a:ext cx="283464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350"/>
              <a:buFont typeface="Arial"/>
              <a:buNone/>
            </a:pPr>
            <a:r>
              <a:rPr b="1" lang="en-US" sz="1350">
                <a:solidFill>
                  <a:srgbClr val="F3E7E4"/>
                </a:solidFill>
                <a:latin typeface="Arial"/>
                <a:ea typeface="Arial"/>
                <a:cs typeface="Arial"/>
                <a:sym typeface="Arial"/>
              </a:rPr>
              <a:t>GloFAS Hydrology (Copernicus)</a:t>
            </a:r>
            <a:endParaRPr sz="1350">
              <a:solidFill>
                <a:schemeClr val="dk1"/>
              </a:solidFill>
              <a:latin typeface="Calibri"/>
              <a:ea typeface="Calibri"/>
              <a:cs typeface="Calibri"/>
              <a:sym typeface="Calibri"/>
            </a:endParaRPr>
          </a:p>
        </p:txBody>
      </p:sp>
      <p:cxnSp>
        <p:nvCxnSpPr>
          <p:cNvPr id="212" name="Google Shape;212;p4"/>
          <p:cNvCxnSpPr/>
          <p:nvPr/>
        </p:nvCxnSpPr>
        <p:spPr>
          <a:xfrm>
            <a:off x="5669280" y="2834640"/>
            <a:ext cx="0" cy="566928"/>
          </a:xfrm>
          <a:prstGeom prst="straightConnector1">
            <a:avLst/>
          </a:prstGeom>
          <a:noFill/>
          <a:ln cap="flat" cmpd="sng" w="12700">
            <a:solidFill>
              <a:srgbClr val="45201D"/>
            </a:solidFill>
            <a:prstDash val="solid"/>
            <a:round/>
            <a:headEnd len="sm" w="sm" type="none"/>
            <a:tailEnd len="sm" w="sm" type="none"/>
          </a:ln>
        </p:spPr>
      </p:cxnSp>
      <p:sp>
        <p:nvSpPr>
          <p:cNvPr id="213" name="Google Shape;213;p4"/>
          <p:cNvSpPr txBox="1"/>
          <p:nvPr/>
        </p:nvSpPr>
        <p:spPr>
          <a:xfrm>
            <a:off x="5897880" y="2779776"/>
            <a:ext cx="5653735"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200"/>
              <a:buFont typeface="Calibri"/>
              <a:buNone/>
            </a:pPr>
            <a:r>
              <a:rPr lang="en-US" sz="1200">
                <a:solidFill>
                  <a:srgbClr val="C7A19C"/>
                </a:solidFill>
                <a:latin typeface="Calibri"/>
                <a:ea typeface="Calibri"/>
                <a:cs typeface="Calibri"/>
                <a:sym typeface="Calibri"/>
              </a:rPr>
              <a:t>River discharge (m³/s) evaluated against a trailing 14-day rolling baseline for surge anomalies.</a:t>
            </a:r>
            <a:endParaRPr sz="1200">
              <a:solidFill>
                <a:schemeClr val="dk1"/>
              </a:solidFill>
              <a:latin typeface="Calibri"/>
              <a:ea typeface="Calibri"/>
              <a:cs typeface="Calibri"/>
              <a:sym typeface="Calibri"/>
            </a:endParaRPr>
          </a:p>
        </p:txBody>
      </p:sp>
      <p:sp>
        <p:nvSpPr>
          <p:cNvPr id="214" name="Google Shape;214;p4"/>
          <p:cNvSpPr/>
          <p:nvPr/>
        </p:nvSpPr>
        <p:spPr>
          <a:xfrm>
            <a:off x="1234440" y="3639312"/>
            <a:ext cx="10454335" cy="859536"/>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 name="Google Shape;215;p4"/>
          <p:cNvCxnSpPr/>
          <p:nvPr/>
        </p:nvCxnSpPr>
        <p:spPr>
          <a:xfrm>
            <a:off x="1234440" y="3639312"/>
            <a:ext cx="128016" cy="0"/>
          </a:xfrm>
          <a:prstGeom prst="straightConnector1">
            <a:avLst/>
          </a:prstGeom>
          <a:noFill/>
          <a:ln cap="flat" cmpd="sng" w="19050">
            <a:solidFill>
              <a:srgbClr val="5C1414"/>
            </a:solidFill>
            <a:prstDash val="solid"/>
            <a:round/>
            <a:headEnd len="sm" w="sm" type="none"/>
            <a:tailEnd len="sm" w="sm" type="none"/>
          </a:ln>
        </p:spPr>
      </p:cxnSp>
      <p:cxnSp>
        <p:nvCxnSpPr>
          <p:cNvPr id="216" name="Google Shape;216;p4"/>
          <p:cNvCxnSpPr/>
          <p:nvPr/>
        </p:nvCxnSpPr>
        <p:spPr>
          <a:xfrm>
            <a:off x="1234440" y="3639312"/>
            <a:ext cx="0" cy="128016"/>
          </a:xfrm>
          <a:prstGeom prst="straightConnector1">
            <a:avLst/>
          </a:prstGeom>
          <a:noFill/>
          <a:ln cap="flat" cmpd="sng" w="19050">
            <a:solidFill>
              <a:srgbClr val="5C1414"/>
            </a:solidFill>
            <a:prstDash val="solid"/>
            <a:round/>
            <a:headEnd len="sm" w="sm" type="none"/>
            <a:tailEnd len="sm" w="sm" type="none"/>
          </a:ln>
        </p:spPr>
      </p:cxnSp>
      <p:cxnSp>
        <p:nvCxnSpPr>
          <p:cNvPr id="217" name="Google Shape;217;p4"/>
          <p:cNvCxnSpPr/>
          <p:nvPr/>
        </p:nvCxnSpPr>
        <p:spPr>
          <a:xfrm>
            <a:off x="11560759" y="4498848"/>
            <a:ext cx="128016" cy="0"/>
          </a:xfrm>
          <a:prstGeom prst="straightConnector1">
            <a:avLst/>
          </a:prstGeom>
          <a:noFill/>
          <a:ln cap="flat" cmpd="sng" w="19050">
            <a:solidFill>
              <a:srgbClr val="5C1414"/>
            </a:solidFill>
            <a:prstDash val="solid"/>
            <a:round/>
            <a:headEnd len="sm" w="sm" type="none"/>
            <a:tailEnd len="sm" w="sm" type="none"/>
          </a:ln>
        </p:spPr>
      </p:cxnSp>
      <p:cxnSp>
        <p:nvCxnSpPr>
          <p:cNvPr id="218" name="Google Shape;218;p4"/>
          <p:cNvCxnSpPr/>
          <p:nvPr/>
        </p:nvCxnSpPr>
        <p:spPr>
          <a:xfrm>
            <a:off x="11688775" y="4370832"/>
            <a:ext cx="0" cy="128016"/>
          </a:xfrm>
          <a:prstGeom prst="straightConnector1">
            <a:avLst/>
          </a:prstGeom>
          <a:noFill/>
          <a:ln cap="flat" cmpd="sng" w="19050">
            <a:solidFill>
              <a:srgbClr val="5C1414"/>
            </a:solidFill>
            <a:prstDash val="solid"/>
            <a:round/>
            <a:headEnd len="sm" w="sm" type="none"/>
            <a:tailEnd len="sm" w="sm" type="none"/>
          </a:ln>
        </p:spPr>
      </p:cxnSp>
      <p:sp>
        <p:nvSpPr>
          <p:cNvPr id="219" name="Google Shape;219;p4"/>
          <p:cNvSpPr txBox="1"/>
          <p:nvPr/>
        </p:nvSpPr>
        <p:spPr>
          <a:xfrm>
            <a:off x="1371600" y="3639312"/>
            <a:ext cx="548640" cy="8595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5201D"/>
              </a:buClr>
              <a:buSzPts val="1300"/>
              <a:buFont typeface="Courier New"/>
              <a:buNone/>
            </a:pPr>
            <a:r>
              <a:rPr b="1" lang="en-US" sz="1300">
                <a:solidFill>
                  <a:srgbClr val="45201D"/>
                </a:solidFill>
                <a:latin typeface="Courier New"/>
                <a:ea typeface="Courier New"/>
                <a:cs typeface="Courier New"/>
                <a:sym typeface="Courier New"/>
              </a:rPr>
              <a:t>03</a:t>
            </a:r>
            <a:endParaRPr sz="1300">
              <a:solidFill>
                <a:schemeClr val="dk1"/>
              </a:solidFill>
              <a:latin typeface="Calibri"/>
              <a:ea typeface="Calibri"/>
              <a:cs typeface="Calibri"/>
              <a:sym typeface="Calibri"/>
            </a:endParaRPr>
          </a:p>
        </p:txBody>
      </p:sp>
      <p:sp>
        <p:nvSpPr>
          <p:cNvPr id="220" name="Google Shape;220;p4"/>
          <p:cNvSpPr/>
          <p:nvPr/>
        </p:nvSpPr>
        <p:spPr>
          <a:xfrm>
            <a:off x="2011680" y="3822192"/>
            <a:ext cx="493776" cy="493776"/>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
          <p:cNvSpPr txBox="1"/>
          <p:nvPr/>
        </p:nvSpPr>
        <p:spPr>
          <a:xfrm>
            <a:off x="2011680" y="3822192"/>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22" name="Google Shape;222;p4"/>
          <p:cNvSpPr txBox="1"/>
          <p:nvPr/>
        </p:nvSpPr>
        <p:spPr>
          <a:xfrm>
            <a:off x="2697480" y="3730752"/>
            <a:ext cx="283464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350"/>
              <a:buFont typeface="Arial"/>
              <a:buNone/>
            </a:pPr>
            <a:r>
              <a:rPr b="1" lang="en-US" sz="1350">
                <a:solidFill>
                  <a:srgbClr val="F3E7E4"/>
                </a:solidFill>
                <a:latin typeface="Arial"/>
                <a:ea typeface="Arial"/>
                <a:cs typeface="Arial"/>
                <a:sym typeface="Arial"/>
              </a:rPr>
              <a:t>NASA FIRMS (NOAA-20 VIIRS)</a:t>
            </a:r>
            <a:endParaRPr sz="1350">
              <a:solidFill>
                <a:schemeClr val="dk1"/>
              </a:solidFill>
              <a:latin typeface="Calibri"/>
              <a:ea typeface="Calibri"/>
              <a:cs typeface="Calibri"/>
              <a:sym typeface="Calibri"/>
            </a:endParaRPr>
          </a:p>
        </p:txBody>
      </p:sp>
      <p:cxnSp>
        <p:nvCxnSpPr>
          <p:cNvPr id="223" name="Google Shape;223;p4"/>
          <p:cNvCxnSpPr/>
          <p:nvPr/>
        </p:nvCxnSpPr>
        <p:spPr>
          <a:xfrm>
            <a:off x="5669280" y="3785616"/>
            <a:ext cx="0" cy="566928"/>
          </a:xfrm>
          <a:prstGeom prst="straightConnector1">
            <a:avLst/>
          </a:prstGeom>
          <a:noFill/>
          <a:ln cap="flat" cmpd="sng" w="12700">
            <a:solidFill>
              <a:srgbClr val="45201D"/>
            </a:solidFill>
            <a:prstDash val="solid"/>
            <a:round/>
            <a:headEnd len="sm" w="sm" type="none"/>
            <a:tailEnd len="sm" w="sm" type="none"/>
          </a:ln>
        </p:spPr>
      </p:cxnSp>
      <p:sp>
        <p:nvSpPr>
          <p:cNvPr id="224" name="Google Shape;224;p4"/>
          <p:cNvSpPr txBox="1"/>
          <p:nvPr/>
        </p:nvSpPr>
        <p:spPr>
          <a:xfrm>
            <a:off x="5897880" y="3730752"/>
            <a:ext cx="5653735"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200"/>
              <a:buFont typeface="Calibri"/>
              <a:buNone/>
            </a:pPr>
            <a:r>
              <a:rPr lang="en-US" sz="1200">
                <a:solidFill>
                  <a:srgbClr val="C7A19C"/>
                </a:solidFill>
                <a:latin typeface="Calibri"/>
                <a:ea typeface="Calibri"/>
                <a:cs typeface="Calibri"/>
                <a:sym typeface="Calibri"/>
              </a:rPr>
              <a:t>Near-real-time satellite thermal anomaly detections with Kelvin brightness temperatures.</a:t>
            </a:r>
            <a:endParaRPr sz="1200">
              <a:solidFill>
                <a:schemeClr val="dk1"/>
              </a:solidFill>
              <a:latin typeface="Calibri"/>
              <a:ea typeface="Calibri"/>
              <a:cs typeface="Calibri"/>
              <a:sym typeface="Calibri"/>
            </a:endParaRPr>
          </a:p>
        </p:txBody>
      </p:sp>
      <p:sp>
        <p:nvSpPr>
          <p:cNvPr id="225" name="Google Shape;225;p4"/>
          <p:cNvSpPr/>
          <p:nvPr/>
        </p:nvSpPr>
        <p:spPr>
          <a:xfrm>
            <a:off x="1234440" y="4590288"/>
            <a:ext cx="10454335" cy="859536"/>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6" name="Google Shape;226;p4"/>
          <p:cNvCxnSpPr/>
          <p:nvPr/>
        </p:nvCxnSpPr>
        <p:spPr>
          <a:xfrm>
            <a:off x="1234440" y="4590288"/>
            <a:ext cx="128016" cy="0"/>
          </a:xfrm>
          <a:prstGeom prst="straightConnector1">
            <a:avLst/>
          </a:prstGeom>
          <a:noFill/>
          <a:ln cap="flat" cmpd="sng" w="19050">
            <a:solidFill>
              <a:srgbClr val="D14A2E"/>
            </a:solidFill>
            <a:prstDash val="solid"/>
            <a:round/>
            <a:headEnd len="sm" w="sm" type="none"/>
            <a:tailEnd len="sm" w="sm" type="none"/>
          </a:ln>
        </p:spPr>
      </p:cxnSp>
      <p:cxnSp>
        <p:nvCxnSpPr>
          <p:cNvPr id="227" name="Google Shape;227;p4"/>
          <p:cNvCxnSpPr/>
          <p:nvPr/>
        </p:nvCxnSpPr>
        <p:spPr>
          <a:xfrm>
            <a:off x="1234440" y="4590288"/>
            <a:ext cx="0" cy="128016"/>
          </a:xfrm>
          <a:prstGeom prst="straightConnector1">
            <a:avLst/>
          </a:prstGeom>
          <a:noFill/>
          <a:ln cap="flat" cmpd="sng" w="19050">
            <a:solidFill>
              <a:srgbClr val="D14A2E"/>
            </a:solidFill>
            <a:prstDash val="solid"/>
            <a:round/>
            <a:headEnd len="sm" w="sm" type="none"/>
            <a:tailEnd len="sm" w="sm" type="none"/>
          </a:ln>
        </p:spPr>
      </p:cxnSp>
      <p:cxnSp>
        <p:nvCxnSpPr>
          <p:cNvPr id="228" name="Google Shape;228;p4"/>
          <p:cNvCxnSpPr/>
          <p:nvPr/>
        </p:nvCxnSpPr>
        <p:spPr>
          <a:xfrm>
            <a:off x="11560759" y="5449824"/>
            <a:ext cx="128016" cy="0"/>
          </a:xfrm>
          <a:prstGeom prst="straightConnector1">
            <a:avLst/>
          </a:prstGeom>
          <a:noFill/>
          <a:ln cap="flat" cmpd="sng" w="19050">
            <a:solidFill>
              <a:srgbClr val="D14A2E"/>
            </a:solidFill>
            <a:prstDash val="solid"/>
            <a:round/>
            <a:headEnd len="sm" w="sm" type="none"/>
            <a:tailEnd len="sm" w="sm" type="none"/>
          </a:ln>
        </p:spPr>
      </p:cxnSp>
      <p:cxnSp>
        <p:nvCxnSpPr>
          <p:cNvPr id="229" name="Google Shape;229;p4"/>
          <p:cNvCxnSpPr/>
          <p:nvPr/>
        </p:nvCxnSpPr>
        <p:spPr>
          <a:xfrm>
            <a:off x="11688775" y="5321808"/>
            <a:ext cx="0" cy="128016"/>
          </a:xfrm>
          <a:prstGeom prst="straightConnector1">
            <a:avLst/>
          </a:prstGeom>
          <a:noFill/>
          <a:ln cap="flat" cmpd="sng" w="19050">
            <a:solidFill>
              <a:srgbClr val="D14A2E"/>
            </a:solidFill>
            <a:prstDash val="solid"/>
            <a:round/>
            <a:headEnd len="sm" w="sm" type="none"/>
            <a:tailEnd len="sm" w="sm" type="none"/>
          </a:ln>
        </p:spPr>
      </p:cxnSp>
      <p:sp>
        <p:nvSpPr>
          <p:cNvPr id="230" name="Google Shape;230;p4"/>
          <p:cNvSpPr txBox="1"/>
          <p:nvPr/>
        </p:nvSpPr>
        <p:spPr>
          <a:xfrm>
            <a:off x="1371600" y="4590288"/>
            <a:ext cx="548640" cy="8595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5201D"/>
              </a:buClr>
              <a:buSzPts val="1300"/>
              <a:buFont typeface="Courier New"/>
              <a:buNone/>
            </a:pPr>
            <a:r>
              <a:rPr b="1" lang="en-US" sz="1300">
                <a:solidFill>
                  <a:srgbClr val="45201D"/>
                </a:solidFill>
                <a:latin typeface="Courier New"/>
                <a:ea typeface="Courier New"/>
                <a:cs typeface="Courier New"/>
                <a:sym typeface="Courier New"/>
              </a:rPr>
              <a:t>04</a:t>
            </a:r>
            <a:endParaRPr sz="1300">
              <a:solidFill>
                <a:schemeClr val="dk1"/>
              </a:solidFill>
              <a:latin typeface="Calibri"/>
              <a:ea typeface="Calibri"/>
              <a:cs typeface="Calibri"/>
              <a:sym typeface="Calibri"/>
            </a:endParaRPr>
          </a:p>
        </p:txBody>
      </p:sp>
      <p:sp>
        <p:nvSpPr>
          <p:cNvPr id="231" name="Google Shape;231;p4"/>
          <p:cNvSpPr/>
          <p:nvPr/>
        </p:nvSpPr>
        <p:spPr>
          <a:xfrm>
            <a:off x="2011680" y="4773168"/>
            <a:ext cx="493776" cy="493776"/>
          </a:xfrm>
          <a:prstGeom prst="rect">
            <a:avLst/>
          </a:prstGeom>
          <a:solidFill>
            <a:srgbClr val="D14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
          <p:cNvSpPr txBox="1"/>
          <p:nvPr/>
        </p:nvSpPr>
        <p:spPr>
          <a:xfrm>
            <a:off x="2011680" y="4773168"/>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33" name="Google Shape;233;p4"/>
          <p:cNvSpPr txBox="1"/>
          <p:nvPr/>
        </p:nvSpPr>
        <p:spPr>
          <a:xfrm>
            <a:off x="2697480" y="4681728"/>
            <a:ext cx="283464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350"/>
              <a:buFont typeface="Arial"/>
              <a:buNone/>
            </a:pPr>
            <a:r>
              <a:rPr b="1" lang="en-US" sz="1350">
                <a:solidFill>
                  <a:srgbClr val="F3E7E4"/>
                </a:solidFill>
                <a:latin typeface="Arial"/>
                <a:ea typeface="Arial"/>
                <a:cs typeface="Arial"/>
                <a:sym typeface="Arial"/>
              </a:rPr>
              <a:t>Copernicus GLO-90 DEM</a:t>
            </a:r>
            <a:endParaRPr sz="1350">
              <a:solidFill>
                <a:schemeClr val="dk1"/>
              </a:solidFill>
              <a:latin typeface="Calibri"/>
              <a:ea typeface="Calibri"/>
              <a:cs typeface="Calibri"/>
              <a:sym typeface="Calibri"/>
            </a:endParaRPr>
          </a:p>
        </p:txBody>
      </p:sp>
      <p:cxnSp>
        <p:nvCxnSpPr>
          <p:cNvPr id="234" name="Google Shape;234;p4"/>
          <p:cNvCxnSpPr/>
          <p:nvPr/>
        </p:nvCxnSpPr>
        <p:spPr>
          <a:xfrm>
            <a:off x="5669280" y="4736592"/>
            <a:ext cx="0" cy="566928"/>
          </a:xfrm>
          <a:prstGeom prst="straightConnector1">
            <a:avLst/>
          </a:prstGeom>
          <a:noFill/>
          <a:ln cap="flat" cmpd="sng" w="12700">
            <a:solidFill>
              <a:srgbClr val="45201D"/>
            </a:solidFill>
            <a:prstDash val="solid"/>
            <a:round/>
            <a:headEnd len="sm" w="sm" type="none"/>
            <a:tailEnd len="sm" w="sm" type="none"/>
          </a:ln>
        </p:spPr>
      </p:cxnSp>
      <p:sp>
        <p:nvSpPr>
          <p:cNvPr id="235" name="Google Shape;235;p4"/>
          <p:cNvSpPr txBox="1"/>
          <p:nvPr/>
        </p:nvSpPr>
        <p:spPr>
          <a:xfrm>
            <a:off x="5897880" y="4681728"/>
            <a:ext cx="5653735"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200"/>
              <a:buFont typeface="Calibri"/>
              <a:buNone/>
            </a:pPr>
            <a:r>
              <a:rPr lang="en-US" sz="1200">
                <a:solidFill>
                  <a:srgbClr val="C7A19C"/>
                </a:solidFill>
                <a:latin typeface="Calibri"/>
                <a:ea typeface="Calibri"/>
                <a:cs typeface="Calibri"/>
                <a:sym typeface="Calibri"/>
              </a:rPr>
              <a:t>90 m Digital Elevation Model sampling 5 coordinate vectors to compute hillside slope gradients.</a:t>
            </a:r>
            <a:endParaRPr sz="1200">
              <a:solidFill>
                <a:schemeClr val="dk1"/>
              </a:solidFill>
              <a:latin typeface="Calibri"/>
              <a:ea typeface="Calibri"/>
              <a:cs typeface="Calibri"/>
              <a:sym typeface="Calibri"/>
            </a:endParaRPr>
          </a:p>
        </p:txBody>
      </p:sp>
      <p:sp>
        <p:nvSpPr>
          <p:cNvPr id="236" name="Google Shape;236;p4"/>
          <p:cNvSpPr/>
          <p:nvPr/>
        </p:nvSpPr>
        <p:spPr>
          <a:xfrm>
            <a:off x="1234440" y="5541264"/>
            <a:ext cx="10454335" cy="859536"/>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7" name="Google Shape;237;p4"/>
          <p:cNvCxnSpPr/>
          <p:nvPr/>
        </p:nvCxnSpPr>
        <p:spPr>
          <a:xfrm>
            <a:off x="1234440" y="5541264"/>
            <a:ext cx="128016" cy="0"/>
          </a:xfrm>
          <a:prstGeom prst="straightConnector1">
            <a:avLst/>
          </a:prstGeom>
          <a:noFill/>
          <a:ln cap="flat" cmpd="sng" w="19050">
            <a:solidFill>
              <a:srgbClr val="B3271D"/>
            </a:solidFill>
            <a:prstDash val="solid"/>
            <a:round/>
            <a:headEnd len="sm" w="sm" type="none"/>
            <a:tailEnd len="sm" w="sm" type="none"/>
          </a:ln>
        </p:spPr>
      </p:cxnSp>
      <p:cxnSp>
        <p:nvCxnSpPr>
          <p:cNvPr id="238" name="Google Shape;238;p4"/>
          <p:cNvCxnSpPr/>
          <p:nvPr/>
        </p:nvCxnSpPr>
        <p:spPr>
          <a:xfrm>
            <a:off x="1234440" y="5541264"/>
            <a:ext cx="0" cy="128016"/>
          </a:xfrm>
          <a:prstGeom prst="straightConnector1">
            <a:avLst/>
          </a:prstGeom>
          <a:noFill/>
          <a:ln cap="flat" cmpd="sng" w="19050">
            <a:solidFill>
              <a:srgbClr val="B3271D"/>
            </a:solidFill>
            <a:prstDash val="solid"/>
            <a:round/>
            <a:headEnd len="sm" w="sm" type="none"/>
            <a:tailEnd len="sm" w="sm" type="none"/>
          </a:ln>
        </p:spPr>
      </p:cxnSp>
      <p:cxnSp>
        <p:nvCxnSpPr>
          <p:cNvPr id="239" name="Google Shape;239;p4"/>
          <p:cNvCxnSpPr/>
          <p:nvPr/>
        </p:nvCxnSpPr>
        <p:spPr>
          <a:xfrm>
            <a:off x="11560759" y="6400800"/>
            <a:ext cx="128016" cy="0"/>
          </a:xfrm>
          <a:prstGeom prst="straightConnector1">
            <a:avLst/>
          </a:prstGeom>
          <a:noFill/>
          <a:ln cap="flat" cmpd="sng" w="19050">
            <a:solidFill>
              <a:srgbClr val="B3271D"/>
            </a:solidFill>
            <a:prstDash val="solid"/>
            <a:round/>
            <a:headEnd len="sm" w="sm" type="none"/>
            <a:tailEnd len="sm" w="sm" type="none"/>
          </a:ln>
        </p:spPr>
      </p:cxnSp>
      <p:cxnSp>
        <p:nvCxnSpPr>
          <p:cNvPr id="240" name="Google Shape;240;p4"/>
          <p:cNvCxnSpPr/>
          <p:nvPr/>
        </p:nvCxnSpPr>
        <p:spPr>
          <a:xfrm>
            <a:off x="11688775" y="6272784"/>
            <a:ext cx="0" cy="128016"/>
          </a:xfrm>
          <a:prstGeom prst="straightConnector1">
            <a:avLst/>
          </a:prstGeom>
          <a:noFill/>
          <a:ln cap="flat" cmpd="sng" w="19050">
            <a:solidFill>
              <a:srgbClr val="B3271D"/>
            </a:solidFill>
            <a:prstDash val="solid"/>
            <a:round/>
            <a:headEnd len="sm" w="sm" type="none"/>
            <a:tailEnd len="sm" w="sm" type="none"/>
          </a:ln>
        </p:spPr>
      </p:cxnSp>
      <p:sp>
        <p:nvSpPr>
          <p:cNvPr id="241" name="Google Shape;241;p4"/>
          <p:cNvSpPr txBox="1"/>
          <p:nvPr/>
        </p:nvSpPr>
        <p:spPr>
          <a:xfrm>
            <a:off x="1371600" y="5541264"/>
            <a:ext cx="548640" cy="8595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5201D"/>
              </a:buClr>
              <a:buSzPts val="1300"/>
              <a:buFont typeface="Courier New"/>
              <a:buNone/>
            </a:pPr>
            <a:r>
              <a:rPr b="1" lang="en-US" sz="1300">
                <a:solidFill>
                  <a:srgbClr val="45201D"/>
                </a:solidFill>
                <a:latin typeface="Courier New"/>
                <a:ea typeface="Courier New"/>
                <a:cs typeface="Courier New"/>
                <a:sym typeface="Courier New"/>
              </a:rPr>
              <a:t>05</a:t>
            </a:r>
            <a:endParaRPr sz="1300">
              <a:solidFill>
                <a:schemeClr val="dk1"/>
              </a:solidFill>
              <a:latin typeface="Calibri"/>
              <a:ea typeface="Calibri"/>
              <a:cs typeface="Calibri"/>
              <a:sym typeface="Calibri"/>
            </a:endParaRPr>
          </a:p>
        </p:txBody>
      </p:sp>
      <p:sp>
        <p:nvSpPr>
          <p:cNvPr id="242" name="Google Shape;242;p4"/>
          <p:cNvSpPr/>
          <p:nvPr/>
        </p:nvSpPr>
        <p:spPr>
          <a:xfrm>
            <a:off x="2011680" y="5724144"/>
            <a:ext cx="493776" cy="493776"/>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
          <p:cNvSpPr txBox="1"/>
          <p:nvPr/>
        </p:nvSpPr>
        <p:spPr>
          <a:xfrm>
            <a:off x="2011680" y="5724144"/>
            <a:ext cx="493776"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244" name="Google Shape;244;p4"/>
          <p:cNvSpPr txBox="1"/>
          <p:nvPr/>
        </p:nvSpPr>
        <p:spPr>
          <a:xfrm>
            <a:off x="2697480" y="5632704"/>
            <a:ext cx="283464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350"/>
              <a:buFont typeface="Arial"/>
              <a:buNone/>
            </a:pPr>
            <a:r>
              <a:rPr b="1" lang="en-US" sz="1350">
                <a:solidFill>
                  <a:srgbClr val="F3E7E4"/>
                </a:solidFill>
                <a:latin typeface="Arial"/>
                <a:ea typeface="Arial"/>
                <a:cs typeface="Arial"/>
                <a:sym typeface="Arial"/>
              </a:rPr>
              <a:t>Copernicus CAMS</a:t>
            </a:r>
            <a:endParaRPr sz="1350">
              <a:solidFill>
                <a:schemeClr val="dk1"/>
              </a:solidFill>
              <a:latin typeface="Calibri"/>
              <a:ea typeface="Calibri"/>
              <a:cs typeface="Calibri"/>
              <a:sym typeface="Calibri"/>
            </a:endParaRPr>
          </a:p>
        </p:txBody>
      </p:sp>
      <p:cxnSp>
        <p:nvCxnSpPr>
          <p:cNvPr id="245" name="Google Shape;245;p4"/>
          <p:cNvCxnSpPr/>
          <p:nvPr/>
        </p:nvCxnSpPr>
        <p:spPr>
          <a:xfrm>
            <a:off x="5669280" y="5687568"/>
            <a:ext cx="0" cy="566928"/>
          </a:xfrm>
          <a:prstGeom prst="straightConnector1">
            <a:avLst/>
          </a:prstGeom>
          <a:noFill/>
          <a:ln cap="flat" cmpd="sng" w="12700">
            <a:solidFill>
              <a:srgbClr val="45201D"/>
            </a:solidFill>
            <a:prstDash val="solid"/>
            <a:round/>
            <a:headEnd len="sm" w="sm" type="none"/>
            <a:tailEnd len="sm" w="sm" type="none"/>
          </a:ln>
        </p:spPr>
      </p:cxnSp>
      <p:sp>
        <p:nvSpPr>
          <p:cNvPr id="246" name="Google Shape;246;p4"/>
          <p:cNvSpPr txBox="1"/>
          <p:nvPr/>
        </p:nvSpPr>
        <p:spPr>
          <a:xfrm>
            <a:off x="5897880" y="5632704"/>
            <a:ext cx="5653735"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200"/>
              <a:buFont typeface="Calibri"/>
              <a:buNone/>
            </a:pPr>
            <a:r>
              <a:rPr lang="en-US" sz="1200">
                <a:solidFill>
                  <a:srgbClr val="C7A19C"/>
                </a:solidFill>
                <a:latin typeface="Calibri"/>
                <a:ea typeface="Calibri"/>
                <a:cs typeface="Calibri"/>
                <a:sym typeface="Calibri"/>
              </a:rPr>
              <a:t>Multi-gas atmospheric monitoring — US AQI, European AQI, PM2.5, PM10, CO, NO₂, O₃.</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251" name="Shape 251"/>
        <p:cNvGrpSpPr/>
        <p:nvPr/>
      </p:nvGrpSpPr>
      <p:grpSpPr>
        <a:xfrm>
          <a:off x="0" y="0"/>
          <a:ext cx="0" cy="0"/>
          <a:chOff x="0" y="0"/>
          <a:chExt cx="0" cy="0"/>
        </a:xfrm>
      </p:grpSpPr>
      <p:sp>
        <p:nvSpPr>
          <p:cNvPr id="252" name="Google Shape;252;p5"/>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3" name="Google Shape;253;p5"/>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254" name="Google Shape;254;p5"/>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255" name="Google Shape;255;p5"/>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05</a:t>
            </a:r>
            <a:endParaRPr sz="2200">
              <a:solidFill>
                <a:schemeClr val="dk1"/>
              </a:solidFill>
              <a:latin typeface="Calibri"/>
              <a:ea typeface="Calibri"/>
              <a:cs typeface="Calibri"/>
              <a:sym typeface="Calibri"/>
            </a:endParaRPr>
          </a:p>
        </p:txBody>
      </p:sp>
      <p:sp>
        <p:nvSpPr>
          <p:cNvPr id="256" name="Google Shape;256;p5"/>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257" name="Google Shape;257;p5"/>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
          <p:cNvSpPr txBox="1"/>
          <p:nvPr/>
        </p:nvSpPr>
        <p:spPr>
          <a:xfrm>
            <a:off x="1234440" y="502920"/>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RISK INTELLIGENCE ENGINE</a:t>
            </a:r>
            <a:endParaRPr sz="1100">
              <a:solidFill>
                <a:schemeClr val="dk1"/>
              </a:solidFill>
              <a:latin typeface="Calibri"/>
              <a:ea typeface="Calibri"/>
              <a:cs typeface="Calibri"/>
              <a:sym typeface="Calibri"/>
            </a:endParaRPr>
          </a:p>
        </p:txBody>
      </p:sp>
      <p:sp>
        <p:nvSpPr>
          <p:cNvPr id="263" name="Google Shape;263;p5"/>
          <p:cNvSpPr txBox="1"/>
          <p:nvPr/>
        </p:nvSpPr>
        <p:spPr>
          <a:xfrm>
            <a:off x="1234440" y="804672"/>
            <a:ext cx="1045433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2700"/>
              <a:buFont typeface="Arial"/>
              <a:buNone/>
            </a:pPr>
            <a:r>
              <a:rPr b="1" lang="en-US" sz="2700">
                <a:solidFill>
                  <a:srgbClr val="F3E7E4"/>
                </a:solidFill>
                <a:latin typeface="Arial"/>
                <a:ea typeface="Arial"/>
                <a:cs typeface="Arial"/>
                <a:sym typeface="Arial"/>
              </a:rPr>
              <a:t>EXPLAINABLE MULTI-HAZARD FUSION</a:t>
            </a:r>
            <a:endParaRPr sz="2700">
              <a:solidFill>
                <a:schemeClr val="dk1"/>
              </a:solidFill>
              <a:latin typeface="Calibri"/>
              <a:ea typeface="Calibri"/>
              <a:cs typeface="Calibri"/>
              <a:sym typeface="Calibri"/>
            </a:endParaRPr>
          </a:p>
        </p:txBody>
      </p:sp>
      <p:cxnSp>
        <p:nvCxnSpPr>
          <p:cNvPr id="264" name="Google Shape;264;p5"/>
          <p:cNvCxnSpPr/>
          <p:nvPr/>
        </p:nvCxnSpPr>
        <p:spPr>
          <a:xfrm>
            <a:off x="1234440" y="1463040"/>
            <a:ext cx="10454335" cy="0"/>
          </a:xfrm>
          <a:prstGeom prst="straightConnector1">
            <a:avLst/>
          </a:prstGeom>
          <a:noFill/>
          <a:ln cap="flat" cmpd="sng" w="12700">
            <a:solidFill>
              <a:srgbClr val="45201D"/>
            </a:solidFill>
            <a:prstDash val="solid"/>
            <a:round/>
            <a:headEnd len="sm" w="sm" type="none"/>
            <a:tailEnd len="sm" w="sm" type="none"/>
          </a:ln>
        </p:spPr>
      </p:cxnSp>
      <p:sp>
        <p:nvSpPr>
          <p:cNvPr id="265" name="Google Shape;265;p5"/>
          <p:cNvSpPr/>
          <p:nvPr/>
        </p:nvSpPr>
        <p:spPr>
          <a:xfrm>
            <a:off x="1234440" y="1691640"/>
            <a:ext cx="10454335" cy="960120"/>
          </a:xfrm>
          <a:prstGeom prst="rect">
            <a:avLst/>
          </a:prstGeom>
          <a:solidFill>
            <a:srgbClr val="1A0808"/>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6" name="Google Shape;266;p5"/>
          <p:cNvCxnSpPr/>
          <p:nvPr/>
        </p:nvCxnSpPr>
        <p:spPr>
          <a:xfrm>
            <a:off x="1234440" y="1691640"/>
            <a:ext cx="146304" cy="0"/>
          </a:xfrm>
          <a:prstGeom prst="straightConnector1">
            <a:avLst/>
          </a:prstGeom>
          <a:noFill/>
          <a:ln cap="flat" cmpd="sng" w="19050">
            <a:solidFill>
              <a:srgbClr val="E8A23B"/>
            </a:solidFill>
            <a:prstDash val="solid"/>
            <a:round/>
            <a:headEnd len="sm" w="sm" type="none"/>
            <a:tailEnd len="sm" w="sm" type="none"/>
          </a:ln>
        </p:spPr>
      </p:cxnSp>
      <p:cxnSp>
        <p:nvCxnSpPr>
          <p:cNvPr id="267" name="Google Shape;267;p5"/>
          <p:cNvCxnSpPr/>
          <p:nvPr/>
        </p:nvCxnSpPr>
        <p:spPr>
          <a:xfrm>
            <a:off x="1234440" y="1691640"/>
            <a:ext cx="0" cy="146304"/>
          </a:xfrm>
          <a:prstGeom prst="straightConnector1">
            <a:avLst/>
          </a:prstGeom>
          <a:noFill/>
          <a:ln cap="flat" cmpd="sng" w="19050">
            <a:solidFill>
              <a:srgbClr val="E8A23B"/>
            </a:solidFill>
            <a:prstDash val="solid"/>
            <a:round/>
            <a:headEnd len="sm" w="sm" type="none"/>
            <a:tailEnd len="sm" w="sm" type="none"/>
          </a:ln>
        </p:spPr>
      </p:cxnSp>
      <p:cxnSp>
        <p:nvCxnSpPr>
          <p:cNvPr id="268" name="Google Shape;268;p5"/>
          <p:cNvCxnSpPr/>
          <p:nvPr/>
        </p:nvCxnSpPr>
        <p:spPr>
          <a:xfrm>
            <a:off x="11542471" y="2651760"/>
            <a:ext cx="146304" cy="0"/>
          </a:xfrm>
          <a:prstGeom prst="straightConnector1">
            <a:avLst/>
          </a:prstGeom>
          <a:noFill/>
          <a:ln cap="flat" cmpd="sng" w="19050">
            <a:solidFill>
              <a:srgbClr val="E8A23B"/>
            </a:solidFill>
            <a:prstDash val="solid"/>
            <a:round/>
            <a:headEnd len="sm" w="sm" type="none"/>
            <a:tailEnd len="sm" w="sm" type="none"/>
          </a:ln>
        </p:spPr>
      </p:cxnSp>
      <p:cxnSp>
        <p:nvCxnSpPr>
          <p:cNvPr id="269" name="Google Shape;269;p5"/>
          <p:cNvCxnSpPr/>
          <p:nvPr/>
        </p:nvCxnSpPr>
        <p:spPr>
          <a:xfrm>
            <a:off x="11688775" y="2505456"/>
            <a:ext cx="0" cy="146304"/>
          </a:xfrm>
          <a:prstGeom prst="straightConnector1">
            <a:avLst/>
          </a:prstGeom>
          <a:noFill/>
          <a:ln cap="flat" cmpd="sng" w="19050">
            <a:solidFill>
              <a:srgbClr val="E8A23B"/>
            </a:solidFill>
            <a:prstDash val="solid"/>
            <a:round/>
            <a:headEnd len="sm" w="sm" type="none"/>
            <a:tailEnd len="sm" w="sm" type="none"/>
          </a:ln>
        </p:spPr>
      </p:cxnSp>
      <p:sp>
        <p:nvSpPr>
          <p:cNvPr id="270" name="Google Shape;270;p5"/>
          <p:cNvSpPr txBox="1"/>
          <p:nvPr/>
        </p:nvSpPr>
        <p:spPr>
          <a:xfrm>
            <a:off x="1325880" y="1691640"/>
            <a:ext cx="3362858"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B79E"/>
              </a:buClr>
              <a:buSzPts val="1150"/>
              <a:buFont typeface="Courier New"/>
              <a:buNone/>
            </a:pPr>
            <a:r>
              <a:rPr b="1" lang="en-US" sz="1150">
                <a:solidFill>
                  <a:srgbClr val="F3B79E"/>
                </a:solidFill>
                <a:latin typeface="Courier New"/>
                <a:ea typeface="Courier New"/>
                <a:cs typeface="Courier New"/>
                <a:sym typeface="Courier New"/>
              </a:rPr>
              <a:t>Normalized = clamp(Value ÷ Threshold, 0, 1)</a:t>
            </a:r>
            <a:endParaRPr sz="1150">
              <a:solidFill>
                <a:schemeClr val="dk1"/>
              </a:solidFill>
              <a:latin typeface="Calibri"/>
              <a:ea typeface="Calibri"/>
              <a:cs typeface="Calibri"/>
              <a:sym typeface="Calibri"/>
            </a:endParaRPr>
          </a:p>
        </p:txBody>
      </p:sp>
      <p:cxnSp>
        <p:nvCxnSpPr>
          <p:cNvPr id="271" name="Google Shape;271;p5"/>
          <p:cNvCxnSpPr/>
          <p:nvPr/>
        </p:nvCxnSpPr>
        <p:spPr>
          <a:xfrm>
            <a:off x="4688738" y="1828800"/>
            <a:ext cx="0" cy="685800"/>
          </a:xfrm>
          <a:prstGeom prst="straightConnector1">
            <a:avLst/>
          </a:prstGeom>
          <a:noFill/>
          <a:ln cap="flat" cmpd="sng" w="12700">
            <a:solidFill>
              <a:srgbClr val="45201D"/>
            </a:solidFill>
            <a:prstDash val="solid"/>
            <a:round/>
            <a:headEnd len="sm" w="sm" type="none"/>
            <a:tailEnd len="sm" w="sm" type="none"/>
          </a:ln>
        </p:spPr>
      </p:cxnSp>
      <p:sp>
        <p:nvSpPr>
          <p:cNvPr id="272" name="Google Shape;272;p5"/>
          <p:cNvSpPr txBox="1"/>
          <p:nvPr/>
        </p:nvSpPr>
        <p:spPr>
          <a:xfrm>
            <a:off x="4780178" y="1691640"/>
            <a:ext cx="3362858"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B79E"/>
              </a:buClr>
              <a:buSzPts val="1150"/>
              <a:buFont typeface="Courier New"/>
              <a:buNone/>
            </a:pPr>
            <a:r>
              <a:rPr b="1" lang="en-US" sz="1150">
                <a:solidFill>
                  <a:srgbClr val="F3B79E"/>
                </a:solidFill>
                <a:latin typeface="Courier New"/>
                <a:ea typeface="Courier New"/>
                <a:cs typeface="Courier New"/>
                <a:sym typeface="Courier New"/>
              </a:rPr>
              <a:t>Score = 100 × Σ(Normᵢ × Weightᵢ) ÷ Σ(Weights)</a:t>
            </a:r>
            <a:endParaRPr sz="1150">
              <a:solidFill>
                <a:schemeClr val="dk1"/>
              </a:solidFill>
              <a:latin typeface="Calibri"/>
              <a:ea typeface="Calibri"/>
              <a:cs typeface="Calibri"/>
              <a:sym typeface="Calibri"/>
            </a:endParaRPr>
          </a:p>
        </p:txBody>
      </p:sp>
      <p:cxnSp>
        <p:nvCxnSpPr>
          <p:cNvPr id="273" name="Google Shape;273;p5"/>
          <p:cNvCxnSpPr/>
          <p:nvPr/>
        </p:nvCxnSpPr>
        <p:spPr>
          <a:xfrm>
            <a:off x="8143037" y="1828800"/>
            <a:ext cx="0" cy="685800"/>
          </a:xfrm>
          <a:prstGeom prst="straightConnector1">
            <a:avLst/>
          </a:prstGeom>
          <a:noFill/>
          <a:ln cap="flat" cmpd="sng" w="12700">
            <a:solidFill>
              <a:srgbClr val="45201D"/>
            </a:solidFill>
            <a:prstDash val="solid"/>
            <a:round/>
            <a:headEnd len="sm" w="sm" type="none"/>
            <a:tailEnd len="sm" w="sm" type="none"/>
          </a:ln>
        </p:spPr>
      </p:cxnSp>
      <p:sp>
        <p:nvSpPr>
          <p:cNvPr id="274" name="Google Shape;274;p5"/>
          <p:cNvSpPr txBox="1"/>
          <p:nvPr/>
        </p:nvSpPr>
        <p:spPr>
          <a:xfrm>
            <a:off x="8234477" y="1691640"/>
            <a:ext cx="3362858"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B79E"/>
              </a:buClr>
              <a:buSzPts val="1150"/>
              <a:buFont typeface="Courier New"/>
              <a:buNone/>
            </a:pPr>
            <a:r>
              <a:rPr b="1" lang="en-US" sz="1150">
                <a:solidFill>
                  <a:srgbClr val="F3B79E"/>
                </a:solidFill>
                <a:latin typeface="Courier New"/>
                <a:ea typeface="Courier New"/>
                <a:cs typeface="Courier New"/>
                <a:sym typeface="Courier New"/>
              </a:rPr>
              <a:t>Fusion = min(100, Hi + 0.15×Second + 0.05×Third)</a:t>
            </a:r>
            <a:endParaRPr sz="1150">
              <a:solidFill>
                <a:schemeClr val="dk1"/>
              </a:solidFill>
              <a:latin typeface="Calibri"/>
              <a:ea typeface="Calibri"/>
              <a:cs typeface="Calibri"/>
              <a:sym typeface="Calibri"/>
            </a:endParaRPr>
          </a:p>
        </p:txBody>
      </p:sp>
      <p:sp>
        <p:nvSpPr>
          <p:cNvPr id="275" name="Google Shape;275;p5"/>
          <p:cNvSpPr/>
          <p:nvPr/>
        </p:nvSpPr>
        <p:spPr>
          <a:xfrm>
            <a:off x="1234440" y="2880360"/>
            <a:ext cx="3332378" cy="35204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6" name="Google Shape;276;p5"/>
          <p:cNvCxnSpPr/>
          <p:nvPr/>
        </p:nvCxnSpPr>
        <p:spPr>
          <a:xfrm>
            <a:off x="1234440" y="2880360"/>
            <a:ext cx="182880" cy="0"/>
          </a:xfrm>
          <a:prstGeom prst="straightConnector1">
            <a:avLst/>
          </a:prstGeom>
          <a:noFill/>
          <a:ln cap="flat" cmpd="sng" w="19050">
            <a:solidFill>
              <a:srgbClr val="B3271D"/>
            </a:solidFill>
            <a:prstDash val="solid"/>
            <a:round/>
            <a:headEnd len="sm" w="sm" type="none"/>
            <a:tailEnd len="sm" w="sm" type="none"/>
          </a:ln>
        </p:spPr>
      </p:cxnSp>
      <p:cxnSp>
        <p:nvCxnSpPr>
          <p:cNvPr id="277" name="Google Shape;277;p5"/>
          <p:cNvCxnSpPr/>
          <p:nvPr/>
        </p:nvCxnSpPr>
        <p:spPr>
          <a:xfrm>
            <a:off x="1234440" y="2880360"/>
            <a:ext cx="0" cy="182880"/>
          </a:xfrm>
          <a:prstGeom prst="straightConnector1">
            <a:avLst/>
          </a:prstGeom>
          <a:noFill/>
          <a:ln cap="flat" cmpd="sng" w="19050">
            <a:solidFill>
              <a:srgbClr val="B3271D"/>
            </a:solidFill>
            <a:prstDash val="solid"/>
            <a:round/>
            <a:headEnd len="sm" w="sm" type="none"/>
            <a:tailEnd len="sm" w="sm" type="none"/>
          </a:ln>
        </p:spPr>
      </p:cxnSp>
      <p:cxnSp>
        <p:nvCxnSpPr>
          <p:cNvPr id="278" name="Google Shape;278;p5"/>
          <p:cNvCxnSpPr/>
          <p:nvPr/>
        </p:nvCxnSpPr>
        <p:spPr>
          <a:xfrm>
            <a:off x="4383938" y="6400800"/>
            <a:ext cx="182880" cy="0"/>
          </a:xfrm>
          <a:prstGeom prst="straightConnector1">
            <a:avLst/>
          </a:prstGeom>
          <a:noFill/>
          <a:ln cap="flat" cmpd="sng" w="19050">
            <a:solidFill>
              <a:srgbClr val="B3271D"/>
            </a:solidFill>
            <a:prstDash val="solid"/>
            <a:round/>
            <a:headEnd len="sm" w="sm" type="none"/>
            <a:tailEnd len="sm" w="sm" type="none"/>
          </a:ln>
        </p:spPr>
      </p:cxnSp>
      <p:cxnSp>
        <p:nvCxnSpPr>
          <p:cNvPr id="279" name="Google Shape;279;p5"/>
          <p:cNvCxnSpPr/>
          <p:nvPr/>
        </p:nvCxnSpPr>
        <p:spPr>
          <a:xfrm>
            <a:off x="4566818" y="6217920"/>
            <a:ext cx="0" cy="182880"/>
          </a:xfrm>
          <a:prstGeom prst="straightConnector1">
            <a:avLst/>
          </a:prstGeom>
          <a:noFill/>
          <a:ln cap="flat" cmpd="sng" w="19050">
            <a:solidFill>
              <a:srgbClr val="B3271D"/>
            </a:solidFill>
            <a:prstDash val="solid"/>
            <a:round/>
            <a:headEnd len="sm" w="sm" type="none"/>
            <a:tailEnd len="sm" w="sm" type="none"/>
          </a:ln>
        </p:spPr>
      </p:cxnSp>
      <p:sp>
        <p:nvSpPr>
          <p:cNvPr id="280" name="Google Shape;280;p5"/>
          <p:cNvSpPr/>
          <p:nvPr/>
        </p:nvSpPr>
        <p:spPr>
          <a:xfrm>
            <a:off x="1234440" y="2880360"/>
            <a:ext cx="3332378" cy="457200"/>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txBox="1"/>
          <p:nvPr/>
        </p:nvSpPr>
        <p:spPr>
          <a:xfrm>
            <a:off x="1234440" y="2880360"/>
            <a:ext cx="333237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Arial"/>
              <a:buNone/>
            </a:pPr>
            <a:r>
              <a:rPr b="1" lang="en-US" sz="1350">
                <a:solidFill>
                  <a:srgbClr val="FFFFFF"/>
                </a:solidFill>
                <a:latin typeface="Arial"/>
                <a:ea typeface="Arial"/>
                <a:cs typeface="Arial"/>
                <a:sym typeface="Arial"/>
              </a:rPr>
              <a:t>FLOOD RISK</a:t>
            </a:r>
            <a:endParaRPr sz="1350">
              <a:solidFill>
                <a:schemeClr val="dk1"/>
              </a:solidFill>
              <a:latin typeface="Calibri"/>
              <a:ea typeface="Calibri"/>
              <a:cs typeface="Calibri"/>
              <a:sym typeface="Calibri"/>
            </a:endParaRPr>
          </a:p>
        </p:txBody>
      </p:sp>
      <p:sp>
        <p:nvSpPr>
          <p:cNvPr id="282" name="Google Shape;282;p5"/>
          <p:cNvSpPr txBox="1"/>
          <p:nvPr/>
        </p:nvSpPr>
        <p:spPr>
          <a:xfrm>
            <a:off x="1435608" y="342900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24h Rain</a:t>
            </a:r>
            <a:endParaRPr sz="970">
              <a:solidFill>
                <a:schemeClr val="dk1"/>
              </a:solidFill>
              <a:latin typeface="Calibri"/>
              <a:ea typeface="Calibri"/>
              <a:cs typeface="Calibri"/>
              <a:sym typeface="Calibri"/>
            </a:endParaRPr>
          </a:p>
        </p:txBody>
      </p:sp>
      <p:sp>
        <p:nvSpPr>
          <p:cNvPr id="283" name="Google Shape;283;p5"/>
          <p:cNvSpPr/>
          <p:nvPr/>
        </p:nvSpPr>
        <p:spPr>
          <a:xfrm>
            <a:off x="2441448" y="359222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a:off x="2441448" y="3592220"/>
            <a:ext cx="291572" cy="134417"/>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
          <p:cNvSpPr txBox="1"/>
          <p:nvPr/>
        </p:nvSpPr>
        <p:spPr>
          <a:xfrm>
            <a:off x="3945026" y="342900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20%</a:t>
            </a:r>
            <a:endParaRPr sz="950">
              <a:solidFill>
                <a:schemeClr val="dk1"/>
              </a:solidFill>
              <a:latin typeface="Calibri"/>
              <a:ea typeface="Calibri"/>
              <a:cs typeface="Calibri"/>
              <a:sym typeface="Calibri"/>
            </a:endParaRPr>
          </a:p>
        </p:txBody>
      </p:sp>
      <p:sp>
        <p:nvSpPr>
          <p:cNvPr id="286" name="Google Shape;286;p5"/>
          <p:cNvSpPr txBox="1"/>
          <p:nvPr/>
        </p:nvSpPr>
        <p:spPr>
          <a:xfrm>
            <a:off x="1435608" y="390906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72h Rain</a:t>
            </a:r>
            <a:endParaRPr sz="970">
              <a:solidFill>
                <a:schemeClr val="dk1"/>
              </a:solidFill>
              <a:latin typeface="Calibri"/>
              <a:ea typeface="Calibri"/>
              <a:cs typeface="Calibri"/>
              <a:sym typeface="Calibri"/>
            </a:endParaRPr>
          </a:p>
        </p:txBody>
      </p:sp>
      <p:sp>
        <p:nvSpPr>
          <p:cNvPr id="287" name="Google Shape;287;p5"/>
          <p:cNvSpPr/>
          <p:nvPr/>
        </p:nvSpPr>
        <p:spPr>
          <a:xfrm>
            <a:off x="2441448" y="407228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2441448" y="4072280"/>
            <a:ext cx="291572" cy="134417"/>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
          <p:cNvSpPr txBox="1"/>
          <p:nvPr/>
        </p:nvSpPr>
        <p:spPr>
          <a:xfrm>
            <a:off x="3945026" y="390906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20%</a:t>
            </a:r>
            <a:endParaRPr sz="950">
              <a:solidFill>
                <a:schemeClr val="dk1"/>
              </a:solidFill>
              <a:latin typeface="Calibri"/>
              <a:ea typeface="Calibri"/>
              <a:cs typeface="Calibri"/>
              <a:sym typeface="Calibri"/>
            </a:endParaRPr>
          </a:p>
        </p:txBody>
      </p:sp>
      <p:sp>
        <p:nvSpPr>
          <p:cNvPr id="290" name="Google Shape;290;p5"/>
          <p:cNvSpPr txBox="1"/>
          <p:nvPr/>
        </p:nvSpPr>
        <p:spPr>
          <a:xfrm>
            <a:off x="1435608" y="438912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River Surge</a:t>
            </a:r>
            <a:endParaRPr sz="970">
              <a:solidFill>
                <a:schemeClr val="dk1"/>
              </a:solidFill>
              <a:latin typeface="Calibri"/>
              <a:ea typeface="Calibri"/>
              <a:cs typeface="Calibri"/>
              <a:sym typeface="Calibri"/>
            </a:endParaRPr>
          </a:p>
        </p:txBody>
      </p:sp>
      <p:sp>
        <p:nvSpPr>
          <p:cNvPr id="291" name="Google Shape;291;p5"/>
          <p:cNvSpPr/>
          <p:nvPr/>
        </p:nvSpPr>
        <p:spPr>
          <a:xfrm>
            <a:off x="2441448" y="455234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
          <p:cNvSpPr/>
          <p:nvPr/>
        </p:nvSpPr>
        <p:spPr>
          <a:xfrm>
            <a:off x="2441448" y="4552340"/>
            <a:ext cx="291572" cy="134417"/>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
          <p:cNvSpPr txBox="1"/>
          <p:nvPr/>
        </p:nvSpPr>
        <p:spPr>
          <a:xfrm>
            <a:off x="3945026" y="438912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20%</a:t>
            </a:r>
            <a:endParaRPr sz="950">
              <a:solidFill>
                <a:schemeClr val="dk1"/>
              </a:solidFill>
              <a:latin typeface="Calibri"/>
              <a:ea typeface="Calibri"/>
              <a:cs typeface="Calibri"/>
              <a:sym typeface="Calibri"/>
            </a:endParaRPr>
          </a:p>
        </p:txBody>
      </p:sp>
      <p:sp>
        <p:nvSpPr>
          <p:cNvPr id="294" name="Google Shape;294;p5"/>
          <p:cNvSpPr txBox="1"/>
          <p:nvPr/>
        </p:nvSpPr>
        <p:spPr>
          <a:xfrm>
            <a:off x="1435608" y="486918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24h Forecast</a:t>
            </a:r>
            <a:endParaRPr sz="970">
              <a:solidFill>
                <a:schemeClr val="dk1"/>
              </a:solidFill>
              <a:latin typeface="Calibri"/>
              <a:ea typeface="Calibri"/>
              <a:cs typeface="Calibri"/>
              <a:sym typeface="Calibri"/>
            </a:endParaRPr>
          </a:p>
        </p:txBody>
      </p:sp>
      <p:sp>
        <p:nvSpPr>
          <p:cNvPr id="295" name="Google Shape;295;p5"/>
          <p:cNvSpPr/>
          <p:nvPr/>
        </p:nvSpPr>
        <p:spPr>
          <a:xfrm>
            <a:off x="2441448" y="503240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2441448" y="5032400"/>
            <a:ext cx="218679" cy="134417"/>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txBox="1"/>
          <p:nvPr/>
        </p:nvSpPr>
        <p:spPr>
          <a:xfrm>
            <a:off x="3945026" y="486918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15%</a:t>
            </a:r>
            <a:endParaRPr sz="950">
              <a:solidFill>
                <a:schemeClr val="dk1"/>
              </a:solidFill>
              <a:latin typeface="Calibri"/>
              <a:ea typeface="Calibri"/>
              <a:cs typeface="Calibri"/>
              <a:sym typeface="Calibri"/>
            </a:endParaRPr>
          </a:p>
        </p:txBody>
      </p:sp>
      <p:sp>
        <p:nvSpPr>
          <p:cNvPr id="298" name="Google Shape;298;p5"/>
          <p:cNvSpPr txBox="1"/>
          <p:nvPr/>
        </p:nvSpPr>
        <p:spPr>
          <a:xfrm>
            <a:off x="1435608" y="534924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Soil VWC</a:t>
            </a:r>
            <a:endParaRPr sz="970">
              <a:solidFill>
                <a:schemeClr val="dk1"/>
              </a:solidFill>
              <a:latin typeface="Calibri"/>
              <a:ea typeface="Calibri"/>
              <a:cs typeface="Calibri"/>
              <a:sym typeface="Calibri"/>
            </a:endParaRPr>
          </a:p>
        </p:txBody>
      </p:sp>
      <p:sp>
        <p:nvSpPr>
          <p:cNvPr id="299" name="Google Shape;299;p5"/>
          <p:cNvSpPr/>
          <p:nvPr/>
        </p:nvSpPr>
        <p:spPr>
          <a:xfrm>
            <a:off x="2441448" y="551246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2441448" y="5512460"/>
            <a:ext cx="218679" cy="134417"/>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
          <p:cNvSpPr txBox="1"/>
          <p:nvPr/>
        </p:nvSpPr>
        <p:spPr>
          <a:xfrm>
            <a:off x="3945026" y="534924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15%</a:t>
            </a:r>
            <a:endParaRPr sz="950">
              <a:solidFill>
                <a:schemeClr val="dk1"/>
              </a:solidFill>
              <a:latin typeface="Calibri"/>
              <a:ea typeface="Calibri"/>
              <a:cs typeface="Calibri"/>
              <a:sym typeface="Calibri"/>
            </a:endParaRPr>
          </a:p>
        </p:txBody>
      </p:sp>
      <p:sp>
        <p:nvSpPr>
          <p:cNvPr id="302" name="Google Shape;302;p5"/>
          <p:cNvSpPr txBox="1"/>
          <p:nvPr/>
        </p:nvSpPr>
        <p:spPr>
          <a:xfrm>
            <a:off x="1435608" y="582930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1h Rain</a:t>
            </a:r>
            <a:endParaRPr sz="970">
              <a:solidFill>
                <a:schemeClr val="dk1"/>
              </a:solidFill>
              <a:latin typeface="Calibri"/>
              <a:ea typeface="Calibri"/>
              <a:cs typeface="Calibri"/>
              <a:sym typeface="Calibri"/>
            </a:endParaRPr>
          </a:p>
        </p:txBody>
      </p:sp>
      <p:sp>
        <p:nvSpPr>
          <p:cNvPr id="303" name="Google Shape;303;p5"/>
          <p:cNvSpPr/>
          <p:nvPr/>
        </p:nvSpPr>
        <p:spPr>
          <a:xfrm>
            <a:off x="2441448" y="599252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
          <p:cNvSpPr/>
          <p:nvPr/>
        </p:nvSpPr>
        <p:spPr>
          <a:xfrm>
            <a:off x="2441448" y="5992520"/>
            <a:ext cx="145786" cy="134417"/>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
          <p:cNvSpPr txBox="1"/>
          <p:nvPr/>
        </p:nvSpPr>
        <p:spPr>
          <a:xfrm>
            <a:off x="3945026" y="582930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10%</a:t>
            </a:r>
            <a:endParaRPr sz="950">
              <a:solidFill>
                <a:schemeClr val="dk1"/>
              </a:solidFill>
              <a:latin typeface="Calibri"/>
              <a:ea typeface="Calibri"/>
              <a:cs typeface="Calibri"/>
              <a:sym typeface="Calibri"/>
            </a:endParaRPr>
          </a:p>
        </p:txBody>
      </p:sp>
      <p:sp>
        <p:nvSpPr>
          <p:cNvPr id="306" name="Google Shape;306;p5"/>
          <p:cNvSpPr/>
          <p:nvPr/>
        </p:nvSpPr>
        <p:spPr>
          <a:xfrm>
            <a:off x="4795418" y="2880360"/>
            <a:ext cx="3332378" cy="35204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7" name="Google Shape;307;p5"/>
          <p:cNvCxnSpPr/>
          <p:nvPr/>
        </p:nvCxnSpPr>
        <p:spPr>
          <a:xfrm>
            <a:off x="4795418" y="2880360"/>
            <a:ext cx="182880" cy="0"/>
          </a:xfrm>
          <a:prstGeom prst="straightConnector1">
            <a:avLst/>
          </a:prstGeom>
          <a:noFill/>
          <a:ln cap="flat" cmpd="sng" w="19050">
            <a:solidFill>
              <a:srgbClr val="C4841F"/>
            </a:solidFill>
            <a:prstDash val="solid"/>
            <a:round/>
            <a:headEnd len="sm" w="sm" type="none"/>
            <a:tailEnd len="sm" w="sm" type="none"/>
          </a:ln>
        </p:spPr>
      </p:cxnSp>
      <p:cxnSp>
        <p:nvCxnSpPr>
          <p:cNvPr id="308" name="Google Shape;308;p5"/>
          <p:cNvCxnSpPr/>
          <p:nvPr/>
        </p:nvCxnSpPr>
        <p:spPr>
          <a:xfrm>
            <a:off x="4795418" y="2880360"/>
            <a:ext cx="0" cy="182880"/>
          </a:xfrm>
          <a:prstGeom prst="straightConnector1">
            <a:avLst/>
          </a:prstGeom>
          <a:noFill/>
          <a:ln cap="flat" cmpd="sng" w="19050">
            <a:solidFill>
              <a:srgbClr val="C4841F"/>
            </a:solidFill>
            <a:prstDash val="solid"/>
            <a:round/>
            <a:headEnd len="sm" w="sm" type="none"/>
            <a:tailEnd len="sm" w="sm" type="none"/>
          </a:ln>
        </p:spPr>
      </p:cxnSp>
      <p:cxnSp>
        <p:nvCxnSpPr>
          <p:cNvPr id="309" name="Google Shape;309;p5"/>
          <p:cNvCxnSpPr/>
          <p:nvPr/>
        </p:nvCxnSpPr>
        <p:spPr>
          <a:xfrm>
            <a:off x="7944917" y="6400800"/>
            <a:ext cx="182880" cy="0"/>
          </a:xfrm>
          <a:prstGeom prst="straightConnector1">
            <a:avLst/>
          </a:prstGeom>
          <a:noFill/>
          <a:ln cap="flat" cmpd="sng" w="19050">
            <a:solidFill>
              <a:srgbClr val="C4841F"/>
            </a:solidFill>
            <a:prstDash val="solid"/>
            <a:round/>
            <a:headEnd len="sm" w="sm" type="none"/>
            <a:tailEnd len="sm" w="sm" type="none"/>
          </a:ln>
        </p:spPr>
      </p:cxnSp>
      <p:cxnSp>
        <p:nvCxnSpPr>
          <p:cNvPr id="310" name="Google Shape;310;p5"/>
          <p:cNvCxnSpPr/>
          <p:nvPr/>
        </p:nvCxnSpPr>
        <p:spPr>
          <a:xfrm>
            <a:off x="8127797" y="6217920"/>
            <a:ext cx="0" cy="182880"/>
          </a:xfrm>
          <a:prstGeom prst="straightConnector1">
            <a:avLst/>
          </a:prstGeom>
          <a:noFill/>
          <a:ln cap="flat" cmpd="sng" w="19050">
            <a:solidFill>
              <a:srgbClr val="C4841F"/>
            </a:solidFill>
            <a:prstDash val="solid"/>
            <a:round/>
            <a:headEnd len="sm" w="sm" type="none"/>
            <a:tailEnd len="sm" w="sm" type="none"/>
          </a:ln>
        </p:spPr>
      </p:cxnSp>
      <p:sp>
        <p:nvSpPr>
          <p:cNvPr id="311" name="Google Shape;311;p5"/>
          <p:cNvSpPr/>
          <p:nvPr/>
        </p:nvSpPr>
        <p:spPr>
          <a:xfrm>
            <a:off x="4795418" y="2880360"/>
            <a:ext cx="3332378" cy="457200"/>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
          <p:cNvSpPr txBox="1"/>
          <p:nvPr/>
        </p:nvSpPr>
        <p:spPr>
          <a:xfrm>
            <a:off x="4795418" y="2880360"/>
            <a:ext cx="333237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Arial"/>
              <a:buNone/>
            </a:pPr>
            <a:r>
              <a:rPr b="1" lang="en-US" sz="1350">
                <a:solidFill>
                  <a:srgbClr val="FFFFFF"/>
                </a:solidFill>
                <a:latin typeface="Arial"/>
                <a:ea typeface="Arial"/>
                <a:cs typeface="Arial"/>
                <a:sym typeface="Arial"/>
              </a:rPr>
              <a:t>LANDSLIDE RISK</a:t>
            </a:r>
            <a:endParaRPr sz="1350">
              <a:solidFill>
                <a:schemeClr val="dk1"/>
              </a:solidFill>
              <a:latin typeface="Calibri"/>
              <a:ea typeface="Calibri"/>
              <a:cs typeface="Calibri"/>
              <a:sym typeface="Calibri"/>
            </a:endParaRPr>
          </a:p>
        </p:txBody>
      </p:sp>
      <p:sp>
        <p:nvSpPr>
          <p:cNvPr id="313" name="Google Shape;313;p5"/>
          <p:cNvSpPr txBox="1"/>
          <p:nvPr/>
        </p:nvSpPr>
        <p:spPr>
          <a:xfrm>
            <a:off x="4996586" y="342900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24h Rain</a:t>
            </a:r>
            <a:endParaRPr sz="970">
              <a:solidFill>
                <a:schemeClr val="dk1"/>
              </a:solidFill>
              <a:latin typeface="Calibri"/>
              <a:ea typeface="Calibri"/>
              <a:cs typeface="Calibri"/>
              <a:sym typeface="Calibri"/>
            </a:endParaRPr>
          </a:p>
        </p:txBody>
      </p:sp>
      <p:sp>
        <p:nvSpPr>
          <p:cNvPr id="314" name="Google Shape;314;p5"/>
          <p:cNvSpPr/>
          <p:nvPr/>
        </p:nvSpPr>
        <p:spPr>
          <a:xfrm>
            <a:off x="6002426" y="359222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
          <p:cNvSpPr/>
          <p:nvPr/>
        </p:nvSpPr>
        <p:spPr>
          <a:xfrm>
            <a:off x="6002426" y="3592220"/>
            <a:ext cx="364465" cy="134417"/>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
          <p:cNvSpPr txBox="1"/>
          <p:nvPr/>
        </p:nvSpPr>
        <p:spPr>
          <a:xfrm>
            <a:off x="7506005" y="342900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25%</a:t>
            </a:r>
            <a:endParaRPr sz="950">
              <a:solidFill>
                <a:schemeClr val="dk1"/>
              </a:solidFill>
              <a:latin typeface="Calibri"/>
              <a:ea typeface="Calibri"/>
              <a:cs typeface="Calibri"/>
              <a:sym typeface="Calibri"/>
            </a:endParaRPr>
          </a:p>
        </p:txBody>
      </p:sp>
      <p:sp>
        <p:nvSpPr>
          <p:cNvPr id="317" name="Google Shape;317;p5"/>
          <p:cNvSpPr txBox="1"/>
          <p:nvPr/>
        </p:nvSpPr>
        <p:spPr>
          <a:xfrm>
            <a:off x="4996586" y="390906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Soil VWC</a:t>
            </a:r>
            <a:endParaRPr sz="970">
              <a:solidFill>
                <a:schemeClr val="dk1"/>
              </a:solidFill>
              <a:latin typeface="Calibri"/>
              <a:ea typeface="Calibri"/>
              <a:cs typeface="Calibri"/>
              <a:sym typeface="Calibri"/>
            </a:endParaRPr>
          </a:p>
        </p:txBody>
      </p:sp>
      <p:sp>
        <p:nvSpPr>
          <p:cNvPr id="318" name="Google Shape;318;p5"/>
          <p:cNvSpPr/>
          <p:nvPr/>
        </p:nvSpPr>
        <p:spPr>
          <a:xfrm>
            <a:off x="6002426" y="407228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
          <p:cNvSpPr/>
          <p:nvPr/>
        </p:nvSpPr>
        <p:spPr>
          <a:xfrm>
            <a:off x="6002426" y="4072280"/>
            <a:ext cx="291572" cy="134417"/>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
          <p:cNvSpPr txBox="1"/>
          <p:nvPr/>
        </p:nvSpPr>
        <p:spPr>
          <a:xfrm>
            <a:off x="7506005" y="390906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20%</a:t>
            </a:r>
            <a:endParaRPr sz="950">
              <a:solidFill>
                <a:schemeClr val="dk1"/>
              </a:solidFill>
              <a:latin typeface="Calibri"/>
              <a:ea typeface="Calibri"/>
              <a:cs typeface="Calibri"/>
              <a:sym typeface="Calibri"/>
            </a:endParaRPr>
          </a:p>
        </p:txBody>
      </p:sp>
      <p:sp>
        <p:nvSpPr>
          <p:cNvPr id="321" name="Google Shape;321;p5"/>
          <p:cNvSpPr txBox="1"/>
          <p:nvPr/>
        </p:nvSpPr>
        <p:spPr>
          <a:xfrm>
            <a:off x="4996586" y="438912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72h Rain</a:t>
            </a:r>
            <a:endParaRPr sz="970">
              <a:solidFill>
                <a:schemeClr val="dk1"/>
              </a:solidFill>
              <a:latin typeface="Calibri"/>
              <a:ea typeface="Calibri"/>
              <a:cs typeface="Calibri"/>
              <a:sym typeface="Calibri"/>
            </a:endParaRPr>
          </a:p>
        </p:txBody>
      </p:sp>
      <p:sp>
        <p:nvSpPr>
          <p:cNvPr id="322" name="Google Shape;322;p5"/>
          <p:cNvSpPr/>
          <p:nvPr/>
        </p:nvSpPr>
        <p:spPr>
          <a:xfrm>
            <a:off x="6002426" y="455234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
          <p:cNvSpPr/>
          <p:nvPr/>
        </p:nvSpPr>
        <p:spPr>
          <a:xfrm>
            <a:off x="6002426" y="4552340"/>
            <a:ext cx="291572" cy="134417"/>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
          <p:cNvSpPr txBox="1"/>
          <p:nvPr/>
        </p:nvSpPr>
        <p:spPr>
          <a:xfrm>
            <a:off x="7506005" y="438912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20%</a:t>
            </a:r>
            <a:endParaRPr sz="950">
              <a:solidFill>
                <a:schemeClr val="dk1"/>
              </a:solidFill>
              <a:latin typeface="Calibri"/>
              <a:ea typeface="Calibri"/>
              <a:cs typeface="Calibri"/>
              <a:sym typeface="Calibri"/>
            </a:endParaRPr>
          </a:p>
        </p:txBody>
      </p:sp>
      <p:sp>
        <p:nvSpPr>
          <p:cNvPr id="325" name="Google Shape;325;p5"/>
          <p:cNvSpPr txBox="1"/>
          <p:nvPr/>
        </p:nvSpPr>
        <p:spPr>
          <a:xfrm>
            <a:off x="4996586" y="486918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Slope Angle</a:t>
            </a:r>
            <a:endParaRPr sz="970">
              <a:solidFill>
                <a:schemeClr val="dk1"/>
              </a:solidFill>
              <a:latin typeface="Calibri"/>
              <a:ea typeface="Calibri"/>
              <a:cs typeface="Calibri"/>
              <a:sym typeface="Calibri"/>
            </a:endParaRPr>
          </a:p>
        </p:txBody>
      </p:sp>
      <p:sp>
        <p:nvSpPr>
          <p:cNvPr id="326" name="Google Shape;326;p5"/>
          <p:cNvSpPr/>
          <p:nvPr/>
        </p:nvSpPr>
        <p:spPr>
          <a:xfrm>
            <a:off x="6002426" y="503240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
          <p:cNvSpPr/>
          <p:nvPr/>
        </p:nvSpPr>
        <p:spPr>
          <a:xfrm>
            <a:off x="6002426" y="5032400"/>
            <a:ext cx="218679" cy="134417"/>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5"/>
          <p:cNvSpPr txBox="1"/>
          <p:nvPr/>
        </p:nvSpPr>
        <p:spPr>
          <a:xfrm>
            <a:off x="7506005" y="486918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15%</a:t>
            </a:r>
            <a:endParaRPr sz="950">
              <a:solidFill>
                <a:schemeClr val="dk1"/>
              </a:solidFill>
              <a:latin typeface="Calibri"/>
              <a:ea typeface="Calibri"/>
              <a:cs typeface="Calibri"/>
              <a:sym typeface="Calibri"/>
            </a:endParaRPr>
          </a:p>
        </p:txBody>
      </p:sp>
      <p:sp>
        <p:nvSpPr>
          <p:cNvPr id="329" name="Google Shape;329;p5"/>
          <p:cNvSpPr txBox="1"/>
          <p:nvPr/>
        </p:nvSpPr>
        <p:spPr>
          <a:xfrm>
            <a:off x="4996586" y="534924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1h Rain</a:t>
            </a:r>
            <a:endParaRPr sz="970">
              <a:solidFill>
                <a:schemeClr val="dk1"/>
              </a:solidFill>
              <a:latin typeface="Calibri"/>
              <a:ea typeface="Calibri"/>
              <a:cs typeface="Calibri"/>
              <a:sym typeface="Calibri"/>
            </a:endParaRPr>
          </a:p>
        </p:txBody>
      </p:sp>
      <p:sp>
        <p:nvSpPr>
          <p:cNvPr id="330" name="Google Shape;330;p5"/>
          <p:cNvSpPr/>
          <p:nvPr/>
        </p:nvSpPr>
        <p:spPr>
          <a:xfrm>
            <a:off x="6002426" y="551246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
          <p:cNvSpPr/>
          <p:nvPr/>
        </p:nvSpPr>
        <p:spPr>
          <a:xfrm>
            <a:off x="6002426" y="5512460"/>
            <a:ext cx="218679" cy="134417"/>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
          <p:cNvSpPr txBox="1"/>
          <p:nvPr/>
        </p:nvSpPr>
        <p:spPr>
          <a:xfrm>
            <a:off x="7506005" y="534924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15%</a:t>
            </a:r>
            <a:endParaRPr sz="950">
              <a:solidFill>
                <a:schemeClr val="dk1"/>
              </a:solidFill>
              <a:latin typeface="Calibri"/>
              <a:ea typeface="Calibri"/>
              <a:cs typeface="Calibri"/>
              <a:sym typeface="Calibri"/>
            </a:endParaRPr>
          </a:p>
        </p:txBody>
      </p:sp>
      <p:sp>
        <p:nvSpPr>
          <p:cNvPr id="333" name="Google Shape;333;p5"/>
          <p:cNvSpPr txBox="1"/>
          <p:nvPr/>
        </p:nvSpPr>
        <p:spPr>
          <a:xfrm>
            <a:off x="4996586" y="5829300"/>
            <a:ext cx="9144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Susceptibility</a:t>
            </a:r>
            <a:endParaRPr sz="970">
              <a:solidFill>
                <a:schemeClr val="dk1"/>
              </a:solidFill>
              <a:latin typeface="Calibri"/>
              <a:ea typeface="Calibri"/>
              <a:cs typeface="Calibri"/>
              <a:sym typeface="Calibri"/>
            </a:endParaRPr>
          </a:p>
        </p:txBody>
      </p:sp>
      <p:sp>
        <p:nvSpPr>
          <p:cNvPr id="334" name="Google Shape;334;p5"/>
          <p:cNvSpPr/>
          <p:nvPr/>
        </p:nvSpPr>
        <p:spPr>
          <a:xfrm>
            <a:off x="6002426" y="5992520"/>
            <a:ext cx="1457858" cy="134417"/>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
          <p:cNvSpPr/>
          <p:nvPr/>
        </p:nvSpPr>
        <p:spPr>
          <a:xfrm>
            <a:off x="6002426" y="5992520"/>
            <a:ext cx="73152" cy="134417"/>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
          <p:cNvSpPr txBox="1"/>
          <p:nvPr/>
        </p:nvSpPr>
        <p:spPr>
          <a:xfrm>
            <a:off x="7506005" y="5829300"/>
            <a:ext cx="457200" cy="4617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5%</a:t>
            </a:r>
            <a:endParaRPr sz="950">
              <a:solidFill>
                <a:schemeClr val="dk1"/>
              </a:solidFill>
              <a:latin typeface="Calibri"/>
              <a:ea typeface="Calibri"/>
              <a:cs typeface="Calibri"/>
              <a:sym typeface="Calibri"/>
            </a:endParaRPr>
          </a:p>
        </p:txBody>
      </p:sp>
      <p:sp>
        <p:nvSpPr>
          <p:cNvPr id="337" name="Google Shape;337;p5"/>
          <p:cNvSpPr/>
          <p:nvPr/>
        </p:nvSpPr>
        <p:spPr>
          <a:xfrm>
            <a:off x="8356397" y="2880360"/>
            <a:ext cx="3332378" cy="35204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8" name="Google Shape;338;p5"/>
          <p:cNvCxnSpPr/>
          <p:nvPr/>
        </p:nvCxnSpPr>
        <p:spPr>
          <a:xfrm>
            <a:off x="8356397" y="2880360"/>
            <a:ext cx="182880" cy="0"/>
          </a:xfrm>
          <a:prstGeom prst="straightConnector1">
            <a:avLst/>
          </a:prstGeom>
          <a:noFill/>
          <a:ln cap="flat" cmpd="sng" w="19050">
            <a:solidFill>
              <a:srgbClr val="5C1414"/>
            </a:solidFill>
            <a:prstDash val="solid"/>
            <a:round/>
            <a:headEnd len="sm" w="sm" type="none"/>
            <a:tailEnd len="sm" w="sm" type="none"/>
          </a:ln>
        </p:spPr>
      </p:cxnSp>
      <p:cxnSp>
        <p:nvCxnSpPr>
          <p:cNvPr id="339" name="Google Shape;339;p5"/>
          <p:cNvCxnSpPr/>
          <p:nvPr/>
        </p:nvCxnSpPr>
        <p:spPr>
          <a:xfrm>
            <a:off x="8356397" y="2880360"/>
            <a:ext cx="0" cy="182880"/>
          </a:xfrm>
          <a:prstGeom prst="straightConnector1">
            <a:avLst/>
          </a:prstGeom>
          <a:noFill/>
          <a:ln cap="flat" cmpd="sng" w="19050">
            <a:solidFill>
              <a:srgbClr val="5C1414"/>
            </a:solidFill>
            <a:prstDash val="solid"/>
            <a:round/>
            <a:headEnd len="sm" w="sm" type="none"/>
            <a:tailEnd len="sm" w="sm" type="none"/>
          </a:ln>
        </p:spPr>
      </p:cxnSp>
      <p:cxnSp>
        <p:nvCxnSpPr>
          <p:cNvPr id="340" name="Google Shape;340;p5"/>
          <p:cNvCxnSpPr/>
          <p:nvPr/>
        </p:nvCxnSpPr>
        <p:spPr>
          <a:xfrm>
            <a:off x="11505895" y="6400800"/>
            <a:ext cx="182880" cy="0"/>
          </a:xfrm>
          <a:prstGeom prst="straightConnector1">
            <a:avLst/>
          </a:prstGeom>
          <a:noFill/>
          <a:ln cap="flat" cmpd="sng" w="19050">
            <a:solidFill>
              <a:srgbClr val="5C1414"/>
            </a:solidFill>
            <a:prstDash val="solid"/>
            <a:round/>
            <a:headEnd len="sm" w="sm" type="none"/>
            <a:tailEnd len="sm" w="sm" type="none"/>
          </a:ln>
        </p:spPr>
      </p:cxnSp>
      <p:cxnSp>
        <p:nvCxnSpPr>
          <p:cNvPr id="341" name="Google Shape;341;p5"/>
          <p:cNvCxnSpPr/>
          <p:nvPr/>
        </p:nvCxnSpPr>
        <p:spPr>
          <a:xfrm>
            <a:off x="11688775" y="6217920"/>
            <a:ext cx="0" cy="182880"/>
          </a:xfrm>
          <a:prstGeom prst="straightConnector1">
            <a:avLst/>
          </a:prstGeom>
          <a:noFill/>
          <a:ln cap="flat" cmpd="sng" w="19050">
            <a:solidFill>
              <a:srgbClr val="5C1414"/>
            </a:solidFill>
            <a:prstDash val="solid"/>
            <a:round/>
            <a:headEnd len="sm" w="sm" type="none"/>
            <a:tailEnd len="sm" w="sm" type="none"/>
          </a:ln>
        </p:spPr>
      </p:cxnSp>
      <p:sp>
        <p:nvSpPr>
          <p:cNvPr id="342" name="Google Shape;342;p5"/>
          <p:cNvSpPr/>
          <p:nvPr/>
        </p:nvSpPr>
        <p:spPr>
          <a:xfrm>
            <a:off x="8356397" y="2880360"/>
            <a:ext cx="3332378" cy="457200"/>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
          <p:cNvSpPr txBox="1"/>
          <p:nvPr/>
        </p:nvSpPr>
        <p:spPr>
          <a:xfrm>
            <a:off x="8356397" y="2880360"/>
            <a:ext cx="333237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Arial"/>
              <a:buNone/>
            </a:pPr>
            <a:r>
              <a:rPr b="1" lang="en-US" sz="1350">
                <a:solidFill>
                  <a:srgbClr val="FFFFFF"/>
                </a:solidFill>
                <a:latin typeface="Arial"/>
                <a:ea typeface="Arial"/>
                <a:cs typeface="Arial"/>
                <a:sym typeface="Arial"/>
              </a:rPr>
              <a:t>FIRE WEATHER</a:t>
            </a:r>
            <a:endParaRPr sz="1350">
              <a:solidFill>
                <a:schemeClr val="dk1"/>
              </a:solidFill>
              <a:latin typeface="Calibri"/>
              <a:ea typeface="Calibri"/>
              <a:cs typeface="Calibri"/>
              <a:sym typeface="Calibri"/>
            </a:endParaRPr>
          </a:p>
        </p:txBody>
      </p:sp>
      <p:sp>
        <p:nvSpPr>
          <p:cNvPr id="344" name="Google Shape;344;p5"/>
          <p:cNvSpPr txBox="1"/>
          <p:nvPr/>
        </p:nvSpPr>
        <p:spPr>
          <a:xfrm>
            <a:off x="8557565" y="3429000"/>
            <a:ext cx="914400" cy="701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Dryness Deficit</a:t>
            </a:r>
            <a:endParaRPr sz="970">
              <a:solidFill>
                <a:schemeClr val="dk1"/>
              </a:solidFill>
              <a:latin typeface="Calibri"/>
              <a:ea typeface="Calibri"/>
              <a:cs typeface="Calibri"/>
              <a:sym typeface="Calibri"/>
            </a:endParaRPr>
          </a:p>
        </p:txBody>
      </p:sp>
      <p:sp>
        <p:nvSpPr>
          <p:cNvPr id="345" name="Google Shape;345;p5"/>
          <p:cNvSpPr/>
          <p:nvPr/>
        </p:nvSpPr>
        <p:spPr>
          <a:xfrm>
            <a:off x="9563405" y="3673831"/>
            <a:ext cx="1457858" cy="201625"/>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
          <p:cNvSpPr/>
          <p:nvPr/>
        </p:nvSpPr>
        <p:spPr>
          <a:xfrm>
            <a:off x="9563405" y="3673831"/>
            <a:ext cx="437358" cy="201625"/>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
          <p:cNvSpPr txBox="1"/>
          <p:nvPr/>
        </p:nvSpPr>
        <p:spPr>
          <a:xfrm>
            <a:off x="11066983" y="3429000"/>
            <a:ext cx="457200" cy="701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30%</a:t>
            </a:r>
            <a:endParaRPr sz="950">
              <a:solidFill>
                <a:schemeClr val="dk1"/>
              </a:solidFill>
              <a:latin typeface="Calibri"/>
              <a:ea typeface="Calibri"/>
              <a:cs typeface="Calibri"/>
              <a:sym typeface="Calibri"/>
            </a:endParaRPr>
          </a:p>
        </p:txBody>
      </p:sp>
      <p:sp>
        <p:nvSpPr>
          <p:cNvPr id="348" name="Google Shape;348;p5"/>
          <p:cNvSpPr txBox="1"/>
          <p:nvPr/>
        </p:nvSpPr>
        <p:spPr>
          <a:xfrm>
            <a:off x="8557565" y="4149090"/>
            <a:ext cx="914400" cy="701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Temp &gt; 20°C</a:t>
            </a:r>
            <a:endParaRPr sz="970">
              <a:solidFill>
                <a:schemeClr val="dk1"/>
              </a:solidFill>
              <a:latin typeface="Calibri"/>
              <a:ea typeface="Calibri"/>
              <a:cs typeface="Calibri"/>
              <a:sym typeface="Calibri"/>
            </a:endParaRPr>
          </a:p>
        </p:txBody>
      </p:sp>
      <p:sp>
        <p:nvSpPr>
          <p:cNvPr id="349" name="Google Shape;349;p5"/>
          <p:cNvSpPr/>
          <p:nvPr/>
        </p:nvSpPr>
        <p:spPr>
          <a:xfrm>
            <a:off x="9563405" y="4393921"/>
            <a:ext cx="1457858" cy="201625"/>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
          <p:cNvSpPr/>
          <p:nvPr/>
        </p:nvSpPr>
        <p:spPr>
          <a:xfrm>
            <a:off x="9563405" y="4393921"/>
            <a:ext cx="364465" cy="201625"/>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
          <p:cNvSpPr txBox="1"/>
          <p:nvPr/>
        </p:nvSpPr>
        <p:spPr>
          <a:xfrm>
            <a:off x="11066983" y="4149090"/>
            <a:ext cx="457200" cy="701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25%</a:t>
            </a:r>
            <a:endParaRPr sz="950">
              <a:solidFill>
                <a:schemeClr val="dk1"/>
              </a:solidFill>
              <a:latin typeface="Calibri"/>
              <a:ea typeface="Calibri"/>
              <a:cs typeface="Calibri"/>
              <a:sym typeface="Calibri"/>
            </a:endParaRPr>
          </a:p>
        </p:txBody>
      </p:sp>
      <p:sp>
        <p:nvSpPr>
          <p:cNvPr id="352" name="Google Shape;352;p5"/>
          <p:cNvSpPr txBox="1"/>
          <p:nvPr/>
        </p:nvSpPr>
        <p:spPr>
          <a:xfrm>
            <a:off x="8557565" y="4869180"/>
            <a:ext cx="914400" cy="701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Wind Speed</a:t>
            </a:r>
            <a:endParaRPr sz="970">
              <a:solidFill>
                <a:schemeClr val="dk1"/>
              </a:solidFill>
              <a:latin typeface="Calibri"/>
              <a:ea typeface="Calibri"/>
              <a:cs typeface="Calibri"/>
              <a:sym typeface="Calibri"/>
            </a:endParaRPr>
          </a:p>
        </p:txBody>
      </p:sp>
      <p:sp>
        <p:nvSpPr>
          <p:cNvPr id="353" name="Google Shape;353;p5"/>
          <p:cNvSpPr/>
          <p:nvPr/>
        </p:nvSpPr>
        <p:spPr>
          <a:xfrm>
            <a:off x="9563405" y="5114011"/>
            <a:ext cx="1457858" cy="201625"/>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
          <p:cNvSpPr/>
          <p:nvPr/>
        </p:nvSpPr>
        <p:spPr>
          <a:xfrm>
            <a:off x="9563405" y="5114011"/>
            <a:ext cx="364465" cy="201625"/>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
          <p:cNvSpPr txBox="1"/>
          <p:nvPr/>
        </p:nvSpPr>
        <p:spPr>
          <a:xfrm>
            <a:off x="11066983" y="4869180"/>
            <a:ext cx="457200" cy="701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25%</a:t>
            </a:r>
            <a:endParaRPr sz="950">
              <a:solidFill>
                <a:schemeClr val="dk1"/>
              </a:solidFill>
              <a:latin typeface="Calibri"/>
              <a:ea typeface="Calibri"/>
              <a:cs typeface="Calibri"/>
              <a:sym typeface="Calibri"/>
            </a:endParaRPr>
          </a:p>
        </p:txBody>
      </p:sp>
      <p:sp>
        <p:nvSpPr>
          <p:cNvPr id="356" name="Google Shape;356;p5"/>
          <p:cNvSpPr txBox="1"/>
          <p:nvPr/>
        </p:nvSpPr>
        <p:spPr>
          <a:xfrm>
            <a:off x="8557565" y="5589270"/>
            <a:ext cx="914400" cy="701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970"/>
              <a:buFont typeface="Calibri"/>
              <a:buNone/>
            </a:pPr>
            <a:r>
              <a:rPr lang="en-US" sz="970">
                <a:solidFill>
                  <a:srgbClr val="F3E7E4"/>
                </a:solidFill>
                <a:latin typeface="Calibri"/>
                <a:ea typeface="Calibri"/>
                <a:cs typeface="Calibri"/>
                <a:sym typeface="Calibri"/>
              </a:rPr>
              <a:t>Nearby Hotspots</a:t>
            </a:r>
            <a:endParaRPr sz="970">
              <a:solidFill>
                <a:schemeClr val="dk1"/>
              </a:solidFill>
              <a:latin typeface="Calibri"/>
              <a:ea typeface="Calibri"/>
              <a:cs typeface="Calibri"/>
              <a:sym typeface="Calibri"/>
            </a:endParaRPr>
          </a:p>
        </p:txBody>
      </p:sp>
      <p:sp>
        <p:nvSpPr>
          <p:cNvPr id="357" name="Google Shape;357;p5"/>
          <p:cNvSpPr/>
          <p:nvPr/>
        </p:nvSpPr>
        <p:spPr>
          <a:xfrm>
            <a:off x="9563405" y="5834101"/>
            <a:ext cx="1457858" cy="201625"/>
          </a:xfrm>
          <a:prstGeom prst="rect">
            <a:avLst/>
          </a:prstGeom>
          <a:solidFill>
            <a:srgbClr val="3A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
          <p:cNvSpPr/>
          <p:nvPr/>
        </p:nvSpPr>
        <p:spPr>
          <a:xfrm>
            <a:off x="9563405" y="5834101"/>
            <a:ext cx="291572" cy="201625"/>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
          <p:cNvSpPr txBox="1"/>
          <p:nvPr/>
        </p:nvSpPr>
        <p:spPr>
          <a:xfrm>
            <a:off x="11066983" y="5589270"/>
            <a:ext cx="457200" cy="701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950"/>
              <a:buFont typeface="Courier New"/>
              <a:buNone/>
            </a:pPr>
            <a:r>
              <a:rPr b="1" lang="en-US" sz="950">
                <a:solidFill>
                  <a:srgbClr val="C7A19C"/>
                </a:solidFill>
                <a:latin typeface="Courier New"/>
                <a:ea typeface="Courier New"/>
                <a:cs typeface="Courier New"/>
                <a:sym typeface="Courier New"/>
              </a:rPr>
              <a:t>20%</a:t>
            </a:r>
            <a:endParaRPr sz="9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364" name="Shape 364"/>
        <p:cNvGrpSpPr/>
        <p:nvPr/>
      </p:nvGrpSpPr>
      <p:grpSpPr>
        <a:xfrm>
          <a:off x="0" y="0"/>
          <a:ext cx="0" cy="0"/>
          <a:chOff x="0" y="0"/>
          <a:chExt cx="0" cy="0"/>
        </a:xfrm>
      </p:grpSpPr>
      <p:sp>
        <p:nvSpPr>
          <p:cNvPr id="365" name="Google Shape;365;p6"/>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6" name="Google Shape;366;p6"/>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367" name="Google Shape;367;p6"/>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368" name="Google Shape;368;p6"/>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06</a:t>
            </a:r>
            <a:endParaRPr sz="2200">
              <a:solidFill>
                <a:schemeClr val="dk1"/>
              </a:solidFill>
              <a:latin typeface="Calibri"/>
              <a:ea typeface="Calibri"/>
              <a:cs typeface="Calibri"/>
              <a:sym typeface="Calibri"/>
            </a:endParaRPr>
          </a:p>
        </p:txBody>
      </p:sp>
      <p:sp>
        <p:nvSpPr>
          <p:cNvPr id="369" name="Google Shape;369;p6"/>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370" name="Google Shape;370;p6"/>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6"/>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6"/>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6"/>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6"/>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6"/>
          <p:cNvSpPr txBox="1"/>
          <p:nvPr/>
        </p:nvSpPr>
        <p:spPr>
          <a:xfrm>
            <a:off x="1234440" y="502920"/>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OPERATIONAL FEATURES</a:t>
            </a:r>
            <a:endParaRPr sz="1100">
              <a:solidFill>
                <a:schemeClr val="dk1"/>
              </a:solidFill>
              <a:latin typeface="Calibri"/>
              <a:ea typeface="Calibri"/>
              <a:cs typeface="Calibri"/>
              <a:sym typeface="Calibri"/>
            </a:endParaRPr>
          </a:p>
        </p:txBody>
      </p:sp>
      <p:sp>
        <p:nvSpPr>
          <p:cNvPr id="376" name="Google Shape;376;p6"/>
          <p:cNvSpPr txBox="1"/>
          <p:nvPr/>
        </p:nvSpPr>
        <p:spPr>
          <a:xfrm>
            <a:off x="1234440" y="804672"/>
            <a:ext cx="1045433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2700"/>
              <a:buFont typeface="Arial"/>
              <a:buNone/>
            </a:pPr>
            <a:r>
              <a:rPr b="1" lang="en-US" sz="2700">
                <a:solidFill>
                  <a:srgbClr val="F3E7E4"/>
                </a:solidFill>
                <a:latin typeface="Arial"/>
                <a:ea typeface="Arial"/>
                <a:cs typeface="Arial"/>
                <a:sym typeface="Arial"/>
              </a:rPr>
              <a:t>COMMAND CENTER: BUILT FOR FAST TRIAGE</a:t>
            </a:r>
            <a:endParaRPr sz="2700">
              <a:solidFill>
                <a:schemeClr val="dk1"/>
              </a:solidFill>
              <a:latin typeface="Calibri"/>
              <a:ea typeface="Calibri"/>
              <a:cs typeface="Calibri"/>
              <a:sym typeface="Calibri"/>
            </a:endParaRPr>
          </a:p>
        </p:txBody>
      </p:sp>
      <p:cxnSp>
        <p:nvCxnSpPr>
          <p:cNvPr id="377" name="Google Shape;377;p6"/>
          <p:cNvCxnSpPr/>
          <p:nvPr/>
        </p:nvCxnSpPr>
        <p:spPr>
          <a:xfrm>
            <a:off x="1234440" y="1463040"/>
            <a:ext cx="10454335" cy="0"/>
          </a:xfrm>
          <a:prstGeom prst="straightConnector1">
            <a:avLst/>
          </a:prstGeom>
          <a:noFill/>
          <a:ln cap="flat" cmpd="sng" w="12700">
            <a:solidFill>
              <a:srgbClr val="45201D"/>
            </a:solidFill>
            <a:prstDash val="solid"/>
            <a:round/>
            <a:headEnd len="sm" w="sm" type="none"/>
            <a:tailEnd len="sm" w="sm" type="none"/>
          </a:ln>
        </p:spPr>
      </p:cxnSp>
      <p:sp>
        <p:nvSpPr>
          <p:cNvPr id="378" name="Google Shape;378;p6"/>
          <p:cNvSpPr/>
          <p:nvPr/>
        </p:nvSpPr>
        <p:spPr>
          <a:xfrm>
            <a:off x="1234440" y="1737360"/>
            <a:ext cx="3332378" cy="2148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9" name="Google Shape;379;p6"/>
          <p:cNvCxnSpPr/>
          <p:nvPr/>
        </p:nvCxnSpPr>
        <p:spPr>
          <a:xfrm>
            <a:off x="1234440" y="1737360"/>
            <a:ext cx="146304" cy="0"/>
          </a:xfrm>
          <a:prstGeom prst="straightConnector1">
            <a:avLst/>
          </a:prstGeom>
          <a:noFill/>
          <a:ln cap="flat" cmpd="sng" w="19050">
            <a:solidFill>
              <a:srgbClr val="B3271D"/>
            </a:solidFill>
            <a:prstDash val="solid"/>
            <a:round/>
            <a:headEnd len="sm" w="sm" type="none"/>
            <a:tailEnd len="sm" w="sm" type="none"/>
          </a:ln>
        </p:spPr>
      </p:cxnSp>
      <p:cxnSp>
        <p:nvCxnSpPr>
          <p:cNvPr id="380" name="Google Shape;380;p6"/>
          <p:cNvCxnSpPr/>
          <p:nvPr/>
        </p:nvCxnSpPr>
        <p:spPr>
          <a:xfrm>
            <a:off x="1234440" y="1737360"/>
            <a:ext cx="0" cy="146304"/>
          </a:xfrm>
          <a:prstGeom prst="straightConnector1">
            <a:avLst/>
          </a:prstGeom>
          <a:noFill/>
          <a:ln cap="flat" cmpd="sng" w="19050">
            <a:solidFill>
              <a:srgbClr val="B3271D"/>
            </a:solidFill>
            <a:prstDash val="solid"/>
            <a:round/>
            <a:headEnd len="sm" w="sm" type="none"/>
            <a:tailEnd len="sm" w="sm" type="none"/>
          </a:ln>
        </p:spPr>
      </p:cxnSp>
      <p:cxnSp>
        <p:nvCxnSpPr>
          <p:cNvPr id="381" name="Google Shape;381;p6"/>
          <p:cNvCxnSpPr/>
          <p:nvPr/>
        </p:nvCxnSpPr>
        <p:spPr>
          <a:xfrm>
            <a:off x="4420514" y="3886200"/>
            <a:ext cx="146304" cy="0"/>
          </a:xfrm>
          <a:prstGeom prst="straightConnector1">
            <a:avLst/>
          </a:prstGeom>
          <a:noFill/>
          <a:ln cap="flat" cmpd="sng" w="19050">
            <a:solidFill>
              <a:srgbClr val="B3271D"/>
            </a:solidFill>
            <a:prstDash val="solid"/>
            <a:round/>
            <a:headEnd len="sm" w="sm" type="none"/>
            <a:tailEnd len="sm" w="sm" type="none"/>
          </a:ln>
        </p:spPr>
      </p:cxnSp>
      <p:cxnSp>
        <p:nvCxnSpPr>
          <p:cNvPr id="382" name="Google Shape;382;p6"/>
          <p:cNvCxnSpPr/>
          <p:nvPr/>
        </p:nvCxnSpPr>
        <p:spPr>
          <a:xfrm>
            <a:off x="4566818" y="3739896"/>
            <a:ext cx="0" cy="146304"/>
          </a:xfrm>
          <a:prstGeom prst="straightConnector1">
            <a:avLst/>
          </a:prstGeom>
          <a:noFill/>
          <a:ln cap="flat" cmpd="sng" w="19050">
            <a:solidFill>
              <a:srgbClr val="B3271D"/>
            </a:solidFill>
            <a:prstDash val="solid"/>
            <a:round/>
            <a:headEnd len="sm" w="sm" type="none"/>
            <a:tailEnd len="sm" w="sm" type="none"/>
          </a:ln>
        </p:spPr>
      </p:cxnSp>
      <p:sp>
        <p:nvSpPr>
          <p:cNvPr id="383" name="Google Shape;383;p6"/>
          <p:cNvSpPr txBox="1"/>
          <p:nvPr/>
        </p:nvSpPr>
        <p:spPr>
          <a:xfrm>
            <a:off x="3972458" y="1828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050"/>
              <a:buFont typeface="Courier New"/>
              <a:buNone/>
            </a:pPr>
            <a:r>
              <a:rPr b="1" lang="en-US" sz="1050">
                <a:solidFill>
                  <a:srgbClr val="45201D"/>
                </a:solidFill>
                <a:latin typeface="Courier New"/>
                <a:ea typeface="Courier New"/>
                <a:cs typeface="Courier New"/>
                <a:sym typeface="Courier New"/>
              </a:rPr>
              <a:t>01</a:t>
            </a:r>
            <a:endParaRPr sz="1050">
              <a:solidFill>
                <a:schemeClr val="dk1"/>
              </a:solidFill>
              <a:latin typeface="Calibri"/>
              <a:ea typeface="Calibri"/>
              <a:cs typeface="Calibri"/>
              <a:sym typeface="Calibri"/>
            </a:endParaRPr>
          </a:p>
        </p:txBody>
      </p:sp>
      <p:sp>
        <p:nvSpPr>
          <p:cNvPr id="384" name="Google Shape;384;p6"/>
          <p:cNvSpPr/>
          <p:nvPr/>
        </p:nvSpPr>
        <p:spPr>
          <a:xfrm>
            <a:off x="1417320" y="1920240"/>
            <a:ext cx="438912" cy="438912"/>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6"/>
          <p:cNvSpPr txBox="1"/>
          <p:nvPr/>
        </p:nvSpPr>
        <p:spPr>
          <a:xfrm>
            <a:off x="1417320" y="1920240"/>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386" name="Google Shape;386;p6"/>
          <p:cNvSpPr txBox="1"/>
          <p:nvPr/>
        </p:nvSpPr>
        <p:spPr>
          <a:xfrm>
            <a:off x="1947672" y="1874520"/>
            <a:ext cx="2052218"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1200"/>
              <a:buFont typeface="Arial"/>
              <a:buNone/>
            </a:pPr>
            <a:r>
              <a:rPr b="1" lang="en-US" sz="1200">
                <a:solidFill>
                  <a:srgbClr val="F3E7E4"/>
                </a:solidFill>
                <a:latin typeface="Arial"/>
                <a:ea typeface="Arial"/>
                <a:cs typeface="Arial"/>
                <a:sym typeface="Arial"/>
              </a:rPr>
              <a:t>Interactive Leaflet Cartography</a:t>
            </a:r>
            <a:endParaRPr sz="1200">
              <a:solidFill>
                <a:schemeClr val="dk1"/>
              </a:solidFill>
              <a:latin typeface="Calibri"/>
              <a:ea typeface="Calibri"/>
              <a:cs typeface="Calibri"/>
              <a:sym typeface="Calibri"/>
            </a:endParaRPr>
          </a:p>
        </p:txBody>
      </p:sp>
      <p:sp>
        <p:nvSpPr>
          <p:cNvPr id="387" name="Google Shape;387;p6"/>
          <p:cNvSpPr txBox="1"/>
          <p:nvPr/>
        </p:nvSpPr>
        <p:spPr>
          <a:xfrm>
            <a:off x="1417320" y="2633472"/>
            <a:ext cx="2966618"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050"/>
              <a:buFont typeface="Calibri"/>
              <a:buNone/>
            </a:pPr>
            <a:r>
              <a:rPr lang="en-US" sz="1050">
                <a:solidFill>
                  <a:srgbClr val="C7A19C"/>
                </a:solidFill>
                <a:latin typeface="Calibri"/>
                <a:ea typeface="Calibri"/>
                <a:cs typeface="Calibri"/>
                <a:sym typeface="Calibri"/>
              </a:rPr>
              <a:t>Real-time Kerala map with layer toggles for floods, landslides, satellite hotspots, IoT nodes, and shelters.</a:t>
            </a:r>
            <a:endParaRPr sz="1050">
              <a:solidFill>
                <a:schemeClr val="dk1"/>
              </a:solidFill>
              <a:latin typeface="Calibri"/>
              <a:ea typeface="Calibri"/>
              <a:cs typeface="Calibri"/>
              <a:sym typeface="Calibri"/>
            </a:endParaRPr>
          </a:p>
        </p:txBody>
      </p:sp>
      <p:sp>
        <p:nvSpPr>
          <p:cNvPr id="388" name="Google Shape;388;p6"/>
          <p:cNvSpPr/>
          <p:nvPr/>
        </p:nvSpPr>
        <p:spPr>
          <a:xfrm>
            <a:off x="4795418" y="1737360"/>
            <a:ext cx="3332378" cy="2148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9" name="Google Shape;389;p6"/>
          <p:cNvCxnSpPr/>
          <p:nvPr/>
        </p:nvCxnSpPr>
        <p:spPr>
          <a:xfrm>
            <a:off x="4795418" y="1737360"/>
            <a:ext cx="146304" cy="0"/>
          </a:xfrm>
          <a:prstGeom prst="straightConnector1">
            <a:avLst/>
          </a:prstGeom>
          <a:noFill/>
          <a:ln cap="flat" cmpd="sng" w="19050">
            <a:solidFill>
              <a:srgbClr val="C4841F"/>
            </a:solidFill>
            <a:prstDash val="solid"/>
            <a:round/>
            <a:headEnd len="sm" w="sm" type="none"/>
            <a:tailEnd len="sm" w="sm" type="none"/>
          </a:ln>
        </p:spPr>
      </p:cxnSp>
      <p:cxnSp>
        <p:nvCxnSpPr>
          <p:cNvPr id="390" name="Google Shape;390;p6"/>
          <p:cNvCxnSpPr/>
          <p:nvPr/>
        </p:nvCxnSpPr>
        <p:spPr>
          <a:xfrm>
            <a:off x="4795418" y="1737360"/>
            <a:ext cx="0" cy="146304"/>
          </a:xfrm>
          <a:prstGeom prst="straightConnector1">
            <a:avLst/>
          </a:prstGeom>
          <a:noFill/>
          <a:ln cap="flat" cmpd="sng" w="19050">
            <a:solidFill>
              <a:srgbClr val="C4841F"/>
            </a:solidFill>
            <a:prstDash val="solid"/>
            <a:round/>
            <a:headEnd len="sm" w="sm" type="none"/>
            <a:tailEnd len="sm" w="sm" type="none"/>
          </a:ln>
        </p:spPr>
      </p:cxnSp>
      <p:cxnSp>
        <p:nvCxnSpPr>
          <p:cNvPr id="391" name="Google Shape;391;p6"/>
          <p:cNvCxnSpPr/>
          <p:nvPr/>
        </p:nvCxnSpPr>
        <p:spPr>
          <a:xfrm>
            <a:off x="7981493" y="3886200"/>
            <a:ext cx="146304" cy="0"/>
          </a:xfrm>
          <a:prstGeom prst="straightConnector1">
            <a:avLst/>
          </a:prstGeom>
          <a:noFill/>
          <a:ln cap="flat" cmpd="sng" w="19050">
            <a:solidFill>
              <a:srgbClr val="C4841F"/>
            </a:solidFill>
            <a:prstDash val="solid"/>
            <a:round/>
            <a:headEnd len="sm" w="sm" type="none"/>
            <a:tailEnd len="sm" w="sm" type="none"/>
          </a:ln>
        </p:spPr>
      </p:cxnSp>
      <p:cxnSp>
        <p:nvCxnSpPr>
          <p:cNvPr id="392" name="Google Shape;392;p6"/>
          <p:cNvCxnSpPr/>
          <p:nvPr/>
        </p:nvCxnSpPr>
        <p:spPr>
          <a:xfrm>
            <a:off x="8127797" y="3739896"/>
            <a:ext cx="0" cy="146304"/>
          </a:xfrm>
          <a:prstGeom prst="straightConnector1">
            <a:avLst/>
          </a:prstGeom>
          <a:noFill/>
          <a:ln cap="flat" cmpd="sng" w="19050">
            <a:solidFill>
              <a:srgbClr val="C4841F"/>
            </a:solidFill>
            <a:prstDash val="solid"/>
            <a:round/>
            <a:headEnd len="sm" w="sm" type="none"/>
            <a:tailEnd len="sm" w="sm" type="none"/>
          </a:ln>
        </p:spPr>
      </p:cxnSp>
      <p:sp>
        <p:nvSpPr>
          <p:cNvPr id="393" name="Google Shape;393;p6"/>
          <p:cNvSpPr txBox="1"/>
          <p:nvPr/>
        </p:nvSpPr>
        <p:spPr>
          <a:xfrm>
            <a:off x="7533437" y="1828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050"/>
              <a:buFont typeface="Courier New"/>
              <a:buNone/>
            </a:pPr>
            <a:r>
              <a:rPr b="1" lang="en-US" sz="1050">
                <a:solidFill>
                  <a:srgbClr val="45201D"/>
                </a:solidFill>
                <a:latin typeface="Courier New"/>
                <a:ea typeface="Courier New"/>
                <a:cs typeface="Courier New"/>
                <a:sym typeface="Courier New"/>
              </a:rPr>
              <a:t>02</a:t>
            </a:r>
            <a:endParaRPr sz="1050">
              <a:solidFill>
                <a:schemeClr val="dk1"/>
              </a:solidFill>
              <a:latin typeface="Calibri"/>
              <a:ea typeface="Calibri"/>
              <a:cs typeface="Calibri"/>
              <a:sym typeface="Calibri"/>
            </a:endParaRPr>
          </a:p>
        </p:txBody>
      </p:sp>
      <p:sp>
        <p:nvSpPr>
          <p:cNvPr id="394" name="Google Shape;394;p6"/>
          <p:cNvSpPr/>
          <p:nvPr/>
        </p:nvSpPr>
        <p:spPr>
          <a:xfrm>
            <a:off x="4978298" y="1920240"/>
            <a:ext cx="438912" cy="438912"/>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6"/>
          <p:cNvSpPr txBox="1"/>
          <p:nvPr/>
        </p:nvSpPr>
        <p:spPr>
          <a:xfrm>
            <a:off x="4978298" y="1920240"/>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396" name="Google Shape;396;p6"/>
          <p:cNvSpPr txBox="1"/>
          <p:nvPr/>
        </p:nvSpPr>
        <p:spPr>
          <a:xfrm>
            <a:off x="5508650" y="1874520"/>
            <a:ext cx="2052218"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1200"/>
              <a:buFont typeface="Arial"/>
              <a:buNone/>
            </a:pPr>
            <a:r>
              <a:rPr b="1" lang="en-US" sz="1200">
                <a:solidFill>
                  <a:srgbClr val="F3E7E4"/>
                </a:solidFill>
                <a:latin typeface="Arial"/>
                <a:ea typeface="Arial"/>
                <a:cs typeface="Arial"/>
                <a:sym typeface="Arial"/>
              </a:rPr>
              <a:t>48h Rainfall &amp; Hydrology Outlook</a:t>
            </a:r>
            <a:endParaRPr sz="1200">
              <a:solidFill>
                <a:schemeClr val="dk1"/>
              </a:solidFill>
              <a:latin typeface="Calibri"/>
              <a:ea typeface="Calibri"/>
              <a:cs typeface="Calibri"/>
              <a:sym typeface="Calibri"/>
            </a:endParaRPr>
          </a:p>
        </p:txBody>
      </p:sp>
      <p:sp>
        <p:nvSpPr>
          <p:cNvPr id="397" name="Google Shape;397;p6"/>
          <p:cNvSpPr txBox="1"/>
          <p:nvPr/>
        </p:nvSpPr>
        <p:spPr>
          <a:xfrm>
            <a:off x="4978298" y="2633472"/>
            <a:ext cx="2966618"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050"/>
              <a:buFont typeface="Calibri"/>
              <a:buNone/>
            </a:pPr>
            <a:r>
              <a:rPr lang="en-US" sz="1050">
                <a:solidFill>
                  <a:srgbClr val="C7A19C"/>
                </a:solidFill>
                <a:latin typeface="Calibri"/>
                <a:ea typeface="Calibri"/>
                <a:cs typeface="Calibri"/>
                <a:sym typeface="Calibri"/>
              </a:rPr>
              <a:t>Dual-horizon area chart showing past 24h observed rainfall alongside the 24h forecast.</a:t>
            </a:r>
            <a:endParaRPr sz="1050">
              <a:solidFill>
                <a:schemeClr val="dk1"/>
              </a:solidFill>
              <a:latin typeface="Calibri"/>
              <a:ea typeface="Calibri"/>
              <a:cs typeface="Calibri"/>
              <a:sym typeface="Calibri"/>
            </a:endParaRPr>
          </a:p>
        </p:txBody>
      </p:sp>
      <p:sp>
        <p:nvSpPr>
          <p:cNvPr id="398" name="Google Shape;398;p6"/>
          <p:cNvSpPr/>
          <p:nvPr/>
        </p:nvSpPr>
        <p:spPr>
          <a:xfrm>
            <a:off x="8356397" y="1737360"/>
            <a:ext cx="3332378" cy="2148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9" name="Google Shape;399;p6"/>
          <p:cNvCxnSpPr/>
          <p:nvPr/>
        </p:nvCxnSpPr>
        <p:spPr>
          <a:xfrm>
            <a:off x="8356397" y="1737360"/>
            <a:ext cx="146304" cy="0"/>
          </a:xfrm>
          <a:prstGeom prst="straightConnector1">
            <a:avLst/>
          </a:prstGeom>
          <a:noFill/>
          <a:ln cap="flat" cmpd="sng" w="19050">
            <a:solidFill>
              <a:srgbClr val="5C1414"/>
            </a:solidFill>
            <a:prstDash val="solid"/>
            <a:round/>
            <a:headEnd len="sm" w="sm" type="none"/>
            <a:tailEnd len="sm" w="sm" type="none"/>
          </a:ln>
        </p:spPr>
      </p:cxnSp>
      <p:cxnSp>
        <p:nvCxnSpPr>
          <p:cNvPr id="400" name="Google Shape;400;p6"/>
          <p:cNvCxnSpPr/>
          <p:nvPr/>
        </p:nvCxnSpPr>
        <p:spPr>
          <a:xfrm>
            <a:off x="8356397" y="1737360"/>
            <a:ext cx="0" cy="146304"/>
          </a:xfrm>
          <a:prstGeom prst="straightConnector1">
            <a:avLst/>
          </a:prstGeom>
          <a:noFill/>
          <a:ln cap="flat" cmpd="sng" w="19050">
            <a:solidFill>
              <a:srgbClr val="5C1414"/>
            </a:solidFill>
            <a:prstDash val="solid"/>
            <a:round/>
            <a:headEnd len="sm" w="sm" type="none"/>
            <a:tailEnd len="sm" w="sm" type="none"/>
          </a:ln>
        </p:spPr>
      </p:cxnSp>
      <p:cxnSp>
        <p:nvCxnSpPr>
          <p:cNvPr id="401" name="Google Shape;401;p6"/>
          <p:cNvCxnSpPr/>
          <p:nvPr/>
        </p:nvCxnSpPr>
        <p:spPr>
          <a:xfrm>
            <a:off x="11542471" y="3886200"/>
            <a:ext cx="146304" cy="0"/>
          </a:xfrm>
          <a:prstGeom prst="straightConnector1">
            <a:avLst/>
          </a:prstGeom>
          <a:noFill/>
          <a:ln cap="flat" cmpd="sng" w="19050">
            <a:solidFill>
              <a:srgbClr val="5C1414"/>
            </a:solidFill>
            <a:prstDash val="solid"/>
            <a:round/>
            <a:headEnd len="sm" w="sm" type="none"/>
            <a:tailEnd len="sm" w="sm" type="none"/>
          </a:ln>
        </p:spPr>
      </p:cxnSp>
      <p:cxnSp>
        <p:nvCxnSpPr>
          <p:cNvPr id="402" name="Google Shape;402;p6"/>
          <p:cNvCxnSpPr/>
          <p:nvPr/>
        </p:nvCxnSpPr>
        <p:spPr>
          <a:xfrm>
            <a:off x="11688775" y="3739896"/>
            <a:ext cx="0" cy="146304"/>
          </a:xfrm>
          <a:prstGeom prst="straightConnector1">
            <a:avLst/>
          </a:prstGeom>
          <a:noFill/>
          <a:ln cap="flat" cmpd="sng" w="19050">
            <a:solidFill>
              <a:srgbClr val="5C1414"/>
            </a:solidFill>
            <a:prstDash val="solid"/>
            <a:round/>
            <a:headEnd len="sm" w="sm" type="none"/>
            <a:tailEnd len="sm" w="sm" type="none"/>
          </a:ln>
        </p:spPr>
      </p:cxnSp>
      <p:sp>
        <p:nvSpPr>
          <p:cNvPr id="403" name="Google Shape;403;p6"/>
          <p:cNvSpPr txBox="1"/>
          <p:nvPr/>
        </p:nvSpPr>
        <p:spPr>
          <a:xfrm>
            <a:off x="11094415" y="1828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050"/>
              <a:buFont typeface="Courier New"/>
              <a:buNone/>
            </a:pPr>
            <a:r>
              <a:rPr b="1" lang="en-US" sz="1050">
                <a:solidFill>
                  <a:srgbClr val="45201D"/>
                </a:solidFill>
                <a:latin typeface="Courier New"/>
                <a:ea typeface="Courier New"/>
                <a:cs typeface="Courier New"/>
                <a:sym typeface="Courier New"/>
              </a:rPr>
              <a:t>03</a:t>
            </a:r>
            <a:endParaRPr sz="1050">
              <a:solidFill>
                <a:schemeClr val="dk1"/>
              </a:solidFill>
              <a:latin typeface="Calibri"/>
              <a:ea typeface="Calibri"/>
              <a:cs typeface="Calibri"/>
              <a:sym typeface="Calibri"/>
            </a:endParaRPr>
          </a:p>
        </p:txBody>
      </p:sp>
      <p:sp>
        <p:nvSpPr>
          <p:cNvPr id="404" name="Google Shape;404;p6"/>
          <p:cNvSpPr/>
          <p:nvPr/>
        </p:nvSpPr>
        <p:spPr>
          <a:xfrm>
            <a:off x="8539277" y="1920240"/>
            <a:ext cx="438912" cy="438912"/>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6"/>
          <p:cNvSpPr txBox="1"/>
          <p:nvPr/>
        </p:nvSpPr>
        <p:spPr>
          <a:xfrm>
            <a:off x="8539277" y="1920240"/>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406" name="Google Shape;406;p6"/>
          <p:cNvSpPr txBox="1"/>
          <p:nvPr/>
        </p:nvSpPr>
        <p:spPr>
          <a:xfrm>
            <a:off x="9069629" y="1874520"/>
            <a:ext cx="2052218"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1200"/>
              <a:buFont typeface="Arial"/>
              <a:buNone/>
            </a:pPr>
            <a:r>
              <a:rPr b="1" lang="en-US" sz="1200">
                <a:solidFill>
                  <a:srgbClr val="F3E7E4"/>
                </a:solidFill>
                <a:latin typeface="Arial"/>
                <a:ea typeface="Arial"/>
                <a:cs typeface="Arial"/>
                <a:sym typeface="Arial"/>
              </a:rPr>
              <a:t>Explain Risk Drilldowns</a:t>
            </a:r>
            <a:endParaRPr sz="1200">
              <a:solidFill>
                <a:schemeClr val="dk1"/>
              </a:solidFill>
              <a:latin typeface="Calibri"/>
              <a:ea typeface="Calibri"/>
              <a:cs typeface="Calibri"/>
              <a:sym typeface="Calibri"/>
            </a:endParaRPr>
          </a:p>
        </p:txBody>
      </p:sp>
      <p:sp>
        <p:nvSpPr>
          <p:cNvPr id="407" name="Google Shape;407;p6"/>
          <p:cNvSpPr txBox="1"/>
          <p:nvPr/>
        </p:nvSpPr>
        <p:spPr>
          <a:xfrm>
            <a:off x="8539277" y="2633472"/>
            <a:ext cx="2966618"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050"/>
              <a:buFont typeface="Calibri"/>
              <a:buNone/>
            </a:pPr>
            <a:r>
              <a:rPr lang="en-US" sz="1050">
                <a:solidFill>
                  <a:srgbClr val="C7A19C"/>
                </a:solidFill>
                <a:latin typeface="Calibri"/>
                <a:ea typeface="Calibri"/>
                <a:cs typeface="Calibri"/>
                <a:sym typeface="Calibri"/>
              </a:rPr>
              <a:t>Interactive modal displaying exact factor values, thresholds, and mathematical point contributions.</a:t>
            </a:r>
            <a:endParaRPr sz="1050">
              <a:solidFill>
                <a:schemeClr val="dk1"/>
              </a:solidFill>
              <a:latin typeface="Calibri"/>
              <a:ea typeface="Calibri"/>
              <a:cs typeface="Calibri"/>
              <a:sym typeface="Calibri"/>
            </a:endParaRPr>
          </a:p>
        </p:txBody>
      </p:sp>
      <p:sp>
        <p:nvSpPr>
          <p:cNvPr id="408" name="Google Shape;408;p6"/>
          <p:cNvSpPr/>
          <p:nvPr/>
        </p:nvSpPr>
        <p:spPr>
          <a:xfrm>
            <a:off x="1234440" y="4069080"/>
            <a:ext cx="3332378" cy="2148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9" name="Google Shape;409;p6"/>
          <p:cNvCxnSpPr/>
          <p:nvPr/>
        </p:nvCxnSpPr>
        <p:spPr>
          <a:xfrm>
            <a:off x="1234440" y="4069080"/>
            <a:ext cx="146304" cy="0"/>
          </a:xfrm>
          <a:prstGeom prst="straightConnector1">
            <a:avLst/>
          </a:prstGeom>
          <a:noFill/>
          <a:ln cap="flat" cmpd="sng" w="19050">
            <a:solidFill>
              <a:srgbClr val="D14A2E"/>
            </a:solidFill>
            <a:prstDash val="solid"/>
            <a:round/>
            <a:headEnd len="sm" w="sm" type="none"/>
            <a:tailEnd len="sm" w="sm" type="none"/>
          </a:ln>
        </p:spPr>
      </p:cxnSp>
      <p:cxnSp>
        <p:nvCxnSpPr>
          <p:cNvPr id="410" name="Google Shape;410;p6"/>
          <p:cNvCxnSpPr/>
          <p:nvPr/>
        </p:nvCxnSpPr>
        <p:spPr>
          <a:xfrm>
            <a:off x="1234440" y="4069080"/>
            <a:ext cx="0" cy="146304"/>
          </a:xfrm>
          <a:prstGeom prst="straightConnector1">
            <a:avLst/>
          </a:prstGeom>
          <a:noFill/>
          <a:ln cap="flat" cmpd="sng" w="19050">
            <a:solidFill>
              <a:srgbClr val="D14A2E"/>
            </a:solidFill>
            <a:prstDash val="solid"/>
            <a:round/>
            <a:headEnd len="sm" w="sm" type="none"/>
            <a:tailEnd len="sm" w="sm" type="none"/>
          </a:ln>
        </p:spPr>
      </p:cxnSp>
      <p:cxnSp>
        <p:nvCxnSpPr>
          <p:cNvPr id="411" name="Google Shape;411;p6"/>
          <p:cNvCxnSpPr/>
          <p:nvPr/>
        </p:nvCxnSpPr>
        <p:spPr>
          <a:xfrm>
            <a:off x="4420514" y="6217920"/>
            <a:ext cx="146304" cy="0"/>
          </a:xfrm>
          <a:prstGeom prst="straightConnector1">
            <a:avLst/>
          </a:prstGeom>
          <a:noFill/>
          <a:ln cap="flat" cmpd="sng" w="19050">
            <a:solidFill>
              <a:srgbClr val="D14A2E"/>
            </a:solidFill>
            <a:prstDash val="solid"/>
            <a:round/>
            <a:headEnd len="sm" w="sm" type="none"/>
            <a:tailEnd len="sm" w="sm" type="none"/>
          </a:ln>
        </p:spPr>
      </p:cxnSp>
      <p:cxnSp>
        <p:nvCxnSpPr>
          <p:cNvPr id="412" name="Google Shape;412;p6"/>
          <p:cNvCxnSpPr/>
          <p:nvPr/>
        </p:nvCxnSpPr>
        <p:spPr>
          <a:xfrm>
            <a:off x="4566818" y="6071616"/>
            <a:ext cx="0" cy="146304"/>
          </a:xfrm>
          <a:prstGeom prst="straightConnector1">
            <a:avLst/>
          </a:prstGeom>
          <a:noFill/>
          <a:ln cap="flat" cmpd="sng" w="19050">
            <a:solidFill>
              <a:srgbClr val="D14A2E"/>
            </a:solidFill>
            <a:prstDash val="solid"/>
            <a:round/>
            <a:headEnd len="sm" w="sm" type="none"/>
            <a:tailEnd len="sm" w="sm" type="none"/>
          </a:ln>
        </p:spPr>
      </p:cxnSp>
      <p:sp>
        <p:nvSpPr>
          <p:cNvPr id="413" name="Google Shape;413;p6"/>
          <p:cNvSpPr txBox="1"/>
          <p:nvPr/>
        </p:nvSpPr>
        <p:spPr>
          <a:xfrm>
            <a:off x="3972458" y="4160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050"/>
              <a:buFont typeface="Courier New"/>
              <a:buNone/>
            </a:pPr>
            <a:r>
              <a:rPr b="1" lang="en-US" sz="1050">
                <a:solidFill>
                  <a:srgbClr val="45201D"/>
                </a:solidFill>
                <a:latin typeface="Courier New"/>
                <a:ea typeface="Courier New"/>
                <a:cs typeface="Courier New"/>
                <a:sym typeface="Courier New"/>
              </a:rPr>
              <a:t>04</a:t>
            </a:r>
            <a:endParaRPr sz="1050">
              <a:solidFill>
                <a:schemeClr val="dk1"/>
              </a:solidFill>
              <a:latin typeface="Calibri"/>
              <a:ea typeface="Calibri"/>
              <a:cs typeface="Calibri"/>
              <a:sym typeface="Calibri"/>
            </a:endParaRPr>
          </a:p>
        </p:txBody>
      </p:sp>
      <p:sp>
        <p:nvSpPr>
          <p:cNvPr id="414" name="Google Shape;414;p6"/>
          <p:cNvSpPr/>
          <p:nvPr/>
        </p:nvSpPr>
        <p:spPr>
          <a:xfrm>
            <a:off x="1417320" y="4251960"/>
            <a:ext cx="438912" cy="438912"/>
          </a:xfrm>
          <a:prstGeom prst="rect">
            <a:avLst/>
          </a:prstGeom>
          <a:solidFill>
            <a:srgbClr val="D14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6"/>
          <p:cNvSpPr txBox="1"/>
          <p:nvPr/>
        </p:nvSpPr>
        <p:spPr>
          <a:xfrm>
            <a:off x="1417320" y="4251960"/>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416" name="Google Shape;416;p6"/>
          <p:cNvSpPr txBox="1"/>
          <p:nvPr/>
        </p:nvSpPr>
        <p:spPr>
          <a:xfrm>
            <a:off x="1947672" y="4206240"/>
            <a:ext cx="2052218"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1200"/>
              <a:buFont typeface="Arial"/>
              <a:buNone/>
            </a:pPr>
            <a:r>
              <a:rPr b="1" lang="en-US" sz="1200">
                <a:solidFill>
                  <a:srgbClr val="F3E7E4"/>
                </a:solidFill>
                <a:latin typeface="Arial"/>
                <a:ea typeface="Arial"/>
                <a:cs typeface="Arial"/>
                <a:sym typeface="Arial"/>
              </a:rPr>
              <a:t>Deterministic Eco-AI Guidance</a:t>
            </a:r>
            <a:endParaRPr sz="1200">
              <a:solidFill>
                <a:schemeClr val="dk1"/>
              </a:solidFill>
              <a:latin typeface="Calibri"/>
              <a:ea typeface="Calibri"/>
              <a:cs typeface="Calibri"/>
              <a:sym typeface="Calibri"/>
            </a:endParaRPr>
          </a:p>
        </p:txBody>
      </p:sp>
      <p:sp>
        <p:nvSpPr>
          <p:cNvPr id="417" name="Google Shape;417;p6"/>
          <p:cNvSpPr txBox="1"/>
          <p:nvPr/>
        </p:nvSpPr>
        <p:spPr>
          <a:xfrm>
            <a:off x="1417320" y="4965192"/>
            <a:ext cx="2966618"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050"/>
              <a:buFont typeface="Calibri"/>
              <a:buNone/>
            </a:pPr>
            <a:r>
              <a:rPr lang="en-US" sz="1050">
                <a:solidFill>
                  <a:srgbClr val="C7A19C"/>
                </a:solidFill>
                <a:latin typeface="Calibri"/>
                <a:ea typeface="Calibri"/>
                <a:cs typeface="Calibri"/>
                <a:sym typeface="Calibri"/>
              </a:rPr>
              <a:t>“Why this recommendation?” links every action to the telemetry trigger behind it.</a:t>
            </a:r>
            <a:endParaRPr sz="1050">
              <a:solidFill>
                <a:schemeClr val="dk1"/>
              </a:solidFill>
              <a:latin typeface="Calibri"/>
              <a:ea typeface="Calibri"/>
              <a:cs typeface="Calibri"/>
              <a:sym typeface="Calibri"/>
            </a:endParaRPr>
          </a:p>
        </p:txBody>
      </p:sp>
      <p:sp>
        <p:nvSpPr>
          <p:cNvPr id="418" name="Google Shape;418;p6"/>
          <p:cNvSpPr/>
          <p:nvPr/>
        </p:nvSpPr>
        <p:spPr>
          <a:xfrm>
            <a:off x="4795418" y="4069080"/>
            <a:ext cx="3332378" cy="2148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9" name="Google Shape;419;p6"/>
          <p:cNvCxnSpPr/>
          <p:nvPr/>
        </p:nvCxnSpPr>
        <p:spPr>
          <a:xfrm>
            <a:off x="4795418" y="4069080"/>
            <a:ext cx="146304" cy="0"/>
          </a:xfrm>
          <a:prstGeom prst="straightConnector1">
            <a:avLst/>
          </a:prstGeom>
          <a:noFill/>
          <a:ln cap="flat" cmpd="sng" w="19050">
            <a:solidFill>
              <a:srgbClr val="B3271D"/>
            </a:solidFill>
            <a:prstDash val="solid"/>
            <a:round/>
            <a:headEnd len="sm" w="sm" type="none"/>
            <a:tailEnd len="sm" w="sm" type="none"/>
          </a:ln>
        </p:spPr>
      </p:cxnSp>
      <p:cxnSp>
        <p:nvCxnSpPr>
          <p:cNvPr id="420" name="Google Shape;420;p6"/>
          <p:cNvCxnSpPr/>
          <p:nvPr/>
        </p:nvCxnSpPr>
        <p:spPr>
          <a:xfrm>
            <a:off x="4795418" y="4069080"/>
            <a:ext cx="0" cy="146304"/>
          </a:xfrm>
          <a:prstGeom prst="straightConnector1">
            <a:avLst/>
          </a:prstGeom>
          <a:noFill/>
          <a:ln cap="flat" cmpd="sng" w="19050">
            <a:solidFill>
              <a:srgbClr val="B3271D"/>
            </a:solidFill>
            <a:prstDash val="solid"/>
            <a:round/>
            <a:headEnd len="sm" w="sm" type="none"/>
            <a:tailEnd len="sm" w="sm" type="none"/>
          </a:ln>
        </p:spPr>
      </p:cxnSp>
      <p:cxnSp>
        <p:nvCxnSpPr>
          <p:cNvPr id="421" name="Google Shape;421;p6"/>
          <p:cNvCxnSpPr/>
          <p:nvPr/>
        </p:nvCxnSpPr>
        <p:spPr>
          <a:xfrm>
            <a:off x="7981493" y="6217920"/>
            <a:ext cx="146304" cy="0"/>
          </a:xfrm>
          <a:prstGeom prst="straightConnector1">
            <a:avLst/>
          </a:prstGeom>
          <a:noFill/>
          <a:ln cap="flat" cmpd="sng" w="19050">
            <a:solidFill>
              <a:srgbClr val="B3271D"/>
            </a:solidFill>
            <a:prstDash val="solid"/>
            <a:round/>
            <a:headEnd len="sm" w="sm" type="none"/>
            <a:tailEnd len="sm" w="sm" type="none"/>
          </a:ln>
        </p:spPr>
      </p:cxnSp>
      <p:cxnSp>
        <p:nvCxnSpPr>
          <p:cNvPr id="422" name="Google Shape;422;p6"/>
          <p:cNvCxnSpPr/>
          <p:nvPr/>
        </p:nvCxnSpPr>
        <p:spPr>
          <a:xfrm>
            <a:off x="8127797" y="6071616"/>
            <a:ext cx="0" cy="146304"/>
          </a:xfrm>
          <a:prstGeom prst="straightConnector1">
            <a:avLst/>
          </a:prstGeom>
          <a:noFill/>
          <a:ln cap="flat" cmpd="sng" w="19050">
            <a:solidFill>
              <a:srgbClr val="B3271D"/>
            </a:solidFill>
            <a:prstDash val="solid"/>
            <a:round/>
            <a:headEnd len="sm" w="sm" type="none"/>
            <a:tailEnd len="sm" w="sm" type="none"/>
          </a:ln>
        </p:spPr>
      </p:cxnSp>
      <p:sp>
        <p:nvSpPr>
          <p:cNvPr id="423" name="Google Shape;423;p6"/>
          <p:cNvSpPr txBox="1"/>
          <p:nvPr/>
        </p:nvSpPr>
        <p:spPr>
          <a:xfrm>
            <a:off x="7533437" y="4160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050"/>
              <a:buFont typeface="Courier New"/>
              <a:buNone/>
            </a:pPr>
            <a:r>
              <a:rPr b="1" lang="en-US" sz="1050">
                <a:solidFill>
                  <a:srgbClr val="45201D"/>
                </a:solidFill>
                <a:latin typeface="Courier New"/>
                <a:ea typeface="Courier New"/>
                <a:cs typeface="Courier New"/>
                <a:sym typeface="Courier New"/>
              </a:rPr>
              <a:t>05</a:t>
            </a:r>
            <a:endParaRPr sz="1050">
              <a:solidFill>
                <a:schemeClr val="dk1"/>
              </a:solidFill>
              <a:latin typeface="Calibri"/>
              <a:ea typeface="Calibri"/>
              <a:cs typeface="Calibri"/>
              <a:sym typeface="Calibri"/>
            </a:endParaRPr>
          </a:p>
        </p:txBody>
      </p:sp>
      <p:sp>
        <p:nvSpPr>
          <p:cNvPr id="424" name="Google Shape;424;p6"/>
          <p:cNvSpPr/>
          <p:nvPr/>
        </p:nvSpPr>
        <p:spPr>
          <a:xfrm>
            <a:off x="4978298" y="4251960"/>
            <a:ext cx="438912" cy="438912"/>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
          <p:cNvSpPr txBox="1"/>
          <p:nvPr/>
        </p:nvSpPr>
        <p:spPr>
          <a:xfrm>
            <a:off x="4978298" y="4251960"/>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426" name="Google Shape;426;p6"/>
          <p:cNvSpPr txBox="1"/>
          <p:nvPr/>
        </p:nvSpPr>
        <p:spPr>
          <a:xfrm>
            <a:off x="5508650" y="4206240"/>
            <a:ext cx="2052218"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1200"/>
              <a:buFont typeface="Arial"/>
              <a:buNone/>
            </a:pPr>
            <a:r>
              <a:rPr b="1" lang="en-US" sz="1200">
                <a:solidFill>
                  <a:srgbClr val="F3E7E4"/>
                </a:solidFill>
                <a:latin typeface="Arial"/>
                <a:ea typeface="Arial"/>
                <a:cs typeface="Arial"/>
                <a:sym typeface="Arial"/>
              </a:rPr>
              <a:t>21-Node Edge Mesh Network</a:t>
            </a:r>
            <a:endParaRPr sz="1200">
              <a:solidFill>
                <a:schemeClr val="dk1"/>
              </a:solidFill>
              <a:latin typeface="Calibri"/>
              <a:ea typeface="Calibri"/>
              <a:cs typeface="Calibri"/>
              <a:sym typeface="Calibri"/>
            </a:endParaRPr>
          </a:p>
        </p:txBody>
      </p:sp>
      <p:sp>
        <p:nvSpPr>
          <p:cNvPr id="427" name="Google Shape;427;p6"/>
          <p:cNvSpPr txBox="1"/>
          <p:nvPr/>
        </p:nvSpPr>
        <p:spPr>
          <a:xfrm>
            <a:off x="4978298" y="4965192"/>
            <a:ext cx="2966618"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050"/>
              <a:buFont typeface="Calibri"/>
              <a:buNone/>
            </a:pPr>
            <a:r>
              <a:rPr lang="en-US" sz="1050">
                <a:solidFill>
                  <a:srgbClr val="C7A19C"/>
                </a:solidFill>
                <a:latin typeface="Calibri"/>
                <a:ea typeface="Calibri"/>
                <a:cs typeface="Calibri"/>
                <a:sym typeface="Calibri"/>
              </a:rPr>
              <a:t>Simulated ESP32/LoRa network with depth and soil sensors, plus an intentional offline node for fault resilience.</a:t>
            </a:r>
            <a:endParaRPr sz="1050">
              <a:solidFill>
                <a:schemeClr val="dk1"/>
              </a:solidFill>
              <a:latin typeface="Calibri"/>
              <a:ea typeface="Calibri"/>
              <a:cs typeface="Calibri"/>
              <a:sym typeface="Calibri"/>
            </a:endParaRPr>
          </a:p>
        </p:txBody>
      </p:sp>
      <p:sp>
        <p:nvSpPr>
          <p:cNvPr id="428" name="Google Shape;428;p6"/>
          <p:cNvSpPr/>
          <p:nvPr/>
        </p:nvSpPr>
        <p:spPr>
          <a:xfrm>
            <a:off x="8356397" y="4069080"/>
            <a:ext cx="3332378" cy="2148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9" name="Google Shape;429;p6"/>
          <p:cNvCxnSpPr/>
          <p:nvPr/>
        </p:nvCxnSpPr>
        <p:spPr>
          <a:xfrm>
            <a:off x="8356397" y="4069080"/>
            <a:ext cx="146304" cy="0"/>
          </a:xfrm>
          <a:prstGeom prst="straightConnector1">
            <a:avLst/>
          </a:prstGeom>
          <a:noFill/>
          <a:ln cap="flat" cmpd="sng" w="19050">
            <a:solidFill>
              <a:srgbClr val="C4841F"/>
            </a:solidFill>
            <a:prstDash val="solid"/>
            <a:round/>
            <a:headEnd len="sm" w="sm" type="none"/>
            <a:tailEnd len="sm" w="sm" type="none"/>
          </a:ln>
        </p:spPr>
      </p:cxnSp>
      <p:cxnSp>
        <p:nvCxnSpPr>
          <p:cNvPr id="430" name="Google Shape;430;p6"/>
          <p:cNvCxnSpPr/>
          <p:nvPr/>
        </p:nvCxnSpPr>
        <p:spPr>
          <a:xfrm>
            <a:off x="8356397" y="4069080"/>
            <a:ext cx="0" cy="146304"/>
          </a:xfrm>
          <a:prstGeom prst="straightConnector1">
            <a:avLst/>
          </a:prstGeom>
          <a:noFill/>
          <a:ln cap="flat" cmpd="sng" w="19050">
            <a:solidFill>
              <a:srgbClr val="C4841F"/>
            </a:solidFill>
            <a:prstDash val="solid"/>
            <a:round/>
            <a:headEnd len="sm" w="sm" type="none"/>
            <a:tailEnd len="sm" w="sm" type="none"/>
          </a:ln>
        </p:spPr>
      </p:cxnSp>
      <p:cxnSp>
        <p:nvCxnSpPr>
          <p:cNvPr id="431" name="Google Shape;431;p6"/>
          <p:cNvCxnSpPr/>
          <p:nvPr/>
        </p:nvCxnSpPr>
        <p:spPr>
          <a:xfrm>
            <a:off x="11542471" y="6217920"/>
            <a:ext cx="146304" cy="0"/>
          </a:xfrm>
          <a:prstGeom prst="straightConnector1">
            <a:avLst/>
          </a:prstGeom>
          <a:noFill/>
          <a:ln cap="flat" cmpd="sng" w="19050">
            <a:solidFill>
              <a:srgbClr val="C4841F"/>
            </a:solidFill>
            <a:prstDash val="solid"/>
            <a:round/>
            <a:headEnd len="sm" w="sm" type="none"/>
            <a:tailEnd len="sm" w="sm" type="none"/>
          </a:ln>
        </p:spPr>
      </p:cxnSp>
      <p:cxnSp>
        <p:nvCxnSpPr>
          <p:cNvPr id="432" name="Google Shape;432;p6"/>
          <p:cNvCxnSpPr/>
          <p:nvPr/>
        </p:nvCxnSpPr>
        <p:spPr>
          <a:xfrm>
            <a:off x="11688775" y="6071616"/>
            <a:ext cx="0" cy="146304"/>
          </a:xfrm>
          <a:prstGeom prst="straightConnector1">
            <a:avLst/>
          </a:prstGeom>
          <a:noFill/>
          <a:ln cap="flat" cmpd="sng" w="19050">
            <a:solidFill>
              <a:srgbClr val="C4841F"/>
            </a:solidFill>
            <a:prstDash val="solid"/>
            <a:round/>
            <a:headEnd len="sm" w="sm" type="none"/>
            <a:tailEnd len="sm" w="sm" type="none"/>
          </a:ln>
        </p:spPr>
      </p:cxnSp>
      <p:sp>
        <p:nvSpPr>
          <p:cNvPr id="433" name="Google Shape;433;p6"/>
          <p:cNvSpPr txBox="1"/>
          <p:nvPr/>
        </p:nvSpPr>
        <p:spPr>
          <a:xfrm>
            <a:off x="11094415" y="4160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5201D"/>
              </a:buClr>
              <a:buSzPts val="1050"/>
              <a:buFont typeface="Courier New"/>
              <a:buNone/>
            </a:pPr>
            <a:r>
              <a:rPr b="1" lang="en-US" sz="1050">
                <a:solidFill>
                  <a:srgbClr val="45201D"/>
                </a:solidFill>
                <a:latin typeface="Courier New"/>
                <a:ea typeface="Courier New"/>
                <a:cs typeface="Courier New"/>
                <a:sym typeface="Courier New"/>
              </a:rPr>
              <a:t>06</a:t>
            </a:r>
            <a:endParaRPr sz="1050">
              <a:solidFill>
                <a:schemeClr val="dk1"/>
              </a:solidFill>
              <a:latin typeface="Calibri"/>
              <a:ea typeface="Calibri"/>
              <a:cs typeface="Calibri"/>
              <a:sym typeface="Calibri"/>
            </a:endParaRPr>
          </a:p>
        </p:txBody>
      </p:sp>
      <p:sp>
        <p:nvSpPr>
          <p:cNvPr id="434" name="Google Shape;434;p6"/>
          <p:cNvSpPr/>
          <p:nvPr/>
        </p:nvSpPr>
        <p:spPr>
          <a:xfrm>
            <a:off x="8539277" y="4251960"/>
            <a:ext cx="438912" cy="438912"/>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
          <p:cNvSpPr txBox="1"/>
          <p:nvPr/>
        </p:nvSpPr>
        <p:spPr>
          <a:xfrm>
            <a:off x="8539277" y="4251960"/>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436" name="Google Shape;436;p6"/>
          <p:cNvSpPr txBox="1"/>
          <p:nvPr/>
        </p:nvSpPr>
        <p:spPr>
          <a:xfrm>
            <a:off x="9069629" y="4206240"/>
            <a:ext cx="2052218"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1200"/>
              <a:buFont typeface="Arial"/>
              <a:buNone/>
            </a:pPr>
            <a:r>
              <a:rPr b="1" lang="en-US" sz="1200">
                <a:solidFill>
                  <a:srgbClr val="F3E7E4"/>
                </a:solidFill>
                <a:latin typeface="Arial"/>
                <a:ea typeface="Arial"/>
                <a:cs typeface="Arial"/>
                <a:sym typeface="Arial"/>
              </a:rPr>
              <a:t>Multi-Channel Alert Center</a:t>
            </a:r>
            <a:endParaRPr sz="1200">
              <a:solidFill>
                <a:schemeClr val="dk1"/>
              </a:solidFill>
              <a:latin typeface="Calibri"/>
              <a:ea typeface="Calibri"/>
              <a:cs typeface="Calibri"/>
              <a:sym typeface="Calibri"/>
            </a:endParaRPr>
          </a:p>
        </p:txBody>
      </p:sp>
      <p:sp>
        <p:nvSpPr>
          <p:cNvPr id="437" name="Google Shape;437;p6"/>
          <p:cNvSpPr txBox="1"/>
          <p:nvPr/>
        </p:nvSpPr>
        <p:spPr>
          <a:xfrm>
            <a:off x="8539277" y="4965192"/>
            <a:ext cx="2966618"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050"/>
              <a:buFont typeface="Calibri"/>
              <a:buNone/>
            </a:pPr>
            <a:r>
              <a:rPr lang="en-US" sz="1050">
                <a:solidFill>
                  <a:srgbClr val="C7A19C"/>
                </a:solidFill>
                <a:latin typeface="Calibri"/>
                <a:ea typeface="Calibri"/>
                <a:cs typeface="Calibri"/>
                <a:sym typeface="Calibri"/>
              </a:rPr>
              <a:t>Threshold alerts fire at score ≥ 55, with multi-channel testing for Web Push, SMS, and sirens.</a:t>
            </a:r>
            <a:endParaRPr sz="10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442" name="Shape 442"/>
        <p:cNvGrpSpPr/>
        <p:nvPr/>
      </p:nvGrpSpPr>
      <p:grpSpPr>
        <a:xfrm>
          <a:off x="0" y="0"/>
          <a:ext cx="0" cy="0"/>
          <a:chOff x="0" y="0"/>
          <a:chExt cx="0" cy="0"/>
        </a:xfrm>
      </p:grpSpPr>
      <p:sp>
        <p:nvSpPr>
          <p:cNvPr id="443" name="Google Shape;443;p7"/>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4" name="Google Shape;444;p7"/>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445" name="Google Shape;445;p7"/>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446" name="Google Shape;446;p7"/>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07</a:t>
            </a:r>
            <a:endParaRPr sz="2200">
              <a:solidFill>
                <a:schemeClr val="dk1"/>
              </a:solidFill>
              <a:latin typeface="Calibri"/>
              <a:ea typeface="Calibri"/>
              <a:cs typeface="Calibri"/>
              <a:sym typeface="Calibri"/>
            </a:endParaRPr>
          </a:p>
        </p:txBody>
      </p:sp>
      <p:sp>
        <p:nvSpPr>
          <p:cNvPr id="447" name="Google Shape;447;p7"/>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448" name="Google Shape;448;p7"/>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7"/>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7"/>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7"/>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7"/>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7"/>
          <p:cNvSpPr txBox="1"/>
          <p:nvPr/>
        </p:nvSpPr>
        <p:spPr>
          <a:xfrm>
            <a:off x="1234440" y="502920"/>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LOGISTICS &amp; RESOURCE OPTIMIZATION</a:t>
            </a:r>
            <a:endParaRPr sz="1100">
              <a:solidFill>
                <a:schemeClr val="dk1"/>
              </a:solidFill>
              <a:latin typeface="Calibri"/>
              <a:ea typeface="Calibri"/>
              <a:cs typeface="Calibri"/>
              <a:sym typeface="Calibri"/>
            </a:endParaRPr>
          </a:p>
        </p:txBody>
      </p:sp>
      <p:sp>
        <p:nvSpPr>
          <p:cNvPr id="454" name="Google Shape;454;p7"/>
          <p:cNvSpPr txBox="1"/>
          <p:nvPr/>
        </p:nvSpPr>
        <p:spPr>
          <a:xfrm>
            <a:off x="1234440" y="804672"/>
            <a:ext cx="1045433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2700"/>
              <a:buFont typeface="Arial"/>
              <a:buNone/>
            </a:pPr>
            <a:r>
              <a:rPr b="1" lang="en-US" sz="2700">
                <a:solidFill>
                  <a:srgbClr val="F3E7E4"/>
                </a:solidFill>
                <a:latin typeface="Arial"/>
                <a:ea typeface="Arial"/>
                <a:cs typeface="Arial"/>
                <a:sym typeface="Arial"/>
              </a:rPr>
              <a:t>AUTOMATED RESOURCE ALLOCATION</a:t>
            </a:r>
            <a:endParaRPr sz="2700">
              <a:solidFill>
                <a:schemeClr val="dk1"/>
              </a:solidFill>
              <a:latin typeface="Calibri"/>
              <a:ea typeface="Calibri"/>
              <a:cs typeface="Calibri"/>
              <a:sym typeface="Calibri"/>
            </a:endParaRPr>
          </a:p>
        </p:txBody>
      </p:sp>
      <p:cxnSp>
        <p:nvCxnSpPr>
          <p:cNvPr id="455" name="Google Shape;455;p7"/>
          <p:cNvCxnSpPr/>
          <p:nvPr/>
        </p:nvCxnSpPr>
        <p:spPr>
          <a:xfrm>
            <a:off x="1234440" y="1463040"/>
            <a:ext cx="10454335" cy="0"/>
          </a:xfrm>
          <a:prstGeom prst="straightConnector1">
            <a:avLst/>
          </a:prstGeom>
          <a:noFill/>
          <a:ln cap="flat" cmpd="sng" w="12700">
            <a:solidFill>
              <a:srgbClr val="45201D"/>
            </a:solidFill>
            <a:prstDash val="solid"/>
            <a:round/>
            <a:headEnd len="sm" w="sm" type="none"/>
            <a:tailEnd len="sm" w="sm" type="none"/>
          </a:ln>
        </p:spPr>
      </p:cxnSp>
      <p:sp>
        <p:nvSpPr>
          <p:cNvPr id="456" name="Google Shape;456;p7"/>
          <p:cNvSpPr/>
          <p:nvPr/>
        </p:nvSpPr>
        <p:spPr>
          <a:xfrm>
            <a:off x="1234440" y="1691640"/>
            <a:ext cx="10454335" cy="731520"/>
          </a:xfrm>
          <a:prstGeom prst="rect">
            <a:avLst/>
          </a:prstGeom>
          <a:solidFill>
            <a:srgbClr val="1A0808"/>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7" name="Google Shape;457;p7"/>
          <p:cNvCxnSpPr/>
          <p:nvPr/>
        </p:nvCxnSpPr>
        <p:spPr>
          <a:xfrm>
            <a:off x="1234440" y="1691640"/>
            <a:ext cx="146304" cy="0"/>
          </a:xfrm>
          <a:prstGeom prst="straightConnector1">
            <a:avLst/>
          </a:prstGeom>
          <a:noFill/>
          <a:ln cap="flat" cmpd="sng" w="19050">
            <a:solidFill>
              <a:srgbClr val="E8A23B"/>
            </a:solidFill>
            <a:prstDash val="solid"/>
            <a:round/>
            <a:headEnd len="sm" w="sm" type="none"/>
            <a:tailEnd len="sm" w="sm" type="none"/>
          </a:ln>
        </p:spPr>
      </p:cxnSp>
      <p:cxnSp>
        <p:nvCxnSpPr>
          <p:cNvPr id="458" name="Google Shape;458;p7"/>
          <p:cNvCxnSpPr/>
          <p:nvPr/>
        </p:nvCxnSpPr>
        <p:spPr>
          <a:xfrm>
            <a:off x="1234440" y="1691640"/>
            <a:ext cx="0" cy="146304"/>
          </a:xfrm>
          <a:prstGeom prst="straightConnector1">
            <a:avLst/>
          </a:prstGeom>
          <a:noFill/>
          <a:ln cap="flat" cmpd="sng" w="19050">
            <a:solidFill>
              <a:srgbClr val="E8A23B"/>
            </a:solidFill>
            <a:prstDash val="solid"/>
            <a:round/>
            <a:headEnd len="sm" w="sm" type="none"/>
            <a:tailEnd len="sm" w="sm" type="none"/>
          </a:ln>
        </p:spPr>
      </p:cxnSp>
      <p:cxnSp>
        <p:nvCxnSpPr>
          <p:cNvPr id="459" name="Google Shape;459;p7"/>
          <p:cNvCxnSpPr/>
          <p:nvPr/>
        </p:nvCxnSpPr>
        <p:spPr>
          <a:xfrm>
            <a:off x="11542471" y="2423160"/>
            <a:ext cx="146304" cy="0"/>
          </a:xfrm>
          <a:prstGeom prst="straightConnector1">
            <a:avLst/>
          </a:prstGeom>
          <a:noFill/>
          <a:ln cap="flat" cmpd="sng" w="19050">
            <a:solidFill>
              <a:srgbClr val="E8A23B"/>
            </a:solidFill>
            <a:prstDash val="solid"/>
            <a:round/>
            <a:headEnd len="sm" w="sm" type="none"/>
            <a:tailEnd len="sm" w="sm" type="none"/>
          </a:ln>
        </p:spPr>
      </p:cxnSp>
      <p:cxnSp>
        <p:nvCxnSpPr>
          <p:cNvPr id="460" name="Google Shape;460;p7"/>
          <p:cNvCxnSpPr/>
          <p:nvPr/>
        </p:nvCxnSpPr>
        <p:spPr>
          <a:xfrm>
            <a:off x="11688775" y="2276856"/>
            <a:ext cx="0" cy="146304"/>
          </a:xfrm>
          <a:prstGeom prst="straightConnector1">
            <a:avLst/>
          </a:prstGeom>
          <a:noFill/>
          <a:ln cap="flat" cmpd="sng" w="19050">
            <a:solidFill>
              <a:srgbClr val="E8A23B"/>
            </a:solidFill>
            <a:prstDash val="solid"/>
            <a:round/>
            <a:headEnd len="sm" w="sm" type="none"/>
            <a:tailEnd len="sm" w="sm" type="none"/>
          </a:ln>
        </p:spPr>
      </p:cxnSp>
      <p:sp>
        <p:nvSpPr>
          <p:cNvPr id="461" name="Google Shape;461;p7"/>
          <p:cNvSpPr txBox="1"/>
          <p:nvPr/>
        </p:nvSpPr>
        <p:spPr>
          <a:xfrm>
            <a:off x="1234440" y="1691640"/>
            <a:ext cx="10454335"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B79E"/>
              </a:buClr>
              <a:buSzPts val="1400"/>
              <a:buFont typeface="Courier New"/>
              <a:buNone/>
            </a:pPr>
            <a:r>
              <a:rPr b="1" lang="en-US" sz="1400">
                <a:solidFill>
                  <a:srgbClr val="F3B79E"/>
                </a:solidFill>
                <a:latin typeface="Courier New"/>
                <a:ea typeface="Courier New"/>
                <a:cs typeface="Courier New"/>
                <a:sym typeface="Courier New"/>
              </a:rPr>
              <a:t>Priority = (Severity × 0.70) + (Population Exposure × 0.20) + (Proximity to Depot × 0.10)</a:t>
            </a:r>
            <a:endParaRPr sz="1400">
              <a:solidFill>
                <a:schemeClr val="dk1"/>
              </a:solidFill>
              <a:latin typeface="Calibri"/>
              <a:ea typeface="Calibri"/>
              <a:cs typeface="Calibri"/>
              <a:sym typeface="Calibri"/>
            </a:endParaRPr>
          </a:p>
        </p:txBody>
      </p:sp>
      <p:sp>
        <p:nvSpPr>
          <p:cNvPr id="462" name="Google Shape;462;p7"/>
          <p:cNvSpPr txBox="1"/>
          <p:nvPr/>
        </p:nvSpPr>
        <p:spPr>
          <a:xfrm>
            <a:off x="1234440" y="2606040"/>
            <a:ext cx="6675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050"/>
              <a:buFont typeface="Courier New"/>
              <a:buNone/>
            </a:pPr>
            <a:r>
              <a:rPr b="1" lang="en-US" sz="1050">
                <a:solidFill>
                  <a:srgbClr val="E8A23B"/>
                </a:solidFill>
                <a:latin typeface="Courier New"/>
                <a:ea typeface="Courier New"/>
                <a:cs typeface="Courier New"/>
                <a:sym typeface="Courier New"/>
              </a:rPr>
              <a:t>// FLEET &amp; RELIEF INVENTORY</a:t>
            </a:r>
            <a:endParaRPr sz="1050">
              <a:solidFill>
                <a:schemeClr val="dk1"/>
              </a:solidFill>
              <a:latin typeface="Calibri"/>
              <a:ea typeface="Calibri"/>
              <a:cs typeface="Calibri"/>
              <a:sym typeface="Calibri"/>
            </a:endParaRPr>
          </a:p>
        </p:txBody>
      </p:sp>
      <p:sp>
        <p:nvSpPr>
          <p:cNvPr id="463" name="Google Shape;463;p7"/>
          <p:cNvSpPr/>
          <p:nvPr/>
        </p:nvSpPr>
        <p:spPr>
          <a:xfrm>
            <a:off x="1234440" y="2971800"/>
            <a:ext cx="3223260" cy="65836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7"/>
          <p:cNvSpPr/>
          <p:nvPr/>
        </p:nvSpPr>
        <p:spPr>
          <a:xfrm>
            <a:off x="1234440" y="2971800"/>
            <a:ext cx="54864" cy="658368"/>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7"/>
          <p:cNvSpPr txBox="1"/>
          <p:nvPr/>
        </p:nvSpPr>
        <p:spPr>
          <a:xfrm>
            <a:off x="1435608" y="2971800"/>
            <a:ext cx="8229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100"/>
              <a:buFont typeface="Courier New"/>
              <a:buNone/>
            </a:pPr>
            <a:r>
              <a:rPr b="1" lang="en-US" sz="2100">
                <a:solidFill>
                  <a:srgbClr val="E8A23B"/>
                </a:solidFill>
                <a:latin typeface="Courier New"/>
                <a:ea typeface="Courier New"/>
                <a:cs typeface="Courier New"/>
                <a:sym typeface="Courier New"/>
              </a:rPr>
              <a:t>12</a:t>
            </a:r>
            <a:endParaRPr sz="2100">
              <a:solidFill>
                <a:schemeClr val="dk1"/>
              </a:solidFill>
              <a:latin typeface="Calibri"/>
              <a:ea typeface="Calibri"/>
              <a:cs typeface="Calibri"/>
              <a:sym typeface="Calibri"/>
            </a:endParaRPr>
          </a:p>
        </p:txBody>
      </p:sp>
      <p:sp>
        <p:nvSpPr>
          <p:cNvPr id="466" name="Google Shape;466;p7"/>
          <p:cNvSpPr txBox="1"/>
          <p:nvPr/>
        </p:nvSpPr>
        <p:spPr>
          <a:xfrm>
            <a:off x="2240280" y="2971800"/>
            <a:ext cx="20802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150"/>
              <a:buFont typeface="Calibri"/>
              <a:buNone/>
            </a:pPr>
            <a:r>
              <a:rPr lang="en-US" sz="1150">
                <a:solidFill>
                  <a:srgbClr val="F3E7E4"/>
                </a:solidFill>
                <a:latin typeface="Calibri"/>
                <a:ea typeface="Calibri"/>
                <a:cs typeface="Calibri"/>
                <a:sym typeface="Calibri"/>
              </a:rPr>
              <a:t>NDRF / SDRF Teams</a:t>
            </a:r>
            <a:endParaRPr sz="1150">
              <a:solidFill>
                <a:schemeClr val="dk1"/>
              </a:solidFill>
              <a:latin typeface="Calibri"/>
              <a:ea typeface="Calibri"/>
              <a:cs typeface="Calibri"/>
              <a:sym typeface="Calibri"/>
            </a:endParaRPr>
          </a:p>
        </p:txBody>
      </p:sp>
      <p:sp>
        <p:nvSpPr>
          <p:cNvPr id="467" name="Google Shape;467;p7"/>
          <p:cNvSpPr/>
          <p:nvPr/>
        </p:nvSpPr>
        <p:spPr>
          <a:xfrm>
            <a:off x="4686300" y="2971800"/>
            <a:ext cx="3223260" cy="65836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7"/>
          <p:cNvSpPr/>
          <p:nvPr/>
        </p:nvSpPr>
        <p:spPr>
          <a:xfrm>
            <a:off x="4686300" y="2971800"/>
            <a:ext cx="54864" cy="658368"/>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7"/>
          <p:cNvSpPr txBox="1"/>
          <p:nvPr/>
        </p:nvSpPr>
        <p:spPr>
          <a:xfrm>
            <a:off x="4887468" y="2971800"/>
            <a:ext cx="8229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100"/>
              <a:buFont typeface="Courier New"/>
              <a:buNone/>
            </a:pPr>
            <a:r>
              <a:rPr b="1" lang="en-US" sz="2100">
                <a:solidFill>
                  <a:srgbClr val="E8A23B"/>
                </a:solidFill>
                <a:latin typeface="Courier New"/>
                <a:ea typeface="Courier New"/>
                <a:cs typeface="Courier New"/>
                <a:sym typeface="Courier New"/>
              </a:rPr>
              <a:t>18</a:t>
            </a:r>
            <a:endParaRPr sz="2100">
              <a:solidFill>
                <a:schemeClr val="dk1"/>
              </a:solidFill>
              <a:latin typeface="Calibri"/>
              <a:ea typeface="Calibri"/>
              <a:cs typeface="Calibri"/>
              <a:sym typeface="Calibri"/>
            </a:endParaRPr>
          </a:p>
        </p:txBody>
      </p:sp>
      <p:sp>
        <p:nvSpPr>
          <p:cNvPr id="470" name="Google Shape;470;p7"/>
          <p:cNvSpPr txBox="1"/>
          <p:nvPr/>
        </p:nvSpPr>
        <p:spPr>
          <a:xfrm>
            <a:off x="5692140" y="2971800"/>
            <a:ext cx="20802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150"/>
              <a:buFont typeface="Calibri"/>
              <a:buNone/>
            </a:pPr>
            <a:r>
              <a:rPr lang="en-US" sz="1150">
                <a:solidFill>
                  <a:srgbClr val="F3E7E4"/>
                </a:solidFill>
                <a:latin typeface="Calibri"/>
                <a:ea typeface="Calibri"/>
                <a:cs typeface="Calibri"/>
                <a:sym typeface="Calibri"/>
              </a:rPr>
              <a:t>Inflatable Boats</a:t>
            </a:r>
            <a:endParaRPr sz="1150">
              <a:solidFill>
                <a:schemeClr val="dk1"/>
              </a:solidFill>
              <a:latin typeface="Calibri"/>
              <a:ea typeface="Calibri"/>
              <a:cs typeface="Calibri"/>
              <a:sym typeface="Calibri"/>
            </a:endParaRPr>
          </a:p>
        </p:txBody>
      </p:sp>
      <p:sp>
        <p:nvSpPr>
          <p:cNvPr id="471" name="Google Shape;471;p7"/>
          <p:cNvSpPr/>
          <p:nvPr/>
        </p:nvSpPr>
        <p:spPr>
          <a:xfrm>
            <a:off x="1234440" y="3758184"/>
            <a:ext cx="3223260" cy="65836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7"/>
          <p:cNvSpPr/>
          <p:nvPr/>
        </p:nvSpPr>
        <p:spPr>
          <a:xfrm>
            <a:off x="1234440" y="3758184"/>
            <a:ext cx="54864" cy="658368"/>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7"/>
          <p:cNvSpPr txBox="1"/>
          <p:nvPr/>
        </p:nvSpPr>
        <p:spPr>
          <a:xfrm>
            <a:off x="1435608" y="3758184"/>
            <a:ext cx="8229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100"/>
              <a:buFont typeface="Courier New"/>
              <a:buNone/>
            </a:pPr>
            <a:r>
              <a:rPr b="1" lang="en-US" sz="2100">
                <a:solidFill>
                  <a:srgbClr val="E8A23B"/>
                </a:solidFill>
                <a:latin typeface="Courier New"/>
                <a:ea typeface="Courier New"/>
                <a:cs typeface="Courier New"/>
                <a:sym typeface="Courier New"/>
              </a:rPr>
              <a:t>15</a:t>
            </a:r>
            <a:endParaRPr sz="2100">
              <a:solidFill>
                <a:schemeClr val="dk1"/>
              </a:solidFill>
              <a:latin typeface="Calibri"/>
              <a:ea typeface="Calibri"/>
              <a:cs typeface="Calibri"/>
              <a:sym typeface="Calibri"/>
            </a:endParaRPr>
          </a:p>
        </p:txBody>
      </p:sp>
      <p:sp>
        <p:nvSpPr>
          <p:cNvPr id="474" name="Google Shape;474;p7"/>
          <p:cNvSpPr txBox="1"/>
          <p:nvPr/>
        </p:nvSpPr>
        <p:spPr>
          <a:xfrm>
            <a:off x="2240280" y="3758184"/>
            <a:ext cx="20802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150"/>
              <a:buFont typeface="Calibri"/>
              <a:buNone/>
            </a:pPr>
            <a:r>
              <a:rPr lang="en-US" sz="1150">
                <a:solidFill>
                  <a:srgbClr val="F3E7E4"/>
                </a:solidFill>
                <a:latin typeface="Calibri"/>
                <a:ea typeface="Calibri"/>
                <a:cs typeface="Calibri"/>
                <a:sym typeface="Calibri"/>
              </a:rPr>
              <a:t>Ambulances</a:t>
            </a:r>
            <a:endParaRPr sz="1150">
              <a:solidFill>
                <a:schemeClr val="dk1"/>
              </a:solidFill>
              <a:latin typeface="Calibri"/>
              <a:ea typeface="Calibri"/>
              <a:cs typeface="Calibri"/>
              <a:sym typeface="Calibri"/>
            </a:endParaRPr>
          </a:p>
        </p:txBody>
      </p:sp>
      <p:sp>
        <p:nvSpPr>
          <p:cNvPr id="475" name="Google Shape;475;p7"/>
          <p:cNvSpPr/>
          <p:nvPr/>
        </p:nvSpPr>
        <p:spPr>
          <a:xfrm>
            <a:off x="4686300" y="3758184"/>
            <a:ext cx="3223260" cy="65836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7"/>
          <p:cNvSpPr/>
          <p:nvPr/>
        </p:nvSpPr>
        <p:spPr>
          <a:xfrm>
            <a:off x="4686300" y="3758184"/>
            <a:ext cx="54864" cy="658368"/>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7"/>
          <p:cNvSpPr txBox="1"/>
          <p:nvPr/>
        </p:nvSpPr>
        <p:spPr>
          <a:xfrm>
            <a:off x="4887468" y="3758184"/>
            <a:ext cx="8229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100"/>
              <a:buFont typeface="Courier New"/>
              <a:buNone/>
            </a:pPr>
            <a:r>
              <a:rPr b="1" lang="en-US" sz="2100">
                <a:solidFill>
                  <a:srgbClr val="E8A23B"/>
                </a:solidFill>
                <a:latin typeface="Courier New"/>
                <a:ea typeface="Courier New"/>
                <a:cs typeface="Courier New"/>
                <a:sym typeface="Courier New"/>
              </a:rPr>
              <a:t>8</a:t>
            </a:r>
            <a:endParaRPr sz="2100">
              <a:solidFill>
                <a:schemeClr val="dk1"/>
              </a:solidFill>
              <a:latin typeface="Calibri"/>
              <a:ea typeface="Calibri"/>
              <a:cs typeface="Calibri"/>
              <a:sym typeface="Calibri"/>
            </a:endParaRPr>
          </a:p>
        </p:txBody>
      </p:sp>
      <p:sp>
        <p:nvSpPr>
          <p:cNvPr id="478" name="Google Shape;478;p7"/>
          <p:cNvSpPr txBox="1"/>
          <p:nvPr/>
        </p:nvSpPr>
        <p:spPr>
          <a:xfrm>
            <a:off x="5692140" y="3758184"/>
            <a:ext cx="20802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150"/>
              <a:buFont typeface="Calibri"/>
              <a:buNone/>
            </a:pPr>
            <a:r>
              <a:rPr lang="en-US" sz="1150">
                <a:solidFill>
                  <a:srgbClr val="F3E7E4"/>
                </a:solidFill>
                <a:latin typeface="Calibri"/>
                <a:ea typeface="Calibri"/>
                <a:cs typeface="Calibri"/>
                <a:sym typeface="Calibri"/>
              </a:rPr>
              <a:t>Earthmovers</a:t>
            </a:r>
            <a:endParaRPr sz="1150">
              <a:solidFill>
                <a:schemeClr val="dk1"/>
              </a:solidFill>
              <a:latin typeface="Calibri"/>
              <a:ea typeface="Calibri"/>
              <a:cs typeface="Calibri"/>
              <a:sym typeface="Calibri"/>
            </a:endParaRPr>
          </a:p>
        </p:txBody>
      </p:sp>
      <p:sp>
        <p:nvSpPr>
          <p:cNvPr id="479" name="Google Shape;479;p7"/>
          <p:cNvSpPr/>
          <p:nvPr/>
        </p:nvSpPr>
        <p:spPr>
          <a:xfrm>
            <a:off x="1234440" y="4544568"/>
            <a:ext cx="3223260" cy="65836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7"/>
          <p:cNvSpPr/>
          <p:nvPr/>
        </p:nvSpPr>
        <p:spPr>
          <a:xfrm>
            <a:off x="1234440" y="4544568"/>
            <a:ext cx="54864" cy="658368"/>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7"/>
          <p:cNvSpPr txBox="1"/>
          <p:nvPr/>
        </p:nvSpPr>
        <p:spPr>
          <a:xfrm>
            <a:off x="1435608" y="4544568"/>
            <a:ext cx="8229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100"/>
              <a:buFont typeface="Courier New"/>
              <a:buNone/>
            </a:pPr>
            <a:r>
              <a:rPr b="1" lang="en-US" sz="2100">
                <a:solidFill>
                  <a:srgbClr val="E8A23B"/>
                </a:solidFill>
                <a:latin typeface="Courier New"/>
                <a:ea typeface="Courier New"/>
                <a:cs typeface="Courier New"/>
                <a:sym typeface="Courier New"/>
              </a:rPr>
              <a:t>10</a:t>
            </a:r>
            <a:endParaRPr sz="2100">
              <a:solidFill>
                <a:schemeClr val="dk1"/>
              </a:solidFill>
              <a:latin typeface="Calibri"/>
              <a:ea typeface="Calibri"/>
              <a:cs typeface="Calibri"/>
              <a:sym typeface="Calibri"/>
            </a:endParaRPr>
          </a:p>
        </p:txBody>
      </p:sp>
      <p:sp>
        <p:nvSpPr>
          <p:cNvPr id="482" name="Google Shape;482;p7"/>
          <p:cNvSpPr txBox="1"/>
          <p:nvPr/>
        </p:nvSpPr>
        <p:spPr>
          <a:xfrm>
            <a:off x="2240280" y="4544568"/>
            <a:ext cx="20802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150"/>
              <a:buFont typeface="Calibri"/>
              <a:buNone/>
            </a:pPr>
            <a:r>
              <a:rPr lang="en-US" sz="1150">
                <a:solidFill>
                  <a:srgbClr val="F3E7E4"/>
                </a:solidFill>
                <a:latin typeface="Calibri"/>
                <a:ea typeface="Calibri"/>
                <a:cs typeface="Calibri"/>
                <a:sym typeface="Calibri"/>
              </a:rPr>
              <a:t>Fire Tenders</a:t>
            </a:r>
            <a:endParaRPr sz="1150">
              <a:solidFill>
                <a:schemeClr val="dk1"/>
              </a:solidFill>
              <a:latin typeface="Calibri"/>
              <a:ea typeface="Calibri"/>
              <a:cs typeface="Calibri"/>
              <a:sym typeface="Calibri"/>
            </a:endParaRPr>
          </a:p>
        </p:txBody>
      </p:sp>
      <p:sp>
        <p:nvSpPr>
          <p:cNvPr id="483" name="Google Shape;483;p7"/>
          <p:cNvSpPr/>
          <p:nvPr/>
        </p:nvSpPr>
        <p:spPr>
          <a:xfrm>
            <a:off x="4686300" y="4544568"/>
            <a:ext cx="3223260" cy="65836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
          <p:cNvSpPr/>
          <p:nvPr/>
        </p:nvSpPr>
        <p:spPr>
          <a:xfrm>
            <a:off x="4686300" y="4544568"/>
            <a:ext cx="54864" cy="658368"/>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
          <p:cNvSpPr txBox="1"/>
          <p:nvPr/>
        </p:nvSpPr>
        <p:spPr>
          <a:xfrm>
            <a:off x="4887468" y="4544568"/>
            <a:ext cx="8229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2100"/>
              <a:buFont typeface="Courier New"/>
              <a:buNone/>
            </a:pPr>
            <a:r>
              <a:rPr b="1" lang="en-US" sz="2100">
                <a:solidFill>
                  <a:srgbClr val="E8A23B"/>
                </a:solidFill>
                <a:latin typeface="Courier New"/>
                <a:ea typeface="Courier New"/>
                <a:cs typeface="Courier New"/>
                <a:sym typeface="Courier New"/>
              </a:rPr>
              <a:t>14</a:t>
            </a:r>
            <a:endParaRPr sz="2100">
              <a:solidFill>
                <a:schemeClr val="dk1"/>
              </a:solidFill>
              <a:latin typeface="Calibri"/>
              <a:ea typeface="Calibri"/>
              <a:cs typeface="Calibri"/>
              <a:sym typeface="Calibri"/>
            </a:endParaRPr>
          </a:p>
        </p:txBody>
      </p:sp>
      <p:sp>
        <p:nvSpPr>
          <p:cNvPr id="486" name="Google Shape;486;p7"/>
          <p:cNvSpPr txBox="1"/>
          <p:nvPr/>
        </p:nvSpPr>
        <p:spPr>
          <a:xfrm>
            <a:off x="5692140" y="4544568"/>
            <a:ext cx="20802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150"/>
              <a:buFont typeface="Calibri"/>
              <a:buNone/>
            </a:pPr>
            <a:r>
              <a:rPr lang="en-US" sz="1150">
                <a:solidFill>
                  <a:srgbClr val="F3E7E4"/>
                </a:solidFill>
                <a:latin typeface="Calibri"/>
                <a:ea typeface="Calibri"/>
                <a:cs typeface="Calibri"/>
                <a:sym typeface="Calibri"/>
              </a:rPr>
              <a:t>Relief Shelters</a:t>
            </a:r>
            <a:endParaRPr sz="1150">
              <a:solidFill>
                <a:schemeClr val="dk1"/>
              </a:solidFill>
              <a:latin typeface="Calibri"/>
              <a:ea typeface="Calibri"/>
              <a:cs typeface="Calibri"/>
              <a:sym typeface="Calibri"/>
            </a:endParaRPr>
          </a:p>
        </p:txBody>
      </p:sp>
      <p:sp>
        <p:nvSpPr>
          <p:cNvPr id="487" name="Google Shape;487;p7"/>
          <p:cNvSpPr/>
          <p:nvPr/>
        </p:nvSpPr>
        <p:spPr>
          <a:xfrm>
            <a:off x="8183880" y="2606040"/>
            <a:ext cx="3504895" cy="1783080"/>
          </a:xfrm>
          <a:prstGeom prst="rect">
            <a:avLst/>
          </a:prstGeom>
          <a:solidFill>
            <a:srgbClr val="241009"/>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8" name="Google Shape;488;p7"/>
          <p:cNvCxnSpPr/>
          <p:nvPr/>
        </p:nvCxnSpPr>
        <p:spPr>
          <a:xfrm>
            <a:off x="8183880" y="2606040"/>
            <a:ext cx="182880" cy="0"/>
          </a:xfrm>
          <a:prstGeom prst="straightConnector1">
            <a:avLst/>
          </a:prstGeom>
          <a:noFill/>
          <a:ln cap="flat" cmpd="sng" w="19050">
            <a:solidFill>
              <a:srgbClr val="C4841F"/>
            </a:solidFill>
            <a:prstDash val="solid"/>
            <a:round/>
            <a:headEnd len="sm" w="sm" type="none"/>
            <a:tailEnd len="sm" w="sm" type="none"/>
          </a:ln>
        </p:spPr>
      </p:cxnSp>
      <p:cxnSp>
        <p:nvCxnSpPr>
          <p:cNvPr id="489" name="Google Shape;489;p7"/>
          <p:cNvCxnSpPr/>
          <p:nvPr/>
        </p:nvCxnSpPr>
        <p:spPr>
          <a:xfrm>
            <a:off x="8183880" y="2606040"/>
            <a:ext cx="0" cy="182880"/>
          </a:xfrm>
          <a:prstGeom prst="straightConnector1">
            <a:avLst/>
          </a:prstGeom>
          <a:noFill/>
          <a:ln cap="flat" cmpd="sng" w="19050">
            <a:solidFill>
              <a:srgbClr val="C4841F"/>
            </a:solidFill>
            <a:prstDash val="solid"/>
            <a:round/>
            <a:headEnd len="sm" w="sm" type="none"/>
            <a:tailEnd len="sm" w="sm" type="none"/>
          </a:ln>
        </p:spPr>
      </p:cxnSp>
      <p:cxnSp>
        <p:nvCxnSpPr>
          <p:cNvPr id="490" name="Google Shape;490;p7"/>
          <p:cNvCxnSpPr/>
          <p:nvPr/>
        </p:nvCxnSpPr>
        <p:spPr>
          <a:xfrm>
            <a:off x="11505895" y="4389120"/>
            <a:ext cx="182880" cy="0"/>
          </a:xfrm>
          <a:prstGeom prst="straightConnector1">
            <a:avLst/>
          </a:prstGeom>
          <a:noFill/>
          <a:ln cap="flat" cmpd="sng" w="19050">
            <a:solidFill>
              <a:srgbClr val="C4841F"/>
            </a:solidFill>
            <a:prstDash val="solid"/>
            <a:round/>
            <a:headEnd len="sm" w="sm" type="none"/>
            <a:tailEnd len="sm" w="sm" type="none"/>
          </a:ln>
        </p:spPr>
      </p:cxnSp>
      <p:cxnSp>
        <p:nvCxnSpPr>
          <p:cNvPr id="491" name="Google Shape;491;p7"/>
          <p:cNvCxnSpPr/>
          <p:nvPr/>
        </p:nvCxnSpPr>
        <p:spPr>
          <a:xfrm>
            <a:off x="11688775" y="4206240"/>
            <a:ext cx="0" cy="182880"/>
          </a:xfrm>
          <a:prstGeom prst="straightConnector1">
            <a:avLst/>
          </a:prstGeom>
          <a:noFill/>
          <a:ln cap="flat" cmpd="sng" w="19050">
            <a:solidFill>
              <a:srgbClr val="C4841F"/>
            </a:solidFill>
            <a:prstDash val="solid"/>
            <a:round/>
            <a:headEnd len="sm" w="sm" type="none"/>
            <a:tailEnd len="sm" w="sm" type="none"/>
          </a:ln>
        </p:spPr>
      </p:cxnSp>
      <p:sp>
        <p:nvSpPr>
          <p:cNvPr id="492" name="Google Shape;492;p7"/>
          <p:cNvSpPr/>
          <p:nvPr/>
        </p:nvSpPr>
        <p:spPr>
          <a:xfrm>
            <a:off x="8385048" y="2816352"/>
            <a:ext cx="457200" cy="457200"/>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7"/>
          <p:cNvSpPr txBox="1"/>
          <p:nvPr/>
        </p:nvSpPr>
        <p:spPr>
          <a:xfrm>
            <a:off x="8385048" y="28163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2400"/>
              </a:buClr>
              <a:buSzPts val="1700"/>
              <a:buFont typeface="Calibri"/>
              <a:buNone/>
            </a:pPr>
            <a:r>
              <a:rPr b="1" lang="en-US" sz="1700">
                <a:solidFill>
                  <a:srgbClr val="3A240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94" name="Google Shape;494;p7"/>
          <p:cNvSpPr txBox="1"/>
          <p:nvPr/>
        </p:nvSpPr>
        <p:spPr>
          <a:xfrm>
            <a:off x="8961120" y="2770632"/>
            <a:ext cx="2544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350"/>
              <a:buFont typeface="Arial"/>
              <a:buNone/>
            </a:pPr>
            <a:r>
              <a:rPr b="1" lang="en-US" sz="1350">
                <a:solidFill>
                  <a:srgbClr val="F3E7E4"/>
                </a:solidFill>
                <a:latin typeface="Arial"/>
                <a:ea typeface="Arial"/>
                <a:cs typeface="Arial"/>
                <a:sym typeface="Arial"/>
              </a:rPr>
              <a:t>Capacity Gap Flagging</a:t>
            </a:r>
            <a:endParaRPr sz="1350">
              <a:solidFill>
                <a:schemeClr val="dk1"/>
              </a:solidFill>
              <a:latin typeface="Calibri"/>
              <a:ea typeface="Calibri"/>
              <a:cs typeface="Calibri"/>
              <a:sym typeface="Calibri"/>
            </a:endParaRPr>
          </a:p>
        </p:txBody>
      </p:sp>
      <p:sp>
        <p:nvSpPr>
          <p:cNvPr id="495" name="Google Shape;495;p7"/>
          <p:cNvSpPr txBox="1"/>
          <p:nvPr/>
        </p:nvSpPr>
        <p:spPr>
          <a:xfrm>
            <a:off x="8385048" y="3337560"/>
            <a:ext cx="3102559"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100"/>
              <a:buFont typeface="Calibri"/>
              <a:buNone/>
            </a:pPr>
            <a:r>
              <a:rPr lang="en-US" sz="1100">
                <a:solidFill>
                  <a:srgbClr val="C7A19C"/>
                </a:solidFill>
                <a:latin typeface="Calibri"/>
                <a:ea typeface="Calibri"/>
                <a:cs typeface="Calibri"/>
                <a:sym typeface="Calibri"/>
              </a:rPr>
              <a:t>Explicitly flags whenever projected demand outstrips available inventory, so shortfalls surface before they become crises.</a:t>
            </a:r>
            <a:endParaRPr sz="1100">
              <a:solidFill>
                <a:schemeClr val="dk1"/>
              </a:solidFill>
              <a:latin typeface="Calibri"/>
              <a:ea typeface="Calibri"/>
              <a:cs typeface="Calibri"/>
              <a:sym typeface="Calibri"/>
            </a:endParaRPr>
          </a:p>
        </p:txBody>
      </p:sp>
      <p:sp>
        <p:nvSpPr>
          <p:cNvPr id="496" name="Google Shape;496;p7"/>
          <p:cNvSpPr/>
          <p:nvPr/>
        </p:nvSpPr>
        <p:spPr>
          <a:xfrm>
            <a:off x="8183880" y="4553712"/>
            <a:ext cx="3504895" cy="178308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7" name="Google Shape;497;p7"/>
          <p:cNvCxnSpPr/>
          <p:nvPr/>
        </p:nvCxnSpPr>
        <p:spPr>
          <a:xfrm>
            <a:off x="8183880" y="4553712"/>
            <a:ext cx="182880" cy="0"/>
          </a:xfrm>
          <a:prstGeom prst="straightConnector1">
            <a:avLst/>
          </a:prstGeom>
          <a:noFill/>
          <a:ln cap="flat" cmpd="sng" w="19050">
            <a:solidFill>
              <a:srgbClr val="B3271D"/>
            </a:solidFill>
            <a:prstDash val="solid"/>
            <a:round/>
            <a:headEnd len="sm" w="sm" type="none"/>
            <a:tailEnd len="sm" w="sm" type="none"/>
          </a:ln>
        </p:spPr>
      </p:cxnSp>
      <p:cxnSp>
        <p:nvCxnSpPr>
          <p:cNvPr id="498" name="Google Shape;498;p7"/>
          <p:cNvCxnSpPr/>
          <p:nvPr/>
        </p:nvCxnSpPr>
        <p:spPr>
          <a:xfrm>
            <a:off x="8183880" y="4553712"/>
            <a:ext cx="0" cy="182880"/>
          </a:xfrm>
          <a:prstGeom prst="straightConnector1">
            <a:avLst/>
          </a:prstGeom>
          <a:noFill/>
          <a:ln cap="flat" cmpd="sng" w="19050">
            <a:solidFill>
              <a:srgbClr val="B3271D"/>
            </a:solidFill>
            <a:prstDash val="solid"/>
            <a:round/>
            <a:headEnd len="sm" w="sm" type="none"/>
            <a:tailEnd len="sm" w="sm" type="none"/>
          </a:ln>
        </p:spPr>
      </p:cxnSp>
      <p:cxnSp>
        <p:nvCxnSpPr>
          <p:cNvPr id="499" name="Google Shape;499;p7"/>
          <p:cNvCxnSpPr/>
          <p:nvPr/>
        </p:nvCxnSpPr>
        <p:spPr>
          <a:xfrm>
            <a:off x="11505895" y="6336792"/>
            <a:ext cx="182880" cy="0"/>
          </a:xfrm>
          <a:prstGeom prst="straightConnector1">
            <a:avLst/>
          </a:prstGeom>
          <a:noFill/>
          <a:ln cap="flat" cmpd="sng" w="19050">
            <a:solidFill>
              <a:srgbClr val="B3271D"/>
            </a:solidFill>
            <a:prstDash val="solid"/>
            <a:round/>
            <a:headEnd len="sm" w="sm" type="none"/>
            <a:tailEnd len="sm" w="sm" type="none"/>
          </a:ln>
        </p:spPr>
      </p:cxnSp>
      <p:cxnSp>
        <p:nvCxnSpPr>
          <p:cNvPr id="500" name="Google Shape;500;p7"/>
          <p:cNvCxnSpPr/>
          <p:nvPr/>
        </p:nvCxnSpPr>
        <p:spPr>
          <a:xfrm>
            <a:off x="11688775" y="6153912"/>
            <a:ext cx="0" cy="182880"/>
          </a:xfrm>
          <a:prstGeom prst="straightConnector1">
            <a:avLst/>
          </a:prstGeom>
          <a:noFill/>
          <a:ln cap="flat" cmpd="sng" w="19050">
            <a:solidFill>
              <a:srgbClr val="B3271D"/>
            </a:solidFill>
            <a:prstDash val="solid"/>
            <a:round/>
            <a:headEnd len="sm" w="sm" type="none"/>
            <a:tailEnd len="sm" w="sm" type="none"/>
          </a:ln>
        </p:spPr>
      </p:cxnSp>
      <p:sp>
        <p:nvSpPr>
          <p:cNvPr id="501" name="Google Shape;501;p7"/>
          <p:cNvSpPr/>
          <p:nvPr/>
        </p:nvSpPr>
        <p:spPr>
          <a:xfrm>
            <a:off x="8385048" y="4764024"/>
            <a:ext cx="457200" cy="457200"/>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
          <p:cNvSpPr txBox="1"/>
          <p:nvPr/>
        </p:nvSpPr>
        <p:spPr>
          <a:xfrm>
            <a:off x="8385048" y="476402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03" name="Google Shape;503;p7"/>
          <p:cNvSpPr txBox="1"/>
          <p:nvPr/>
        </p:nvSpPr>
        <p:spPr>
          <a:xfrm>
            <a:off x="8961120" y="4718304"/>
            <a:ext cx="254477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350"/>
              <a:buFont typeface="Arial"/>
              <a:buNone/>
            </a:pPr>
            <a:r>
              <a:rPr b="1" lang="en-US" sz="1350">
                <a:solidFill>
                  <a:srgbClr val="F3E7E4"/>
                </a:solidFill>
                <a:latin typeface="Arial"/>
                <a:ea typeface="Arial"/>
                <a:cs typeface="Arial"/>
                <a:sym typeface="Arial"/>
              </a:rPr>
              <a:t>One-Click Export</a:t>
            </a:r>
            <a:endParaRPr sz="1350">
              <a:solidFill>
                <a:schemeClr val="dk1"/>
              </a:solidFill>
              <a:latin typeface="Calibri"/>
              <a:ea typeface="Calibri"/>
              <a:cs typeface="Calibri"/>
              <a:sym typeface="Calibri"/>
            </a:endParaRPr>
          </a:p>
        </p:txBody>
      </p:sp>
      <p:sp>
        <p:nvSpPr>
          <p:cNvPr id="504" name="Google Shape;504;p7"/>
          <p:cNvSpPr txBox="1"/>
          <p:nvPr/>
        </p:nvSpPr>
        <p:spPr>
          <a:xfrm>
            <a:off x="8385048" y="5285232"/>
            <a:ext cx="3102559"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100"/>
              <a:buFont typeface="Calibri"/>
              <a:buNone/>
            </a:pPr>
            <a:r>
              <a:rPr lang="en-US" sz="1100">
                <a:solidFill>
                  <a:srgbClr val="C7A19C"/>
                </a:solidFill>
                <a:latin typeface="Calibri"/>
                <a:ea typeface="Calibri"/>
                <a:cs typeface="Calibri"/>
                <a:sym typeface="Calibri"/>
              </a:rPr>
              <a:t>Export Response Plan generates a timestamped text manifest ready for immediate field dispatch.</a:t>
            </a:r>
            <a:endParaRPr sz="1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509" name="Shape 509"/>
        <p:cNvGrpSpPr/>
        <p:nvPr/>
      </p:nvGrpSpPr>
      <p:grpSpPr>
        <a:xfrm>
          <a:off x="0" y="0"/>
          <a:ext cx="0" cy="0"/>
          <a:chOff x="0" y="0"/>
          <a:chExt cx="0" cy="0"/>
        </a:xfrm>
      </p:grpSpPr>
      <p:sp>
        <p:nvSpPr>
          <p:cNvPr id="510" name="Google Shape;510;p8"/>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1" name="Google Shape;511;p8"/>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512" name="Google Shape;512;p8"/>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513" name="Google Shape;513;p8"/>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08</a:t>
            </a:r>
            <a:endParaRPr sz="2200">
              <a:solidFill>
                <a:schemeClr val="dk1"/>
              </a:solidFill>
              <a:latin typeface="Calibri"/>
              <a:ea typeface="Calibri"/>
              <a:cs typeface="Calibri"/>
              <a:sym typeface="Calibri"/>
            </a:endParaRPr>
          </a:p>
        </p:txBody>
      </p:sp>
      <p:sp>
        <p:nvSpPr>
          <p:cNvPr id="514" name="Google Shape;514;p8"/>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515" name="Google Shape;515;p8"/>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8"/>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8"/>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8"/>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8"/>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8"/>
          <p:cNvSpPr txBox="1"/>
          <p:nvPr/>
        </p:nvSpPr>
        <p:spPr>
          <a:xfrm>
            <a:off x="1234440" y="502920"/>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DIGITAL TWIN SIMULATION</a:t>
            </a:r>
            <a:endParaRPr sz="1100">
              <a:solidFill>
                <a:schemeClr val="dk1"/>
              </a:solidFill>
              <a:latin typeface="Calibri"/>
              <a:ea typeface="Calibri"/>
              <a:cs typeface="Calibri"/>
              <a:sym typeface="Calibri"/>
            </a:endParaRPr>
          </a:p>
        </p:txBody>
      </p:sp>
      <p:sp>
        <p:nvSpPr>
          <p:cNvPr id="521" name="Google Shape;521;p8"/>
          <p:cNvSpPr txBox="1"/>
          <p:nvPr/>
        </p:nvSpPr>
        <p:spPr>
          <a:xfrm>
            <a:off x="1234440" y="804672"/>
            <a:ext cx="1045433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2700"/>
              <a:buFont typeface="Arial"/>
              <a:buNone/>
            </a:pPr>
            <a:r>
              <a:rPr b="1" lang="en-US" sz="2700">
                <a:solidFill>
                  <a:srgbClr val="F3E7E4"/>
                </a:solidFill>
                <a:latin typeface="Arial"/>
                <a:ea typeface="Arial"/>
                <a:cs typeface="Arial"/>
                <a:sym typeface="Arial"/>
              </a:rPr>
              <a:t>INCIDENT REPLAY: CRISIS SIMULATION</a:t>
            </a:r>
            <a:endParaRPr sz="2700">
              <a:solidFill>
                <a:schemeClr val="dk1"/>
              </a:solidFill>
              <a:latin typeface="Calibri"/>
              <a:ea typeface="Calibri"/>
              <a:cs typeface="Calibri"/>
              <a:sym typeface="Calibri"/>
            </a:endParaRPr>
          </a:p>
        </p:txBody>
      </p:sp>
      <p:cxnSp>
        <p:nvCxnSpPr>
          <p:cNvPr id="522" name="Google Shape;522;p8"/>
          <p:cNvCxnSpPr/>
          <p:nvPr/>
        </p:nvCxnSpPr>
        <p:spPr>
          <a:xfrm>
            <a:off x="1234440" y="1463040"/>
            <a:ext cx="10454335" cy="0"/>
          </a:xfrm>
          <a:prstGeom prst="straightConnector1">
            <a:avLst/>
          </a:prstGeom>
          <a:noFill/>
          <a:ln cap="flat" cmpd="sng" w="12700">
            <a:solidFill>
              <a:srgbClr val="45201D"/>
            </a:solidFill>
            <a:prstDash val="solid"/>
            <a:round/>
            <a:headEnd len="sm" w="sm" type="none"/>
            <a:tailEnd len="sm" w="sm" type="none"/>
          </a:ln>
        </p:spPr>
      </p:cxnSp>
      <p:sp>
        <p:nvSpPr>
          <p:cNvPr id="523" name="Google Shape;523;p8"/>
          <p:cNvSpPr txBox="1"/>
          <p:nvPr/>
        </p:nvSpPr>
        <p:spPr>
          <a:xfrm>
            <a:off x="1234440" y="1536192"/>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150"/>
              <a:buFont typeface="Courier New"/>
              <a:buNone/>
            </a:pPr>
            <a:r>
              <a:rPr lang="en-US" sz="1150">
                <a:solidFill>
                  <a:srgbClr val="C7A19C"/>
                </a:solidFill>
                <a:latin typeface="Courier New"/>
                <a:ea typeface="Courier New"/>
                <a:cs typeface="Courier New"/>
                <a:sym typeface="Courier New"/>
              </a:rPr>
              <a:t>Idukki Incident — 10:00 to 13:17 IST</a:t>
            </a:r>
            <a:endParaRPr sz="1150">
              <a:solidFill>
                <a:schemeClr val="dk1"/>
              </a:solidFill>
              <a:latin typeface="Calibri"/>
              <a:ea typeface="Calibri"/>
              <a:cs typeface="Calibri"/>
              <a:sym typeface="Calibri"/>
            </a:endParaRPr>
          </a:p>
        </p:txBody>
      </p:sp>
      <p:cxnSp>
        <p:nvCxnSpPr>
          <p:cNvPr id="524" name="Google Shape;524;p8"/>
          <p:cNvCxnSpPr/>
          <p:nvPr/>
        </p:nvCxnSpPr>
        <p:spPr>
          <a:xfrm>
            <a:off x="1981178" y="3200400"/>
            <a:ext cx="8960859" cy="0"/>
          </a:xfrm>
          <a:prstGeom prst="straightConnector1">
            <a:avLst/>
          </a:prstGeom>
          <a:noFill/>
          <a:ln cap="flat" cmpd="sng" w="25400">
            <a:solidFill>
              <a:srgbClr val="45201D"/>
            </a:solidFill>
            <a:prstDash val="dash"/>
            <a:round/>
            <a:headEnd len="sm" w="sm" type="none"/>
            <a:tailEnd len="sm" w="sm" type="none"/>
          </a:ln>
        </p:spPr>
      </p:cxnSp>
      <p:sp>
        <p:nvSpPr>
          <p:cNvPr id="525" name="Google Shape;525;p8"/>
          <p:cNvSpPr txBox="1"/>
          <p:nvPr/>
        </p:nvSpPr>
        <p:spPr>
          <a:xfrm>
            <a:off x="1234440" y="2423160"/>
            <a:ext cx="149347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1050"/>
              <a:buFont typeface="Courier New"/>
              <a:buNone/>
            </a:pPr>
            <a:r>
              <a:rPr b="1" lang="en-US" sz="1050">
                <a:solidFill>
                  <a:srgbClr val="C7A19C"/>
                </a:solidFill>
                <a:latin typeface="Courier New"/>
                <a:ea typeface="Courier New"/>
                <a:cs typeface="Courier New"/>
                <a:sym typeface="Courier New"/>
              </a:rPr>
              <a:t>10:00</a:t>
            </a:r>
            <a:endParaRPr sz="1050">
              <a:solidFill>
                <a:schemeClr val="dk1"/>
              </a:solidFill>
              <a:latin typeface="Calibri"/>
              <a:ea typeface="Calibri"/>
              <a:cs typeface="Calibri"/>
              <a:sym typeface="Calibri"/>
            </a:endParaRPr>
          </a:p>
        </p:txBody>
      </p:sp>
      <p:sp>
        <p:nvSpPr>
          <p:cNvPr id="526" name="Google Shape;526;p8"/>
          <p:cNvSpPr/>
          <p:nvPr/>
        </p:nvSpPr>
        <p:spPr>
          <a:xfrm>
            <a:off x="1688570" y="2907792"/>
            <a:ext cx="585216" cy="585216"/>
          </a:xfrm>
          <a:prstGeom prst="ellipse">
            <a:avLst/>
          </a:prstGeom>
          <a:solidFill>
            <a:srgbClr val="200B0B"/>
          </a:solidFill>
          <a:ln cap="flat" cmpd="sng" w="25400">
            <a:solidFill>
              <a:srgbClr val="4C9F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8"/>
          <p:cNvSpPr txBox="1"/>
          <p:nvPr/>
        </p:nvSpPr>
        <p:spPr>
          <a:xfrm>
            <a:off x="1688570" y="290779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C9F70"/>
              </a:buClr>
              <a:buSzPts val="1800"/>
              <a:buFont typeface="Courier New"/>
              <a:buNone/>
            </a:pPr>
            <a:r>
              <a:rPr b="1" lang="en-US" sz="1800">
                <a:solidFill>
                  <a:srgbClr val="4C9F70"/>
                </a:solidFill>
                <a:latin typeface="Courier New"/>
                <a:ea typeface="Courier New"/>
                <a:cs typeface="Courier New"/>
                <a:sym typeface="Courier New"/>
              </a:rPr>
              <a:t>26</a:t>
            </a:r>
            <a:endParaRPr sz="1800">
              <a:solidFill>
                <a:schemeClr val="dk1"/>
              </a:solidFill>
              <a:latin typeface="Calibri"/>
              <a:ea typeface="Calibri"/>
              <a:cs typeface="Calibri"/>
              <a:sym typeface="Calibri"/>
            </a:endParaRPr>
          </a:p>
        </p:txBody>
      </p:sp>
      <p:sp>
        <p:nvSpPr>
          <p:cNvPr id="528" name="Google Shape;528;p8"/>
          <p:cNvSpPr/>
          <p:nvPr/>
        </p:nvSpPr>
        <p:spPr>
          <a:xfrm>
            <a:off x="1289304" y="3611880"/>
            <a:ext cx="1383748" cy="292608"/>
          </a:xfrm>
          <a:prstGeom prst="rect">
            <a:avLst/>
          </a:prstGeom>
          <a:solidFill>
            <a:srgbClr val="4C9F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8"/>
          <p:cNvSpPr txBox="1"/>
          <p:nvPr/>
        </p:nvSpPr>
        <p:spPr>
          <a:xfrm>
            <a:off x="1289304" y="3611880"/>
            <a:ext cx="138374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ourier New"/>
              <a:buNone/>
            </a:pPr>
            <a:r>
              <a:rPr b="1" lang="en-US" sz="850">
                <a:solidFill>
                  <a:srgbClr val="FFFFFF"/>
                </a:solidFill>
                <a:latin typeface="Courier New"/>
                <a:ea typeface="Courier New"/>
                <a:cs typeface="Courier New"/>
                <a:sym typeface="Courier New"/>
              </a:rPr>
              <a:t>LOW</a:t>
            </a:r>
            <a:endParaRPr sz="850">
              <a:solidFill>
                <a:schemeClr val="dk1"/>
              </a:solidFill>
              <a:latin typeface="Calibri"/>
              <a:ea typeface="Calibri"/>
              <a:cs typeface="Calibri"/>
              <a:sym typeface="Calibri"/>
            </a:endParaRPr>
          </a:p>
        </p:txBody>
      </p:sp>
      <p:sp>
        <p:nvSpPr>
          <p:cNvPr id="530" name="Google Shape;530;p8"/>
          <p:cNvSpPr txBox="1"/>
          <p:nvPr/>
        </p:nvSpPr>
        <p:spPr>
          <a:xfrm>
            <a:off x="1261872" y="3986784"/>
            <a:ext cx="1438612"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3E7E4"/>
              </a:buClr>
              <a:buSzPts val="950"/>
              <a:buFont typeface="Calibri"/>
              <a:buNone/>
            </a:pPr>
            <a:r>
              <a:rPr lang="en-US" sz="950">
                <a:solidFill>
                  <a:srgbClr val="F3E7E4"/>
                </a:solidFill>
                <a:latin typeface="Calibri"/>
                <a:ea typeface="Calibri"/>
                <a:cs typeface="Calibri"/>
                <a:sym typeface="Calibri"/>
              </a:rPr>
              <a:t>Rainfall begins</a:t>
            </a:r>
            <a:endParaRPr sz="950">
              <a:solidFill>
                <a:schemeClr val="dk1"/>
              </a:solidFill>
              <a:latin typeface="Calibri"/>
              <a:ea typeface="Calibri"/>
              <a:cs typeface="Calibri"/>
              <a:sym typeface="Calibri"/>
            </a:endParaRPr>
          </a:p>
        </p:txBody>
      </p:sp>
      <p:sp>
        <p:nvSpPr>
          <p:cNvPr id="531" name="Google Shape;531;p8"/>
          <p:cNvSpPr txBox="1"/>
          <p:nvPr/>
        </p:nvSpPr>
        <p:spPr>
          <a:xfrm>
            <a:off x="2727916" y="2423160"/>
            <a:ext cx="149347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1050"/>
              <a:buFont typeface="Courier New"/>
              <a:buNone/>
            </a:pPr>
            <a:r>
              <a:rPr b="1" lang="en-US" sz="1050">
                <a:solidFill>
                  <a:srgbClr val="C7A19C"/>
                </a:solidFill>
                <a:latin typeface="Courier New"/>
                <a:ea typeface="Courier New"/>
                <a:cs typeface="Courier New"/>
                <a:sym typeface="Courier New"/>
              </a:rPr>
              <a:t>11:00</a:t>
            </a:r>
            <a:endParaRPr sz="1050">
              <a:solidFill>
                <a:schemeClr val="dk1"/>
              </a:solidFill>
              <a:latin typeface="Calibri"/>
              <a:ea typeface="Calibri"/>
              <a:cs typeface="Calibri"/>
              <a:sym typeface="Calibri"/>
            </a:endParaRPr>
          </a:p>
        </p:txBody>
      </p:sp>
      <p:sp>
        <p:nvSpPr>
          <p:cNvPr id="532" name="Google Shape;532;p8"/>
          <p:cNvSpPr/>
          <p:nvPr/>
        </p:nvSpPr>
        <p:spPr>
          <a:xfrm>
            <a:off x="3182047" y="2907792"/>
            <a:ext cx="585216" cy="585216"/>
          </a:xfrm>
          <a:prstGeom prst="ellipse">
            <a:avLst/>
          </a:prstGeom>
          <a:solidFill>
            <a:srgbClr val="200B0B"/>
          </a:solidFill>
          <a:ln cap="flat" cmpd="sng" w="25400">
            <a:solidFill>
              <a:srgbClr val="E8A2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8"/>
          <p:cNvSpPr txBox="1"/>
          <p:nvPr/>
        </p:nvSpPr>
        <p:spPr>
          <a:xfrm>
            <a:off x="3182047" y="290779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800"/>
              <a:buFont typeface="Courier New"/>
              <a:buNone/>
            </a:pPr>
            <a:r>
              <a:rPr b="1" lang="en-US" sz="1800">
                <a:solidFill>
                  <a:srgbClr val="E8A23B"/>
                </a:solidFill>
                <a:latin typeface="Courier New"/>
                <a:ea typeface="Courier New"/>
                <a:cs typeface="Courier New"/>
                <a:sym typeface="Courier New"/>
              </a:rPr>
              <a:t>44</a:t>
            </a:r>
            <a:endParaRPr sz="1800">
              <a:solidFill>
                <a:schemeClr val="dk1"/>
              </a:solidFill>
              <a:latin typeface="Calibri"/>
              <a:ea typeface="Calibri"/>
              <a:cs typeface="Calibri"/>
              <a:sym typeface="Calibri"/>
            </a:endParaRPr>
          </a:p>
        </p:txBody>
      </p:sp>
      <p:sp>
        <p:nvSpPr>
          <p:cNvPr id="534" name="Google Shape;534;p8"/>
          <p:cNvSpPr/>
          <p:nvPr/>
        </p:nvSpPr>
        <p:spPr>
          <a:xfrm>
            <a:off x="2782780" y="3611880"/>
            <a:ext cx="1383748" cy="292608"/>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8"/>
          <p:cNvSpPr txBox="1"/>
          <p:nvPr/>
        </p:nvSpPr>
        <p:spPr>
          <a:xfrm>
            <a:off x="2782780" y="3611880"/>
            <a:ext cx="138374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ourier New"/>
              <a:buNone/>
            </a:pPr>
            <a:r>
              <a:rPr b="1" lang="en-US" sz="850">
                <a:solidFill>
                  <a:srgbClr val="FFFFFF"/>
                </a:solidFill>
                <a:latin typeface="Courier New"/>
                <a:ea typeface="Courier New"/>
                <a:cs typeface="Courier New"/>
                <a:sym typeface="Courier New"/>
              </a:rPr>
              <a:t>MODERATE</a:t>
            </a:r>
            <a:endParaRPr sz="850">
              <a:solidFill>
                <a:schemeClr val="dk1"/>
              </a:solidFill>
              <a:latin typeface="Calibri"/>
              <a:ea typeface="Calibri"/>
              <a:cs typeface="Calibri"/>
              <a:sym typeface="Calibri"/>
            </a:endParaRPr>
          </a:p>
        </p:txBody>
      </p:sp>
      <p:sp>
        <p:nvSpPr>
          <p:cNvPr id="536" name="Google Shape;536;p8"/>
          <p:cNvSpPr txBox="1"/>
          <p:nvPr/>
        </p:nvSpPr>
        <p:spPr>
          <a:xfrm>
            <a:off x="2755348" y="3986784"/>
            <a:ext cx="1438612"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3E7E4"/>
              </a:buClr>
              <a:buSzPts val="950"/>
              <a:buFont typeface="Calibri"/>
              <a:buNone/>
            </a:pPr>
            <a:r>
              <a:rPr lang="en-US" sz="950">
                <a:solidFill>
                  <a:srgbClr val="F3E7E4"/>
                </a:solidFill>
                <a:latin typeface="Calibri"/>
                <a:ea typeface="Calibri"/>
                <a:cs typeface="Calibri"/>
                <a:sym typeface="Calibri"/>
              </a:rPr>
              <a:t>Soil moisture rises</a:t>
            </a:r>
            <a:endParaRPr sz="950">
              <a:solidFill>
                <a:schemeClr val="dk1"/>
              </a:solidFill>
              <a:latin typeface="Calibri"/>
              <a:ea typeface="Calibri"/>
              <a:cs typeface="Calibri"/>
              <a:sym typeface="Calibri"/>
            </a:endParaRPr>
          </a:p>
        </p:txBody>
      </p:sp>
      <p:sp>
        <p:nvSpPr>
          <p:cNvPr id="537" name="Google Shape;537;p8"/>
          <p:cNvSpPr txBox="1"/>
          <p:nvPr/>
        </p:nvSpPr>
        <p:spPr>
          <a:xfrm>
            <a:off x="4221393" y="2423160"/>
            <a:ext cx="149347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1050"/>
              <a:buFont typeface="Courier New"/>
              <a:buNone/>
            </a:pPr>
            <a:r>
              <a:rPr b="1" lang="en-US" sz="1050">
                <a:solidFill>
                  <a:srgbClr val="C7A19C"/>
                </a:solidFill>
                <a:latin typeface="Courier New"/>
                <a:ea typeface="Courier New"/>
                <a:cs typeface="Courier New"/>
                <a:sym typeface="Courier New"/>
              </a:rPr>
              <a:t>12:00</a:t>
            </a:r>
            <a:endParaRPr sz="1050">
              <a:solidFill>
                <a:schemeClr val="dk1"/>
              </a:solidFill>
              <a:latin typeface="Calibri"/>
              <a:ea typeface="Calibri"/>
              <a:cs typeface="Calibri"/>
              <a:sym typeface="Calibri"/>
            </a:endParaRPr>
          </a:p>
        </p:txBody>
      </p:sp>
      <p:sp>
        <p:nvSpPr>
          <p:cNvPr id="538" name="Google Shape;538;p8"/>
          <p:cNvSpPr/>
          <p:nvPr/>
        </p:nvSpPr>
        <p:spPr>
          <a:xfrm>
            <a:off x="4675523" y="2907792"/>
            <a:ext cx="585216" cy="585216"/>
          </a:xfrm>
          <a:prstGeom prst="ellipse">
            <a:avLst/>
          </a:prstGeom>
          <a:solidFill>
            <a:srgbClr val="200B0B"/>
          </a:solidFill>
          <a:ln cap="flat" cmpd="sng" w="25400">
            <a:solidFill>
              <a:srgbClr val="D87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8"/>
          <p:cNvSpPr txBox="1"/>
          <p:nvPr/>
        </p:nvSpPr>
        <p:spPr>
          <a:xfrm>
            <a:off x="4675523" y="290779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722B"/>
              </a:buClr>
              <a:buSzPts val="1800"/>
              <a:buFont typeface="Courier New"/>
              <a:buNone/>
            </a:pPr>
            <a:r>
              <a:rPr b="1" lang="en-US" sz="1800">
                <a:solidFill>
                  <a:srgbClr val="D8722B"/>
                </a:solidFill>
                <a:latin typeface="Courier New"/>
                <a:ea typeface="Courier New"/>
                <a:cs typeface="Courier New"/>
                <a:sym typeface="Courier New"/>
              </a:rPr>
              <a:t>69</a:t>
            </a:r>
            <a:endParaRPr sz="1800">
              <a:solidFill>
                <a:schemeClr val="dk1"/>
              </a:solidFill>
              <a:latin typeface="Calibri"/>
              <a:ea typeface="Calibri"/>
              <a:cs typeface="Calibri"/>
              <a:sym typeface="Calibri"/>
            </a:endParaRPr>
          </a:p>
        </p:txBody>
      </p:sp>
      <p:sp>
        <p:nvSpPr>
          <p:cNvPr id="540" name="Google Shape;540;p8"/>
          <p:cNvSpPr/>
          <p:nvPr/>
        </p:nvSpPr>
        <p:spPr>
          <a:xfrm>
            <a:off x="4276257" y="3611880"/>
            <a:ext cx="1383748" cy="292608"/>
          </a:xfrm>
          <a:prstGeom prst="rect">
            <a:avLst/>
          </a:prstGeom>
          <a:solidFill>
            <a:srgbClr val="D87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8"/>
          <p:cNvSpPr txBox="1"/>
          <p:nvPr/>
        </p:nvSpPr>
        <p:spPr>
          <a:xfrm>
            <a:off x="4276257" y="3611880"/>
            <a:ext cx="138374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ourier New"/>
              <a:buNone/>
            </a:pPr>
            <a:r>
              <a:rPr b="1" lang="en-US" sz="850">
                <a:solidFill>
                  <a:srgbClr val="FFFFFF"/>
                </a:solidFill>
                <a:latin typeface="Courier New"/>
                <a:ea typeface="Courier New"/>
                <a:cs typeface="Courier New"/>
                <a:sym typeface="Courier New"/>
              </a:rPr>
              <a:t>HIGH</a:t>
            </a:r>
            <a:endParaRPr sz="850">
              <a:solidFill>
                <a:schemeClr val="dk1"/>
              </a:solidFill>
              <a:latin typeface="Calibri"/>
              <a:ea typeface="Calibri"/>
              <a:cs typeface="Calibri"/>
              <a:sym typeface="Calibri"/>
            </a:endParaRPr>
          </a:p>
        </p:txBody>
      </p:sp>
      <p:sp>
        <p:nvSpPr>
          <p:cNvPr id="542" name="Google Shape;542;p8"/>
          <p:cNvSpPr txBox="1"/>
          <p:nvPr/>
        </p:nvSpPr>
        <p:spPr>
          <a:xfrm>
            <a:off x="4248825" y="3986784"/>
            <a:ext cx="1438612"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3E7E4"/>
              </a:buClr>
              <a:buSzPts val="950"/>
              <a:buFont typeface="Calibri"/>
              <a:buNone/>
            </a:pPr>
            <a:r>
              <a:rPr lang="en-US" sz="950">
                <a:solidFill>
                  <a:srgbClr val="F3E7E4"/>
                </a:solidFill>
                <a:latin typeface="Calibri"/>
                <a:ea typeface="Calibri"/>
                <a:cs typeface="Calibri"/>
                <a:sym typeface="Calibri"/>
              </a:rPr>
              <a:t>Flood &amp; landslide breach</a:t>
            </a:r>
            <a:endParaRPr sz="950">
              <a:solidFill>
                <a:schemeClr val="dk1"/>
              </a:solidFill>
              <a:latin typeface="Calibri"/>
              <a:ea typeface="Calibri"/>
              <a:cs typeface="Calibri"/>
              <a:sym typeface="Calibri"/>
            </a:endParaRPr>
          </a:p>
        </p:txBody>
      </p:sp>
      <p:sp>
        <p:nvSpPr>
          <p:cNvPr id="543" name="Google Shape;543;p8"/>
          <p:cNvSpPr txBox="1"/>
          <p:nvPr/>
        </p:nvSpPr>
        <p:spPr>
          <a:xfrm>
            <a:off x="5714869" y="2423160"/>
            <a:ext cx="149347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1050"/>
              <a:buFont typeface="Courier New"/>
              <a:buNone/>
            </a:pPr>
            <a:r>
              <a:rPr b="1" lang="en-US" sz="1050">
                <a:solidFill>
                  <a:srgbClr val="C7A19C"/>
                </a:solidFill>
                <a:latin typeface="Courier New"/>
                <a:ea typeface="Courier New"/>
                <a:cs typeface="Courier New"/>
                <a:sym typeface="Courier New"/>
              </a:rPr>
              <a:t>12:40</a:t>
            </a:r>
            <a:endParaRPr sz="1050">
              <a:solidFill>
                <a:schemeClr val="dk1"/>
              </a:solidFill>
              <a:latin typeface="Calibri"/>
              <a:ea typeface="Calibri"/>
              <a:cs typeface="Calibri"/>
              <a:sym typeface="Calibri"/>
            </a:endParaRPr>
          </a:p>
        </p:txBody>
      </p:sp>
      <p:sp>
        <p:nvSpPr>
          <p:cNvPr id="544" name="Google Shape;544;p8"/>
          <p:cNvSpPr/>
          <p:nvPr/>
        </p:nvSpPr>
        <p:spPr>
          <a:xfrm>
            <a:off x="6169000" y="2907792"/>
            <a:ext cx="585216" cy="585216"/>
          </a:xfrm>
          <a:prstGeom prst="ellipse">
            <a:avLst/>
          </a:prstGeom>
          <a:solidFill>
            <a:srgbClr val="200B0B"/>
          </a:solidFill>
          <a:ln cap="flat" cmpd="sng" w="25400">
            <a:solidFill>
              <a:srgbClr val="C135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8"/>
          <p:cNvSpPr txBox="1"/>
          <p:nvPr/>
        </p:nvSpPr>
        <p:spPr>
          <a:xfrm>
            <a:off x="6169000" y="290779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1352A"/>
              </a:buClr>
              <a:buSzPts val="1800"/>
              <a:buFont typeface="Courier New"/>
              <a:buNone/>
            </a:pPr>
            <a:r>
              <a:rPr b="1" lang="en-US" sz="1800">
                <a:solidFill>
                  <a:srgbClr val="C1352A"/>
                </a:solidFill>
                <a:latin typeface="Courier New"/>
                <a:ea typeface="Courier New"/>
                <a:cs typeface="Courier New"/>
                <a:sym typeface="Courier New"/>
              </a:rPr>
              <a:t>83</a:t>
            </a:r>
            <a:endParaRPr sz="1800">
              <a:solidFill>
                <a:schemeClr val="dk1"/>
              </a:solidFill>
              <a:latin typeface="Calibri"/>
              <a:ea typeface="Calibri"/>
              <a:cs typeface="Calibri"/>
              <a:sym typeface="Calibri"/>
            </a:endParaRPr>
          </a:p>
        </p:txBody>
      </p:sp>
      <p:sp>
        <p:nvSpPr>
          <p:cNvPr id="546" name="Google Shape;546;p8"/>
          <p:cNvSpPr/>
          <p:nvPr/>
        </p:nvSpPr>
        <p:spPr>
          <a:xfrm>
            <a:off x="5769733" y="3611880"/>
            <a:ext cx="1383748" cy="292608"/>
          </a:xfrm>
          <a:prstGeom prst="rect">
            <a:avLst/>
          </a:prstGeom>
          <a:solidFill>
            <a:srgbClr val="C135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8"/>
          <p:cNvSpPr txBox="1"/>
          <p:nvPr/>
        </p:nvSpPr>
        <p:spPr>
          <a:xfrm>
            <a:off x="5769733" y="3611880"/>
            <a:ext cx="138374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ourier New"/>
              <a:buNone/>
            </a:pPr>
            <a:r>
              <a:rPr b="1" lang="en-US" sz="850">
                <a:solidFill>
                  <a:srgbClr val="FFFFFF"/>
                </a:solidFill>
                <a:latin typeface="Courier New"/>
                <a:ea typeface="Courier New"/>
                <a:cs typeface="Courier New"/>
                <a:sym typeface="Courier New"/>
              </a:rPr>
              <a:t>CRITICAL</a:t>
            </a:r>
            <a:endParaRPr sz="850">
              <a:solidFill>
                <a:schemeClr val="dk1"/>
              </a:solidFill>
              <a:latin typeface="Calibri"/>
              <a:ea typeface="Calibri"/>
              <a:cs typeface="Calibri"/>
              <a:sym typeface="Calibri"/>
            </a:endParaRPr>
          </a:p>
        </p:txBody>
      </p:sp>
      <p:sp>
        <p:nvSpPr>
          <p:cNvPr id="548" name="Google Shape;548;p8"/>
          <p:cNvSpPr txBox="1"/>
          <p:nvPr/>
        </p:nvSpPr>
        <p:spPr>
          <a:xfrm>
            <a:off x="5742301" y="3986784"/>
            <a:ext cx="1438612"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3E7E4"/>
              </a:buClr>
              <a:buSzPts val="950"/>
              <a:buFont typeface="Calibri"/>
              <a:buNone/>
            </a:pPr>
            <a:r>
              <a:rPr lang="en-US" sz="950">
                <a:solidFill>
                  <a:srgbClr val="F3E7E4"/>
                </a:solidFill>
                <a:latin typeface="Calibri"/>
                <a:ea typeface="Calibri"/>
                <a:cs typeface="Calibri"/>
                <a:sym typeface="Calibri"/>
              </a:rPr>
              <a:t>Compound risk triggered</a:t>
            </a:r>
            <a:endParaRPr sz="950">
              <a:solidFill>
                <a:schemeClr val="dk1"/>
              </a:solidFill>
              <a:latin typeface="Calibri"/>
              <a:ea typeface="Calibri"/>
              <a:cs typeface="Calibri"/>
              <a:sym typeface="Calibri"/>
            </a:endParaRPr>
          </a:p>
        </p:txBody>
      </p:sp>
      <p:sp>
        <p:nvSpPr>
          <p:cNvPr id="549" name="Google Shape;549;p8"/>
          <p:cNvSpPr txBox="1"/>
          <p:nvPr/>
        </p:nvSpPr>
        <p:spPr>
          <a:xfrm>
            <a:off x="7208346" y="2423160"/>
            <a:ext cx="149347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1050"/>
              <a:buFont typeface="Courier New"/>
              <a:buNone/>
            </a:pPr>
            <a:r>
              <a:rPr b="1" lang="en-US" sz="1050">
                <a:solidFill>
                  <a:srgbClr val="C7A19C"/>
                </a:solidFill>
                <a:latin typeface="Courier New"/>
                <a:ea typeface="Courier New"/>
                <a:cs typeface="Courier New"/>
                <a:sym typeface="Courier New"/>
              </a:rPr>
              <a:t>13:10</a:t>
            </a:r>
            <a:endParaRPr sz="1050">
              <a:solidFill>
                <a:schemeClr val="dk1"/>
              </a:solidFill>
              <a:latin typeface="Calibri"/>
              <a:ea typeface="Calibri"/>
              <a:cs typeface="Calibri"/>
              <a:sym typeface="Calibri"/>
            </a:endParaRPr>
          </a:p>
        </p:txBody>
      </p:sp>
      <p:sp>
        <p:nvSpPr>
          <p:cNvPr id="550" name="Google Shape;550;p8"/>
          <p:cNvSpPr/>
          <p:nvPr/>
        </p:nvSpPr>
        <p:spPr>
          <a:xfrm>
            <a:off x="7662476" y="2907792"/>
            <a:ext cx="585216" cy="585216"/>
          </a:xfrm>
          <a:prstGeom prst="ellipse">
            <a:avLst/>
          </a:prstGeom>
          <a:solidFill>
            <a:srgbClr val="200B0B"/>
          </a:solidFill>
          <a:ln cap="flat" cmpd="sng" w="25400">
            <a:solidFill>
              <a:srgbClr val="C135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8"/>
          <p:cNvSpPr txBox="1"/>
          <p:nvPr/>
        </p:nvSpPr>
        <p:spPr>
          <a:xfrm>
            <a:off x="7662476" y="290779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1352A"/>
              </a:buClr>
              <a:buSzPts val="1800"/>
              <a:buFont typeface="Courier New"/>
              <a:buNone/>
            </a:pPr>
            <a:r>
              <a:rPr b="1" lang="en-US" sz="1800">
                <a:solidFill>
                  <a:srgbClr val="C1352A"/>
                </a:solidFill>
                <a:latin typeface="Courier New"/>
                <a:ea typeface="Courier New"/>
                <a:cs typeface="Courier New"/>
                <a:sym typeface="Courier New"/>
              </a:rPr>
              <a:t>93</a:t>
            </a:r>
            <a:endParaRPr sz="1800">
              <a:solidFill>
                <a:schemeClr val="dk1"/>
              </a:solidFill>
              <a:latin typeface="Calibri"/>
              <a:ea typeface="Calibri"/>
              <a:cs typeface="Calibri"/>
              <a:sym typeface="Calibri"/>
            </a:endParaRPr>
          </a:p>
        </p:txBody>
      </p:sp>
      <p:sp>
        <p:nvSpPr>
          <p:cNvPr id="552" name="Google Shape;552;p8"/>
          <p:cNvSpPr/>
          <p:nvPr/>
        </p:nvSpPr>
        <p:spPr>
          <a:xfrm>
            <a:off x="7263210" y="3611880"/>
            <a:ext cx="1383748" cy="292608"/>
          </a:xfrm>
          <a:prstGeom prst="rect">
            <a:avLst/>
          </a:prstGeom>
          <a:solidFill>
            <a:srgbClr val="C135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8"/>
          <p:cNvSpPr txBox="1"/>
          <p:nvPr/>
        </p:nvSpPr>
        <p:spPr>
          <a:xfrm>
            <a:off x="7263210" y="3611880"/>
            <a:ext cx="138374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ourier New"/>
              <a:buNone/>
            </a:pPr>
            <a:r>
              <a:rPr b="1" lang="en-US" sz="850">
                <a:solidFill>
                  <a:srgbClr val="FFFFFF"/>
                </a:solidFill>
                <a:latin typeface="Courier New"/>
                <a:ea typeface="Courier New"/>
                <a:cs typeface="Courier New"/>
                <a:sym typeface="Courier New"/>
              </a:rPr>
              <a:t>CRITICAL</a:t>
            </a:r>
            <a:endParaRPr sz="850">
              <a:solidFill>
                <a:schemeClr val="dk1"/>
              </a:solidFill>
              <a:latin typeface="Calibri"/>
              <a:ea typeface="Calibri"/>
              <a:cs typeface="Calibri"/>
              <a:sym typeface="Calibri"/>
            </a:endParaRPr>
          </a:p>
        </p:txBody>
      </p:sp>
      <p:sp>
        <p:nvSpPr>
          <p:cNvPr id="554" name="Google Shape;554;p8"/>
          <p:cNvSpPr txBox="1"/>
          <p:nvPr/>
        </p:nvSpPr>
        <p:spPr>
          <a:xfrm>
            <a:off x="7235778" y="3986784"/>
            <a:ext cx="1438612"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3E7E4"/>
              </a:buClr>
              <a:buSzPts val="950"/>
              <a:buFont typeface="Calibri"/>
              <a:buNone/>
            </a:pPr>
            <a:r>
              <a:rPr lang="en-US" sz="950">
                <a:solidFill>
                  <a:srgbClr val="F3E7E4"/>
                </a:solidFill>
                <a:latin typeface="Calibri"/>
                <a:ea typeface="Calibri"/>
                <a:cs typeface="Calibri"/>
                <a:sym typeface="Calibri"/>
              </a:rPr>
              <a:t>Landslide risk peaks 91</a:t>
            </a:r>
            <a:endParaRPr sz="950">
              <a:solidFill>
                <a:schemeClr val="dk1"/>
              </a:solidFill>
              <a:latin typeface="Calibri"/>
              <a:ea typeface="Calibri"/>
              <a:cs typeface="Calibri"/>
              <a:sym typeface="Calibri"/>
            </a:endParaRPr>
          </a:p>
        </p:txBody>
      </p:sp>
      <p:sp>
        <p:nvSpPr>
          <p:cNvPr id="555" name="Google Shape;555;p8"/>
          <p:cNvSpPr txBox="1"/>
          <p:nvPr/>
        </p:nvSpPr>
        <p:spPr>
          <a:xfrm>
            <a:off x="8701822" y="2423160"/>
            <a:ext cx="149347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1050"/>
              <a:buFont typeface="Courier New"/>
              <a:buNone/>
            </a:pPr>
            <a:r>
              <a:rPr b="1" lang="en-US" sz="1050">
                <a:solidFill>
                  <a:srgbClr val="C7A19C"/>
                </a:solidFill>
                <a:latin typeface="Courier New"/>
                <a:ea typeface="Courier New"/>
                <a:cs typeface="Courier New"/>
                <a:sym typeface="Courier New"/>
              </a:rPr>
              <a:t>13:15</a:t>
            </a:r>
            <a:endParaRPr sz="1050">
              <a:solidFill>
                <a:schemeClr val="dk1"/>
              </a:solidFill>
              <a:latin typeface="Calibri"/>
              <a:ea typeface="Calibri"/>
              <a:cs typeface="Calibri"/>
              <a:sym typeface="Calibri"/>
            </a:endParaRPr>
          </a:p>
        </p:txBody>
      </p:sp>
      <p:sp>
        <p:nvSpPr>
          <p:cNvPr id="556" name="Google Shape;556;p8"/>
          <p:cNvSpPr/>
          <p:nvPr/>
        </p:nvSpPr>
        <p:spPr>
          <a:xfrm>
            <a:off x="9155953" y="2907792"/>
            <a:ext cx="585216" cy="585216"/>
          </a:xfrm>
          <a:prstGeom prst="ellipse">
            <a:avLst/>
          </a:prstGeom>
          <a:solidFill>
            <a:srgbClr val="200B0B"/>
          </a:solidFill>
          <a:ln cap="flat" cmpd="sng" w="25400">
            <a:solidFill>
              <a:srgbClr val="C135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8"/>
          <p:cNvSpPr txBox="1"/>
          <p:nvPr/>
        </p:nvSpPr>
        <p:spPr>
          <a:xfrm>
            <a:off x="9155953" y="290779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1352A"/>
              </a:buClr>
              <a:buSzPts val="1800"/>
              <a:buFont typeface="Courier New"/>
              <a:buNone/>
            </a:pPr>
            <a:r>
              <a:rPr b="1" lang="en-US" sz="1800">
                <a:solidFill>
                  <a:srgbClr val="C1352A"/>
                </a:solidFill>
                <a:latin typeface="Courier New"/>
                <a:ea typeface="Courier New"/>
                <a:cs typeface="Courier New"/>
                <a:sym typeface="Courier New"/>
              </a:rPr>
              <a:t>96</a:t>
            </a:r>
            <a:endParaRPr sz="1800">
              <a:solidFill>
                <a:schemeClr val="dk1"/>
              </a:solidFill>
              <a:latin typeface="Calibri"/>
              <a:ea typeface="Calibri"/>
              <a:cs typeface="Calibri"/>
              <a:sym typeface="Calibri"/>
            </a:endParaRPr>
          </a:p>
        </p:txBody>
      </p:sp>
      <p:sp>
        <p:nvSpPr>
          <p:cNvPr id="558" name="Google Shape;558;p8"/>
          <p:cNvSpPr/>
          <p:nvPr/>
        </p:nvSpPr>
        <p:spPr>
          <a:xfrm>
            <a:off x="8756686" y="3611880"/>
            <a:ext cx="1383748" cy="292608"/>
          </a:xfrm>
          <a:prstGeom prst="rect">
            <a:avLst/>
          </a:prstGeom>
          <a:solidFill>
            <a:srgbClr val="C135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8"/>
          <p:cNvSpPr txBox="1"/>
          <p:nvPr/>
        </p:nvSpPr>
        <p:spPr>
          <a:xfrm>
            <a:off x="8756686" y="3611880"/>
            <a:ext cx="138374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ourier New"/>
              <a:buNone/>
            </a:pPr>
            <a:r>
              <a:rPr b="1" lang="en-US" sz="850">
                <a:solidFill>
                  <a:srgbClr val="FFFFFF"/>
                </a:solidFill>
                <a:latin typeface="Courier New"/>
                <a:ea typeface="Courier New"/>
                <a:cs typeface="Courier New"/>
                <a:sym typeface="Courier New"/>
              </a:rPr>
              <a:t>CRITICAL</a:t>
            </a:r>
            <a:endParaRPr sz="850">
              <a:solidFill>
                <a:schemeClr val="dk1"/>
              </a:solidFill>
              <a:latin typeface="Calibri"/>
              <a:ea typeface="Calibri"/>
              <a:cs typeface="Calibri"/>
              <a:sym typeface="Calibri"/>
            </a:endParaRPr>
          </a:p>
        </p:txBody>
      </p:sp>
      <p:sp>
        <p:nvSpPr>
          <p:cNvPr id="560" name="Google Shape;560;p8"/>
          <p:cNvSpPr txBox="1"/>
          <p:nvPr/>
        </p:nvSpPr>
        <p:spPr>
          <a:xfrm>
            <a:off x="8729254" y="3986784"/>
            <a:ext cx="1438612"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3E7E4"/>
              </a:buClr>
              <a:buSzPts val="950"/>
              <a:buFont typeface="Calibri"/>
              <a:buNone/>
            </a:pPr>
            <a:r>
              <a:rPr lang="en-US" sz="950">
                <a:solidFill>
                  <a:srgbClr val="F3E7E4"/>
                </a:solidFill>
                <a:latin typeface="Calibri"/>
                <a:ea typeface="Calibri"/>
                <a:cs typeface="Calibri"/>
                <a:sym typeface="Calibri"/>
              </a:rPr>
              <a:t>State mobilization</a:t>
            </a:r>
            <a:endParaRPr sz="950">
              <a:solidFill>
                <a:schemeClr val="dk1"/>
              </a:solidFill>
              <a:latin typeface="Calibri"/>
              <a:ea typeface="Calibri"/>
              <a:cs typeface="Calibri"/>
              <a:sym typeface="Calibri"/>
            </a:endParaRPr>
          </a:p>
        </p:txBody>
      </p:sp>
      <p:sp>
        <p:nvSpPr>
          <p:cNvPr id="561" name="Google Shape;561;p8"/>
          <p:cNvSpPr txBox="1"/>
          <p:nvPr/>
        </p:nvSpPr>
        <p:spPr>
          <a:xfrm>
            <a:off x="10195299" y="2423160"/>
            <a:ext cx="149347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1050"/>
              <a:buFont typeface="Courier New"/>
              <a:buNone/>
            </a:pPr>
            <a:r>
              <a:rPr b="1" lang="en-US" sz="1050">
                <a:solidFill>
                  <a:srgbClr val="C7A19C"/>
                </a:solidFill>
                <a:latin typeface="Courier New"/>
                <a:ea typeface="Courier New"/>
                <a:cs typeface="Courier New"/>
                <a:sym typeface="Courier New"/>
              </a:rPr>
              <a:t>13:17</a:t>
            </a:r>
            <a:endParaRPr sz="1050">
              <a:solidFill>
                <a:schemeClr val="dk1"/>
              </a:solidFill>
              <a:latin typeface="Calibri"/>
              <a:ea typeface="Calibri"/>
              <a:cs typeface="Calibri"/>
              <a:sym typeface="Calibri"/>
            </a:endParaRPr>
          </a:p>
        </p:txBody>
      </p:sp>
      <p:sp>
        <p:nvSpPr>
          <p:cNvPr id="562" name="Google Shape;562;p8"/>
          <p:cNvSpPr/>
          <p:nvPr/>
        </p:nvSpPr>
        <p:spPr>
          <a:xfrm>
            <a:off x="10649429" y="2907792"/>
            <a:ext cx="585216" cy="585216"/>
          </a:xfrm>
          <a:prstGeom prst="ellipse">
            <a:avLst/>
          </a:prstGeom>
          <a:solidFill>
            <a:srgbClr val="200B0B"/>
          </a:solidFill>
          <a:ln cap="flat" cmpd="sng" w="25400">
            <a:solidFill>
              <a:srgbClr val="B327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8"/>
          <p:cNvSpPr txBox="1"/>
          <p:nvPr/>
        </p:nvSpPr>
        <p:spPr>
          <a:xfrm>
            <a:off x="10649429" y="290779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3271D"/>
              </a:buClr>
              <a:buSzPts val="1800"/>
              <a:buFont typeface="Courier New"/>
              <a:buNone/>
            </a:pPr>
            <a:r>
              <a:rPr b="1" lang="en-US" sz="1800">
                <a:solidFill>
                  <a:srgbClr val="B3271D"/>
                </a:solidFill>
                <a:latin typeface="Courier New"/>
                <a:ea typeface="Courier New"/>
                <a:cs typeface="Courier New"/>
                <a:sym typeface="Courier New"/>
              </a:rPr>
              <a:t>✓</a:t>
            </a:r>
            <a:endParaRPr sz="1800">
              <a:solidFill>
                <a:schemeClr val="dk1"/>
              </a:solidFill>
              <a:latin typeface="Calibri"/>
              <a:ea typeface="Calibri"/>
              <a:cs typeface="Calibri"/>
              <a:sym typeface="Calibri"/>
            </a:endParaRPr>
          </a:p>
        </p:txBody>
      </p:sp>
      <p:sp>
        <p:nvSpPr>
          <p:cNvPr id="564" name="Google Shape;564;p8"/>
          <p:cNvSpPr/>
          <p:nvPr/>
        </p:nvSpPr>
        <p:spPr>
          <a:xfrm>
            <a:off x="10250163" y="3611880"/>
            <a:ext cx="1383748" cy="292608"/>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8"/>
          <p:cNvSpPr txBox="1"/>
          <p:nvPr/>
        </p:nvSpPr>
        <p:spPr>
          <a:xfrm>
            <a:off x="10250163" y="3611880"/>
            <a:ext cx="138374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ourier New"/>
              <a:buNone/>
            </a:pPr>
            <a:r>
              <a:rPr b="1" lang="en-US" sz="850">
                <a:solidFill>
                  <a:srgbClr val="FFFFFF"/>
                </a:solidFill>
                <a:latin typeface="Courier New"/>
                <a:ea typeface="Courier New"/>
                <a:cs typeface="Courier New"/>
                <a:sym typeface="Courier New"/>
              </a:rPr>
              <a:t>DISPATCHED</a:t>
            </a:r>
            <a:endParaRPr sz="850">
              <a:solidFill>
                <a:schemeClr val="dk1"/>
              </a:solidFill>
              <a:latin typeface="Calibri"/>
              <a:ea typeface="Calibri"/>
              <a:cs typeface="Calibri"/>
              <a:sym typeface="Calibri"/>
            </a:endParaRPr>
          </a:p>
        </p:txBody>
      </p:sp>
      <p:sp>
        <p:nvSpPr>
          <p:cNvPr id="566" name="Google Shape;566;p8"/>
          <p:cNvSpPr txBox="1"/>
          <p:nvPr/>
        </p:nvSpPr>
        <p:spPr>
          <a:xfrm>
            <a:off x="10222731" y="3986784"/>
            <a:ext cx="1438612"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3E7E4"/>
              </a:buClr>
              <a:buSzPts val="950"/>
              <a:buFont typeface="Calibri"/>
              <a:buNone/>
            </a:pPr>
            <a:r>
              <a:rPr lang="en-US" sz="950">
                <a:solidFill>
                  <a:srgbClr val="F3E7E4"/>
                </a:solidFill>
                <a:latin typeface="Calibri"/>
                <a:ea typeface="Calibri"/>
                <a:cs typeface="Calibri"/>
                <a:sym typeface="Calibri"/>
              </a:rPr>
              <a:t>Response plan sent</a:t>
            </a:r>
            <a:endParaRPr sz="950">
              <a:solidFill>
                <a:schemeClr val="dk1"/>
              </a:solidFill>
              <a:latin typeface="Calibri"/>
              <a:ea typeface="Calibri"/>
              <a:cs typeface="Calibri"/>
              <a:sym typeface="Calibri"/>
            </a:endParaRPr>
          </a:p>
        </p:txBody>
      </p:sp>
      <p:sp>
        <p:nvSpPr>
          <p:cNvPr id="567" name="Google Shape;567;p8"/>
          <p:cNvSpPr/>
          <p:nvPr/>
        </p:nvSpPr>
        <p:spPr>
          <a:xfrm>
            <a:off x="1234440" y="5394960"/>
            <a:ext cx="10454335" cy="1005840"/>
          </a:xfrm>
          <a:prstGeom prst="rect">
            <a:avLst/>
          </a:prstGeom>
          <a:solidFill>
            <a:srgbClr val="1A0808"/>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8" name="Google Shape;568;p8"/>
          <p:cNvCxnSpPr/>
          <p:nvPr/>
        </p:nvCxnSpPr>
        <p:spPr>
          <a:xfrm>
            <a:off x="1234440" y="5394960"/>
            <a:ext cx="182880" cy="0"/>
          </a:xfrm>
          <a:prstGeom prst="straightConnector1">
            <a:avLst/>
          </a:prstGeom>
          <a:noFill/>
          <a:ln cap="flat" cmpd="sng" w="19050">
            <a:solidFill>
              <a:srgbClr val="E8A23B"/>
            </a:solidFill>
            <a:prstDash val="solid"/>
            <a:round/>
            <a:headEnd len="sm" w="sm" type="none"/>
            <a:tailEnd len="sm" w="sm" type="none"/>
          </a:ln>
        </p:spPr>
      </p:cxnSp>
      <p:cxnSp>
        <p:nvCxnSpPr>
          <p:cNvPr id="569" name="Google Shape;569;p8"/>
          <p:cNvCxnSpPr/>
          <p:nvPr/>
        </p:nvCxnSpPr>
        <p:spPr>
          <a:xfrm>
            <a:off x="1234440" y="5394960"/>
            <a:ext cx="0" cy="182880"/>
          </a:xfrm>
          <a:prstGeom prst="straightConnector1">
            <a:avLst/>
          </a:prstGeom>
          <a:noFill/>
          <a:ln cap="flat" cmpd="sng" w="19050">
            <a:solidFill>
              <a:srgbClr val="E8A23B"/>
            </a:solidFill>
            <a:prstDash val="solid"/>
            <a:round/>
            <a:headEnd len="sm" w="sm" type="none"/>
            <a:tailEnd len="sm" w="sm" type="none"/>
          </a:ln>
        </p:spPr>
      </p:cxnSp>
      <p:cxnSp>
        <p:nvCxnSpPr>
          <p:cNvPr id="570" name="Google Shape;570;p8"/>
          <p:cNvCxnSpPr/>
          <p:nvPr/>
        </p:nvCxnSpPr>
        <p:spPr>
          <a:xfrm>
            <a:off x="11505895" y="6400800"/>
            <a:ext cx="182880" cy="0"/>
          </a:xfrm>
          <a:prstGeom prst="straightConnector1">
            <a:avLst/>
          </a:prstGeom>
          <a:noFill/>
          <a:ln cap="flat" cmpd="sng" w="19050">
            <a:solidFill>
              <a:srgbClr val="E8A23B"/>
            </a:solidFill>
            <a:prstDash val="solid"/>
            <a:round/>
            <a:headEnd len="sm" w="sm" type="none"/>
            <a:tailEnd len="sm" w="sm" type="none"/>
          </a:ln>
        </p:spPr>
      </p:cxnSp>
      <p:cxnSp>
        <p:nvCxnSpPr>
          <p:cNvPr id="571" name="Google Shape;571;p8"/>
          <p:cNvCxnSpPr/>
          <p:nvPr/>
        </p:nvCxnSpPr>
        <p:spPr>
          <a:xfrm>
            <a:off x="11688775" y="6217920"/>
            <a:ext cx="0" cy="182880"/>
          </a:xfrm>
          <a:prstGeom prst="straightConnector1">
            <a:avLst/>
          </a:prstGeom>
          <a:noFill/>
          <a:ln cap="flat" cmpd="sng" w="19050">
            <a:solidFill>
              <a:srgbClr val="E8A23B"/>
            </a:solidFill>
            <a:prstDash val="solid"/>
            <a:round/>
            <a:headEnd len="sm" w="sm" type="none"/>
            <a:tailEnd len="sm" w="sm" type="none"/>
          </a:ln>
        </p:spPr>
      </p:cxnSp>
      <p:sp>
        <p:nvSpPr>
          <p:cNvPr id="572" name="Google Shape;572;p8"/>
          <p:cNvSpPr txBox="1"/>
          <p:nvPr/>
        </p:nvSpPr>
        <p:spPr>
          <a:xfrm>
            <a:off x="1508760" y="5394960"/>
            <a:ext cx="9905695"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250"/>
              <a:buFont typeface="Calibri"/>
              <a:buNone/>
            </a:pPr>
            <a:r>
              <a:rPr i="1" lang="en-US" sz="1250">
                <a:solidFill>
                  <a:srgbClr val="C7A19C"/>
                </a:solidFill>
                <a:latin typeface="Calibri"/>
                <a:ea typeface="Calibri"/>
                <a:cs typeface="Calibri"/>
                <a:sym typeface="Calibri"/>
              </a:rPr>
              <a:t>Operators can scrub across the full 7-stage crisis timeline to conduct realistic disaster drills, test alerting cadences, and review how earlier warnings could have saved lives.</a:t>
            </a:r>
            <a:endParaRPr sz="12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577" name="Shape 577"/>
        <p:cNvGrpSpPr/>
        <p:nvPr/>
      </p:nvGrpSpPr>
      <p:grpSpPr>
        <a:xfrm>
          <a:off x="0" y="0"/>
          <a:ext cx="0" cy="0"/>
          <a:chOff x="0" y="0"/>
          <a:chExt cx="0" cy="0"/>
        </a:xfrm>
      </p:grpSpPr>
      <p:sp>
        <p:nvSpPr>
          <p:cNvPr id="578" name="Google Shape;578;p9"/>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9" name="Google Shape;579;p9"/>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580" name="Google Shape;580;p9"/>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581" name="Google Shape;581;p9"/>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09</a:t>
            </a:r>
            <a:endParaRPr sz="2200">
              <a:solidFill>
                <a:schemeClr val="dk1"/>
              </a:solidFill>
              <a:latin typeface="Calibri"/>
              <a:ea typeface="Calibri"/>
              <a:cs typeface="Calibri"/>
              <a:sym typeface="Calibri"/>
            </a:endParaRPr>
          </a:p>
        </p:txBody>
      </p:sp>
      <p:sp>
        <p:nvSpPr>
          <p:cNvPr id="582" name="Google Shape;582;p9"/>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583" name="Google Shape;583;p9"/>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9"/>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9"/>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9"/>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9"/>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9"/>
          <p:cNvSpPr txBox="1"/>
          <p:nvPr/>
        </p:nvSpPr>
        <p:spPr>
          <a:xfrm>
            <a:off x="1234440" y="502920"/>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ENGINEERING &amp; SCALABILITY</a:t>
            </a:r>
            <a:endParaRPr sz="1100">
              <a:solidFill>
                <a:schemeClr val="dk1"/>
              </a:solidFill>
              <a:latin typeface="Calibri"/>
              <a:ea typeface="Calibri"/>
              <a:cs typeface="Calibri"/>
              <a:sym typeface="Calibri"/>
            </a:endParaRPr>
          </a:p>
        </p:txBody>
      </p:sp>
      <p:sp>
        <p:nvSpPr>
          <p:cNvPr id="589" name="Google Shape;589;p9"/>
          <p:cNvSpPr txBox="1"/>
          <p:nvPr/>
        </p:nvSpPr>
        <p:spPr>
          <a:xfrm>
            <a:off x="1234440" y="804672"/>
            <a:ext cx="1045433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2700"/>
              <a:buFont typeface="Arial"/>
              <a:buNone/>
            </a:pPr>
            <a:r>
              <a:rPr b="1" lang="en-US" sz="2700">
                <a:solidFill>
                  <a:srgbClr val="F3E7E4"/>
                </a:solidFill>
                <a:latin typeface="Arial"/>
                <a:ea typeface="Arial"/>
                <a:cs typeface="Arial"/>
                <a:sym typeface="Arial"/>
              </a:rPr>
              <a:t>MODERN CLOUD ARCHITECTURE</a:t>
            </a:r>
            <a:endParaRPr sz="2700">
              <a:solidFill>
                <a:schemeClr val="dk1"/>
              </a:solidFill>
              <a:latin typeface="Calibri"/>
              <a:ea typeface="Calibri"/>
              <a:cs typeface="Calibri"/>
              <a:sym typeface="Calibri"/>
            </a:endParaRPr>
          </a:p>
        </p:txBody>
      </p:sp>
      <p:cxnSp>
        <p:nvCxnSpPr>
          <p:cNvPr id="590" name="Google Shape;590;p9"/>
          <p:cNvCxnSpPr/>
          <p:nvPr/>
        </p:nvCxnSpPr>
        <p:spPr>
          <a:xfrm>
            <a:off x="1234440" y="1463040"/>
            <a:ext cx="10454335" cy="0"/>
          </a:xfrm>
          <a:prstGeom prst="straightConnector1">
            <a:avLst/>
          </a:prstGeom>
          <a:noFill/>
          <a:ln cap="flat" cmpd="sng" w="12700">
            <a:solidFill>
              <a:srgbClr val="45201D"/>
            </a:solidFill>
            <a:prstDash val="solid"/>
            <a:round/>
            <a:headEnd len="sm" w="sm" type="none"/>
            <a:tailEnd len="sm" w="sm" type="none"/>
          </a:ln>
        </p:spPr>
      </p:cxnSp>
      <p:sp>
        <p:nvSpPr>
          <p:cNvPr id="591" name="Google Shape;591;p9"/>
          <p:cNvSpPr/>
          <p:nvPr/>
        </p:nvSpPr>
        <p:spPr>
          <a:xfrm>
            <a:off x="1234440" y="1783080"/>
            <a:ext cx="3332378" cy="4434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2" name="Google Shape;592;p9"/>
          <p:cNvCxnSpPr/>
          <p:nvPr/>
        </p:nvCxnSpPr>
        <p:spPr>
          <a:xfrm>
            <a:off x="1234440" y="1783080"/>
            <a:ext cx="182880" cy="0"/>
          </a:xfrm>
          <a:prstGeom prst="straightConnector1">
            <a:avLst/>
          </a:prstGeom>
          <a:noFill/>
          <a:ln cap="flat" cmpd="sng" w="19050">
            <a:solidFill>
              <a:srgbClr val="B3271D"/>
            </a:solidFill>
            <a:prstDash val="solid"/>
            <a:round/>
            <a:headEnd len="sm" w="sm" type="none"/>
            <a:tailEnd len="sm" w="sm" type="none"/>
          </a:ln>
        </p:spPr>
      </p:cxnSp>
      <p:cxnSp>
        <p:nvCxnSpPr>
          <p:cNvPr id="593" name="Google Shape;593;p9"/>
          <p:cNvCxnSpPr/>
          <p:nvPr/>
        </p:nvCxnSpPr>
        <p:spPr>
          <a:xfrm>
            <a:off x="1234440" y="1783080"/>
            <a:ext cx="0" cy="182880"/>
          </a:xfrm>
          <a:prstGeom prst="straightConnector1">
            <a:avLst/>
          </a:prstGeom>
          <a:noFill/>
          <a:ln cap="flat" cmpd="sng" w="19050">
            <a:solidFill>
              <a:srgbClr val="B3271D"/>
            </a:solidFill>
            <a:prstDash val="solid"/>
            <a:round/>
            <a:headEnd len="sm" w="sm" type="none"/>
            <a:tailEnd len="sm" w="sm" type="none"/>
          </a:ln>
        </p:spPr>
      </p:cxnSp>
      <p:cxnSp>
        <p:nvCxnSpPr>
          <p:cNvPr id="594" name="Google Shape;594;p9"/>
          <p:cNvCxnSpPr/>
          <p:nvPr/>
        </p:nvCxnSpPr>
        <p:spPr>
          <a:xfrm>
            <a:off x="4383938" y="6217920"/>
            <a:ext cx="182880" cy="0"/>
          </a:xfrm>
          <a:prstGeom prst="straightConnector1">
            <a:avLst/>
          </a:prstGeom>
          <a:noFill/>
          <a:ln cap="flat" cmpd="sng" w="19050">
            <a:solidFill>
              <a:srgbClr val="B3271D"/>
            </a:solidFill>
            <a:prstDash val="solid"/>
            <a:round/>
            <a:headEnd len="sm" w="sm" type="none"/>
            <a:tailEnd len="sm" w="sm" type="none"/>
          </a:ln>
        </p:spPr>
      </p:cxnSp>
      <p:cxnSp>
        <p:nvCxnSpPr>
          <p:cNvPr id="595" name="Google Shape;595;p9"/>
          <p:cNvCxnSpPr/>
          <p:nvPr/>
        </p:nvCxnSpPr>
        <p:spPr>
          <a:xfrm>
            <a:off x="4566818" y="6035040"/>
            <a:ext cx="0" cy="182880"/>
          </a:xfrm>
          <a:prstGeom prst="straightConnector1">
            <a:avLst/>
          </a:prstGeom>
          <a:noFill/>
          <a:ln cap="flat" cmpd="sng" w="19050">
            <a:solidFill>
              <a:srgbClr val="B3271D"/>
            </a:solidFill>
            <a:prstDash val="solid"/>
            <a:round/>
            <a:headEnd len="sm" w="sm" type="none"/>
            <a:tailEnd len="sm" w="sm" type="none"/>
          </a:ln>
        </p:spPr>
      </p:cxnSp>
      <p:sp>
        <p:nvSpPr>
          <p:cNvPr id="596" name="Google Shape;596;p9"/>
          <p:cNvSpPr/>
          <p:nvPr/>
        </p:nvSpPr>
        <p:spPr>
          <a:xfrm>
            <a:off x="1234440" y="1783080"/>
            <a:ext cx="3332378" cy="777240"/>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9"/>
          <p:cNvSpPr/>
          <p:nvPr/>
        </p:nvSpPr>
        <p:spPr>
          <a:xfrm>
            <a:off x="1463040" y="1929384"/>
            <a:ext cx="475488" cy="475488"/>
          </a:xfrm>
          <a:prstGeom prst="rect">
            <a:avLst/>
          </a:prstGeom>
          <a:solidFill>
            <a:srgbClr val="3A10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9"/>
          <p:cNvSpPr txBox="1"/>
          <p:nvPr/>
        </p:nvSpPr>
        <p:spPr>
          <a:xfrm>
            <a:off x="1463040" y="1929384"/>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99" name="Google Shape;599;p9"/>
          <p:cNvSpPr txBox="1"/>
          <p:nvPr/>
        </p:nvSpPr>
        <p:spPr>
          <a:xfrm>
            <a:off x="2103120" y="1783080"/>
            <a:ext cx="2326538"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FRONTEND CLIENT</a:t>
            </a:r>
            <a:endParaRPr sz="1300">
              <a:solidFill>
                <a:schemeClr val="dk1"/>
              </a:solidFill>
              <a:latin typeface="Calibri"/>
              <a:ea typeface="Calibri"/>
              <a:cs typeface="Calibri"/>
              <a:sym typeface="Calibri"/>
            </a:endParaRPr>
          </a:p>
        </p:txBody>
      </p:sp>
      <p:sp>
        <p:nvSpPr>
          <p:cNvPr id="600" name="Google Shape;600;p9"/>
          <p:cNvSpPr txBox="1"/>
          <p:nvPr/>
        </p:nvSpPr>
        <p:spPr>
          <a:xfrm>
            <a:off x="1490472" y="2770632"/>
            <a:ext cx="2820314" cy="3246120"/>
          </a:xfrm>
          <a:prstGeom prst="rect">
            <a:avLst/>
          </a:prstGeom>
          <a:noFill/>
          <a:ln>
            <a:noFill/>
          </a:ln>
        </p:spPr>
        <p:txBody>
          <a:bodyPr anchorCtr="0" anchor="t" bIns="0" lIns="0" spcFirstLastPara="1" rIns="0" wrap="square" tIns="0">
            <a:noAutofit/>
          </a:bodyPr>
          <a:lstStyle/>
          <a:p>
            <a:pPr indent="-254000" lvl="0" marL="254000" marR="0" rtl="0" algn="l">
              <a:spcBef>
                <a:spcPts val="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React 19 &amp; Vite</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Tailwind CSS v4</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Leaflet GIS mapping</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Recharts data viz</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Executive Light theme</a:t>
            </a:r>
            <a:endParaRPr sz="1250">
              <a:solidFill>
                <a:schemeClr val="dk1"/>
              </a:solidFill>
              <a:latin typeface="Calibri"/>
              <a:ea typeface="Calibri"/>
              <a:cs typeface="Calibri"/>
              <a:sym typeface="Calibri"/>
            </a:endParaRPr>
          </a:p>
        </p:txBody>
      </p:sp>
      <p:sp>
        <p:nvSpPr>
          <p:cNvPr id="601" name="Google Shape;601;p9"/>
          <p:cNvSpPr/>
          <p:nvPr/>
        </p:nvSpPr>
        <p:spPr>
          <a:xfrm>
            <a:off x="4795418" y="1783080"/>
            <a:ext cx="3332378" cy="4434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2" name="Google Shape;602;p9"/>
          <p:cNvCxnSpPr/>
          <p:nvPr/>
        </p:nvCxnSpPr>
        <p:spPr>
          <a:xfrm>
            <a:off x="4795418" y="1783080"/>
            <a:ext cx="182880" cy="0"/>
          </a:xfrm>
          <a:prstGeom prst="straightConnector1">
            <a:avLst/>
          </a:prstGeom>
          <a:noFill/>
          <a:ln cap="flat" cmpd="sng" w="19050">
            <a:solidFill>
              <a:srgbClr val="C4841F"/>
            </a:solidFill>
            <a:prstDash val="solid"/>
            <a:round/>
            <a:headEnd len="sm" w="sm" type="none"/>
            <a:tailEnd len="sm" w="sm" type="none"/>
          </a:ln>
        </p:spPr>
      </p:cxnSp>
      <p:cxnSp>
        <p:nvCxnSpPr>
          <p:cNvPr id="603" name="Google Shape;603;p9"/>
          <p:cNvCxnSpPr/>
          <p:nvPr/>
        </p:nvCxnSpPr>
        <p:spPr>
          <a:xfrm>
            <a:off x="4795418" y="1783080"/>
            <a:ext cx="0" cy="182880"/>
          </a:xfrm>
          <a:prstGeom prst="straightConnector1">
            <a:avLst/>
          </a:prstGeom>
          <a:noFill/>
          <a:ln cap="flat" cmpd="sng" w="19050">
            <a:solidFill>
              <a:srgbClr val="C4841F"/>
            </a:solidFill>
            <a:prstDash val="solid"/>
            <a:round/>
            <a:headEnd len="sm" w="sm" type="none"/>
            <a:tailEnd len="sm" w="sm" type="none"/>
          </a:ln>
        </p:spPr>
      </p:cxnSp>
      <p:cxnSp>
        <p:nvCxnSpPr>
          <p:cNvPr id="604" name="Google Shape;604;p9"/>
          <p:cNvCxnSpPr/>
          <p:nvPr/>
        </p:nvCxnSpPr>
        <p:spPr>
          <a:xfrm>
            <a:off x="7944917" y="6217920"/>
            <a:ext cx="182880" cy="0"/>
          </a:xfrm>
          <a:prstGeom prst="straightConnector1">
            <a:avLst/>
          </a:prstGeom>
          <a:noFill/>
          <a:ln cap="flat" cmpd="sng" w="19050">
            <a:solidFill>
              <a:srgbClr val="C4841F"/>
            </a:solidFill>
            <a:prstDash val="solid"/>
            <a:round/>
            <a:headEnd len="sm" w="sm" type="none"/>
            <a:tailEnd len="sm" w="sm" type="none"/>
          </a:ln>
        </p:spPr>
      </p:cxnSp>
      <p:cxnSp>
        <p:nvCxnSpPr>
          <p:cNvPr id="605" name="Google Shape;605;p9"/>
          <p:cNvCxnSpPr/>
          <p:nvPr/>
        </p:nvCxnSpPr>
        <p:spPr>
          <a:xfrm>
            <a:off x="8127797" y="6035040"/>
            <a:ext cx="0" cy="182880"/>
          </a:xfrm>
          <a:prstGeom prst="straightConnector1">
            <a:avLst/>
          </a:prstGeom>
          <a:noFill/>
          <a:ln cap="flat" cmpd="sng" w="19050">
            <a:solidFill>
              <a:srgbClr val="C4841F"/>
            </a:solidFill>
            <a:prstDash val="solid"/>
            <a:round/>
            <a:headEnd len="sm" w="sm" type="none"/>
            <a:tailEnd len="sm" w="sm" type="none"/>
          </a:ln>
        </p:spPr>
      </p:cxnSp>
      <p:sp>
        <p:nvSpPr>
          <p:cNvPr id="606" name="Google Shape;606;p9"/>
          <p:cNvSpPr/>
          <p:nvPr/>
        </p:nvSpPr>
        <p:spPr>
          <a:xfrm>
            <a:off x="4795418" y="1783080"/>
            <a:ext cx="3332378" cy="777240"/>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9"/>
          <p:cNvSpPr/>
          <p:nvPr/>
        </p:nvSpPr>
        <p:spPr>
          <a:xfrm>
            <a:off x="5024018" y="1929384"/>
            <a:ext cx="475488" cy="475488"/>
          </a:xfrm>
          <a:prstGeom prst="rect">
            <a:avLst/>
          </a:prstGeom>
          <a:solidFill>
            <a:srgbClr val="3A10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9"/>
          <p:cNvSpPr txBox="1"/>
          <p:nvPr/>
        </p:nvSpPr>
        <p:spPr>
          <a:xfrm>
            <a:off x="5024018" y="1929384"/>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09" name="Google Shape;609;p9"/>
          <p:cNvSpPr txBox="1"/>
          <p:nvPr/>
        </p:nvSpPr>
        <p:spPr>
          <a:xfrm>
            <a:off x="5664098" y="1783080"/>
            <a:ext cx="2326538"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EDGE RUNTIME &amp; APIs</a:t>
            </a:r>
            <a:endParaRPr sz="1300">
              <a:solidFill>
                <a:schemeClr val="dk1"/>
              </a:solidFill>
              <a:latin typeface="Calibri"/>
              <a:ea typeface="Calibri"/>
              <a:cs typeface="Calibri"/>
              <a:sym typeface="Calibri"/>
            </a:endParaRPr>
          </a:p>
        </p:txBody>
      </p:sp>
      <p:sp>
        <p:nvSpPr>
          <p:cNvPr id="610" name="Google Shape;610;p9"/>
          <p:cNvSpPr txBox="1"/>
          <p:nvPr/>
        </p:nvSpPr>
        <p:spPr>
          <a:xfrm>
            <a:off x="5051450" y="2770632"/>
            <a:ext cx="2820314" cy="3246120"/>
          </a:xfrm>
          <a:prstGeom prst="rect">
            <a:avLst/>
          </a:prstGeom>
          <a:noFill/>
          <a:ln>
            <a:noFill/>
          </a:ln>
        </p:spPr>
        <p:txBody>
          <a:bodyPr anchorCtr="0" anchor="t" bIns="0" lIns="0" spcFirstLastPara="1" rIns="0" wrap="square" tIns="0">
            <a:noAutofit/>
          </a:bodyPr>
          <a:lstStyle/>
          <a:p>
            <a:pPr indent="-254000" lvl="0" marL="254000" marR="0" rtl="0" algn="l">
              <a:spcBef>
                <a:spcPts val="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Universal Web-standard fetch() Worker</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Node.js standalone server</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15-min in-memory edge cache</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Health checks at /healthz</a:t>
            </a:r>
            <a:endParaRPr sz="1250">
              <a:solidFill>
                <a:schemeClr val="dk1"/>
              </a:solidFill>
              <a:latin typeface="Calibri"/>
              <a:ea typeface="Calibri"/>
              <a:cs typeface="Calibri"/>
              <a:sym typeface="Calibri"/>
            </a:endParaRPr>
          </a:p>
        </p:txBody>
      </p:sp>
      <p:sp>
        <p:nvSpPr>
          <p:cNvPr id="611" name="Google Shape;611;p9"/>
          <p:cNvSpPr/>
          <p:nvPr/>
        </p:nvSpPr>
        <p:spPr>
          <a:xfrm>
            <a:off x="8356397" y="1783080"/>
            <a:ext cx="3332378" cy="4434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2" name="Google Shape;612;p9"/>
          <p:cNvCxnSpPr/>
          <p:nvPr/>
        </p:nvCxnSpPr>
        <p:spPr>
          <a:xfrm>
            <a:off x="8356397" y="1783080"/>
            <a:ext cx="182880" cy="0"/>
          </a:xfrm>
          <a:prstGeom prst="straightConnector1">
            <a:avLst/>
          </a:prstGeom>
          <a:noFill/>
          <a:ln cap="flat" cmpd="sng" w="19050">
            <a:solidFill>
              <a:srgbClr val="5C1414"/>
            </a:solidFill>
            <a:prstDash val="solid"/>
            <a:round/>
            <a:headEnd len="sm" w="sm" type="none"/>
            <a:tailEnd len="sm" w="sm" type="none"/>
          </a:ln>
        </p:spPr>
      </p:cxnSp>
      <p:cxnSp>
        <p:nvCxnSpPr>
          <p:cNvPr id="613" name="Google Shape;613;p9"/>
          <p:cNvCxnSpPr/>
          <p:nvPr/>
        </p:nvCxnSpPr>
        <p:spPr>
          <a:xfrm>
            <a:off x="8356397" y="1783080"/>
            <a:ext cx="0" cy="182880"/>
          </a:xfrm>
          <a:prstGeom prst="straightConnector1">
            <a:avLst/>
          </a:prstGeom>
          <a:noFill/>
          <a:ln cap="flat" cmpd="sng" w="19050">
            <a:solidFill>
              <a:srgbClr val="5C1414"/>
            </a:solidFill>
            <a:prstDash val="solid"/>
            <a:round/>
            <a:headEnd len="sm" w="sm" type="none"/>
            <a:tailEnd len="sm" w="sm" type="none"/>
          </a:ln>
        </p:spPr>
      </p:cxnSp>
      <p:cxnSp>
        <p:nvCxnSpPr>
          <p:cNvPr id="614" name="Google Shape;614;p9"/>
          <p:cNvCxnSpPr/>
          <p:nvPr/>
        </p:nvCxnSpPr>
        <p:spPr>
          <a:xfrm>
            <a:off x="11505895" y="6217920"/>
            <a:ext cx="182880" cy="0"/>
          </a:xfrm>
          <a:prstGeom prst="straightConnector1">
            <a:avLst/>
          </a:prstGeom>
          <a:noFill/>
          <a:ln cap="flat" cmpd="sng" w="19050">
            <a:solidFill>
              <a:srgbClr val="5C1414"/>
            </a:solidFill>
            <a:prstDash val="solid"/>
            <a:round/>
            <a:headEnd len="sm" w="sm" type="none"/>
            <a:tailEnd len="sm" w="sm" type="none"/>
          </a:ln>
        </p:spPr>
      </p:cxnSp>
      <p:cxnSp>
        <p:nvCxnSpPr>
          <p:cNvPr id="615" name="Google Shape;615;p9"/>
          <p:cNvCxnSpPr/>
          <p:nvPr/>
        </p:nvCxnSpPr>
        <p:spPr>
          <a:xfrm>
            <a:off x="11688775" y="6035040"/>
            <a:ext cx="0" cy="182880"/>
          </a:xfrm>
          <a:prstGeom prst="straightConnector1">
            <a:avLst/>
          </a:prstGeom>
          <a:noFill/>
          <a:ln cap="flat" cmpd="sng" w="19050">
            <a:solidFill>
              <a:srgbClr val="5C1414"/>
            </a:solidFill>
            <a:prstDash val="solid"/>
            <a:round/>
            <a:headEnd len="sm" w="sm" type="none"/>
            <a:tailEnd len="sm" w="sm" type="none"/>
          </a:ln>
        </p:spPr>
      </p:cxnSp>
      <p:sp>
        <p:nvSpPr>
          <p:cNvPr id="616" name="Google Shape;616;p9"/>
          <p:cNvSpPr/>
          <p:nvPr/>
        </p:nvSpPr>
        <p:spPr>
          <a:xfrm>
            <a:off x="8356397" y="1783080"/>
            <a:ext cx="3332378" cy="777240"/>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9"/>
          <p:cNvSpPr/>
          <p:nvPr/>
        </p:nvSpPr>
        <p:spPr>
          <a:xfrm>
            <a:off x="8584997" y="1929384"/>
            <a:ext cx="475488" cy="475488"/>
          </a:xfrm>
          <a:prstGeom prst="rect">
            <a:avLst/>
          </a:prstGeom>
          <a:solidFill>
            <a:srgbClr val="3A10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9"/>
          <p:cNvSpPr txBox="1"/>
          <p:nvPr/>
        </p:nvSpPr>
        <p:spPr>
          <a:xfrm>
            <a:off x="8584997" y="1929384"/>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1700">
                <a:solidFill>
                  <a:srgbClr val="FFFFFF"/>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19" name="Google Shape;619;p9"/>
          <p:cNvSpPr txBox="1"/>
          <p:nvPr/>
        </p:nvSpPr>
        <p:spPr>
          <a:xfrm>
            <a:off x="9225077" y="1783080"/>
            <a:ext cx="2326538"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LIVE HOSTING &amp; QUALITY</a:t>
            </a:r>
            <a:endParaRPr sz="1300">
              <a:solidFill>
                <a:schemeClr val="dk1"/>
              </a:solidFill>
              <a:latin typeface="Calibri"/>
              <a:ea typeface="Calibri"/>
              <a:cs typeface="Calibri"/>
              <a:sym typeface="Calibri"/>
            </a:endParaRPr>
          </a:p>
        </p:txBody>
      </p:sp>
      <p:sp>
        <p:nvSpPr>
          <p:cNvPr id="620" name="Google Shape;620;p9"/>
          <p:cNvSpPr txBox="1"/>
          <p:nvPr/>
        </p:nvSpPr>
        <p:spPr>
          <a:xfrm>
            <a:off x="8612429" y="2770632"/>
            <a:ext cx="2820314" cy="3246120"/>
          </a:xfrm>
          <a:prstGeom prst="rect">
            <a:avLst/>
          </a:prstGeom>
          <a:noFill/>
          <a:ln>
            <a:noFill/>
          </a:ln>
        </p:spPr>
        <p:txBody>
          <a:bodyPr anchorCtr="0" anchor="t" bIns="0" lIns="0" spcFirstLastPara="1" rIns="0" wrap="square" tIns="0">
            <a:noAutofit/>
          </a:bodyPr>
          <a:lstStyle/>
          <a:p>
            <a:pPr indent="-254000" lvl="0" marL="254000" marR="0" rtl="0" algn="l">
              <a:spcBef>
                <a:spcPts val="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Deployed live on Vercel</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Global CDN caching</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Zero runtime database</a:t>
            </a:r>
            <a:endParaRPr sz="1250">
              <a:solidFill>
                <a:schemeClr val="dk1"/>
              </a:solidFill>
              <a:latin typeface="Calibri"/>
              <a:ea typeface="Calibri"/>
              <a:cs typeface="Calibri"/>
              <a:sym typeface="Calibri"/>
            </a:endParaRPr>
          </a:p>
          <a:p>
            <a:pPr indent="-254000" lvl="0" marL="254000" marR="0" rtl="0" algn="l">
              <a:spcBef>
                <a:spcPts val="1100"/>
              </a:spcBef>
              <a:spcAft>
                <a:spcPts val="0"/>
              </a:spcAft>
              <a:buClr>
                <a:srgbClr val="F3E7E4"/>
              </a:buClr>
              <a:buSzPts val="1250"/>
              <a:buFont typeface="Courier New"/>
              <a:buChar char="›"/>
            </a:pPr>
            <a:r>
              <a:rPr lang="en-US" sz="1250">
                <a:solidFill>
                  <a:srgbClr val="F3E7E4"/>
                </a:solidFill>
                <a:latin typeface="Courier New"/>
                <a:ea typeface="Courier New"/>
                <a:cs typeface="Courier New"/>
                <a:sym typeface="Courier New"/>
              </a:rPr>
              <a:t>10/10 passing unit tests</a:t>
            </a:r>
            <a:endParaRPr sz="12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625" name="Shape 625"/>
        <p:cNvGrpSpPr/>
        <p:nvPr/>
      </p:nvGrpSpPr>
      <p:grpSpPr>
        <a:xfrm>
          <a:off x="0" y="0"/>
          <a:ext cx="0" cy="0"/>
          <a:chOff x="0" y="0"/>
          <a:chExt cx="0" cy="0"/>
        </a:xfrm>
      </p:grpSpPr>
      <p:sp>
        <p:nvSpPr>
          <p:cNvPr id="626" name="Google Shape;626;p10"/>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7" name="Google Shape;627;p10"/>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628" name="Google Shape;628;p10"/>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629" name="Google Shape;629;p10"/>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10</a:t>
            </a:r>
            <a:endParaRPr sz="2200">
              <a:solidFill>
                <a:schemeClr val="dk1"/>
              </a:solidFill>
              <a:latin typeface="Calibri"/>
              <a:ea typeface="Calibri"/>
              <a:cs typeface="Calibri"/>
              <a:sym typeface="Calibri"/>
            </a:endParaRPr>
          </a:p>
        </p:txBody>
      </p:sp>
      <p:sp>
        <p:nvSpPr>
          <p:cNvPr id="630" name="Google Shape;630;p10"/>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631" name="Google Shape;631;p10"/>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0"/>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0"/>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0"/>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0"/>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0"/>
          <p:cNvSpPr txBox="1"/>
          <p:nvPr/>
        </p:nvSpPr>
        <p:spPr>
          <a:xfrm>
            <a:off x="1234440" y="502920"/>
            <a:ext cx="1045433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IMPACT &amp; FUTURE VISION</a:t>
            </a:r>
            <a:endParaRPr sz="1100">
              <a:solidFill>
                <a:schemeClr val="dk1"/>
              </a:solidFill>
              <a:latin typeface="Calibri"/>
              <a:ea typeface="Calibri"/>
              <a:cs typeface="Calibri"/>
              <a:sym typeface="Calibri"/>
            </a:endParaRPr>
          </a:p>
        </p:txBody>
      </p:sp>
      <p:sp>
        <p:nvSpPr>
          <p:cNvPr id="637" name="Google Shape;637;p10"/>
          <p:cNvSpPr txBox="1"/>
          <p:nvPr/>
        </p:nvSpPr>
        <p:spPr>
          <a:xfrm>
            <a:off x="1234440" y="804672"/>
            <a:ext cx="1045433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2700"/>
              <a:buFont typeface="Arial"/>
              <a:buNone/>
            </a:pPr>
            <a:r>
              <a:rPr b="1" lang="en-US" sz="2700">
                <a:solidFill>
                  <a:srgbClr val="F3E7E4"/>
                </a:solidFill>
                <a:latin typeface="Arial"/>
                <a:ea typeface="Arial"/>
                <a:cs typeface="Arial"/>
                <a:sym typeface="Arial"/>
              </a:rPr>
              <a:t>REAL-WORLD IMPACT &amp; ROADMAP</a:t>
            </a:r>
            <a:endParaRPr sz="2700">
              <a:solidFill>
                <a:schemeClr val="dk1"/>
              </a:solidFill>
              <a:latin typeface="Calibri"/>
              <a:ea typeface="Calibri"/>
              <a:cs typeface="Calibri"/>
              <a:sym typeface="Calibri"/>
            </a:endParaRPr>
          </a:p>
        </p:txBody>
      </p:sp>
      <p:cxnSp>
        <p:nvCxnSpPr>
          <p:cNvPr id="638" name="Google Shape;638;p10"/>
          <p:cNvCxnSpPr/>
          <p:nvPr/>
        </p:nvCxnSpPr>
        <p:spPr>
          <a:xfrm>
            <a:off x="1234440" y="1463040"/>
            <a:ext cx="10454335" cy="0"/>
          </a:xfrm>
          <a:prstGeom prst="straightConnector1">
            <a:avLst/>
          </a:prstGeom>
          <a:noFill/>
          <a:ln cap="flat" cmpd="sng" w="12700">
            <a:solidFill>
              <a:srgbClr val="45201D"/>
            </a:solidFill>
            <a:prstDash val="solid"/>
            <a:round/>
            <a:headEnd len="sm" w="sm" type="none"/>
            <a:tailEnd len="sm" w="sm" type="none"/>
          </a:ln>
        </p:spPr>
      </p:cxnSp>
      <p:sp>
        <p:nvSpPr>
          <p:cNvPr id="639" name="Google Shape;639;p10"/>
          <p:cNvSpPr/>
          <p:nvPr/>
        </p:nvSpPr>
        <p:spPr>
          <a:xfrm>
            <a:off x="1234440" y="1783080"/>
            <a:ext cx="5067148" cy="4434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0" name="Google Shape;640;p10"/>
          <p:cNvCxnSpPr/>
          <p:nvPr/>
        </p:nvCxnSpPr>
        <p:spPr>
          <a:xfrm>
            <a:off x="1234440" y="1783080"/>
            <a:ext cx="182880" cy="0"/>
          </a:xfrm>
          <a:prstGeom prst="straightConnector1">
            <a:avLst/>
          </a:prstGeom>
          <a:noFill/>
          <a:ln cap="flat" cmpd="sng" w="19050">
            <a:solidFill>
              <a:srgbClr val="B3271D"/>
            </a:solidFill>
            <a:prstDash val="solid"/>
            <a:round/>
            <a:headEnd len="sm" w="sm" type="none"/>
            <a:tailEnd len="sm" w="sm" type="none"/>
          </a:ln>
        </p:spPr>
      </p:cxnSp>
      <p:cxnSp>
        <p:nvCxnSpPr>
          <p:cNvPr id="641" name="Google Shape;641;p10"/>
          <p:cNvCxnSpPr/>
          <p:nvPr/>
        </p:nvCxnSpPr>
        <p:spPr>
          <a:xfrm>
            <a:off x="1234440" y="1783080"/>
            <a:ext cx="0" cy="182880"/>
          </a:xfrm>
          <a:prstGeom prst="straightConnector1">
            <a:avLst/>
          </a:prstGeom>
          <a:noFill/>
          <a:ln cap="flat" cmpd="sng" w="19050">
            <a:solidFill>
              <a:srgbClr val="B3271D"/>
            </a:solidFill>
            <a:prstDash val="solid"/>
            <a:round/>
            <a:headEnd len="sm" w="sm" type="none"/>
            <a:tailEnd len="sm" w="sm" type="none"/>
          </a:ln>
        </p:spPr>
      </p:cxnSp>
      <p:cxnSp>
        <p:nvCxnSpPr>
          <p:cNvPr id="642" name="Google Shape;642;p10"/>
          <p:cNvCxnSpPr/>
          <p:nvPr/>
        </p:nvCxnSpPr>
        <p:spPr>
          <a:xfrm>
            <a:off x="6118708" y="6217920"/>
            <a:ext cx="182880" cy="0"/>
          </a:xfrm>
          <a:prstGeom prst="straightConnector1">
            <a:avLst/>
          </a:prstGeom>
          <a:noFill/>
          <a:ln cap="flat" cmpd="sng" w="19050">
            <a:solidFill>
              <a:srgbClr val="B3271D"/>
            </a:solidFill>
            <a:prstDash val="solid"/>
            <a:round/>
            <a:headEnd len="sm" w="sm" type="none"/>
            <a:tailEnd len="sm" w="sm" type="none"/>
          </a:ln>
        </p:spPr>
      </p:cxnSp>
      <p:cxnSp>
        <p:nvCxnSpPr>
          <p:cNvPr id="643" name="Google Shape;643;p10"/>
          <p:cNvCxnSpPr/>
          <p:nvPr/>
        </p:nvCxnSpPr>
        <p:spPr>
          <a:xfrm>
            <a:off x="6301588" y="6035040"/>
            <a:ext cx="0" cy="182880"/>
          </a:xfrm>
          <a:prstGeom prst="straightConnector1">
            <a:avLst/>
          </a:prstGeom>
          <a:noFill/>
          <a:ln cap="flat" cmpd="sng" w="19050">
            <a:solidFill>
              <a:srgbClr val="B3271D"/>
            </a:solidFill>
            <a:prstDash val="solid"/>
            <a:round/>
            <a:headEnd len="sm" w="sm" type="none"/>
            <a:tailEnd len="sm" w="sm" type="none"/>
          </a:ln>
        </p:spPr>
      </p:cxnSp>
      <p:sp>
        <p:nvSpPr>
          <p:cNvPr id="644" name="Google Shape;644;p10"/>
          <p:cNvSpPr/>
          <p:nvPr/>
        </p:nvSpPr>
        <p:spPr>
          <a:xfrm>
            <a:off x="1234440" y="1783080"/>
            <a:ext cx="5067148" cy="502920"/>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0"/>
          <p:cNvSpPr txBox="1"/>
          <p:nvPr/>
        </p:nvSpPr>
        <p:spPr>
          <a:xfrm>
            <a:off x="1463040" y="1783080"/>
            <a:ext cx="460994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Arial"/>
              <a:buNone/>
            </a:pPr>
            <a:r>
              <a:rPr b="1" lang="en-US" sz="1250">
                <a:solidFill>
                  <a:srgbClr val="FFFFFF"/>
                </a:solidFill>
                <a:latin typeface="Arial"/>
                <a:ea typeface="Arial"/>
                <a:cs typeface="Arial"/>
                <a:sym typeface="Arial"/>
              </a:rPr>
              <a:t>CURRENT OPERATIONAL VALUE</a:t>
            </a:r>
            <a:endParaRPr sz="1250">
              <a:solidFill>
                <a:schemeClr val="dk1"/>
              </a:solidFill>
              <a:latin typeface="Calibri"/>
              <a:ea typeface="Calibri"/>
              <a:cs typeface="Calibri"/>
              <a:sym typeface="Calibri"/>
            </a:endParaRPr>
          </a:p>
        </p:txBody>
      </p:sp>
      <p:sp>
        <p:nvSpPr>
          <p:cNvPr id="646" name="Google Shape;646;p10"/>
          <p:cNvSpPr/>
          <p:nvPr/>
        </p:nvSpPr>
        <p:spPr>
          <a:xfrm>
            <a:off x="1508760" y="2423160"/>
            <a:ext cx="384048" cy="384048"/>
          </a:xfrm>
          <a:prstGeom prst="rect">
            <a:avLst/>
          </a:prstGeom>
          <a:solidFill>
            <a:srgbClr val="4C9F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0"/>
          <p:cNvSpPr txBox="1"/>
          <p:nvPr/>
        </p:nvSpPr>
        <p:spPr>
          <a:xfrm>
            <a:off x="1508760" y="2423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648" name="Google Shape;648;p10"/>
          <p:cNvSpPr txBox="1"/>
          <p:nvPr/>
        </p:nvSpPr>
        <p:spPr>
          <a:xfrm>
            <a:off x="2039112" y="2331720"/>
            <a:ext cx="4015588"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1250"/>
              <a:buFont typeface="Calibri"/>
              <a:buNone/>
            </a:pPr>
            <a:r>
              <a:rPr lang="en-US" sz="1250">
                <a:solidFill>
                  <a:srgbClr val="F3E7E4"/>
                </a:solidFill>
                <a:latin typeface="Calibri"/>
                <a:ea typeface="Calibri"/>
                <a:cs typeface="Calibri"/>
                <a:sym typeface="Calibri"/>
              </a:rPr>
              <a:t>Eliminates decision paralysis through explainable, auditable metrics</a:t>
            </a:r>
            <a:endParaRPr sz="1250">
              <a:solidFill>
                <a:schemeClr val="dk1"/>
              </a:solidFill>
              <a:latin typeface="Calibri"/>
              <a:ea typeface="Calibri"/>
              <a:cs typeface="Calibri"/>
              <a:sym typeface="Calibri"/>
            </a:endParaRPr>
          </a:p>
        </p:txBody>
      </p:sp>
      <p:sp>
        <p:nvSpPr>
          <p:cNvPr id="649" name="Google Shape;649;p10"/>
          <p:cNvSpPr/>
          <p:nvPr/>
        </p:nvSpPr>
        <p:spPr>
          <a:xfrm>
            <a:off x="1508760" y="3566160"/>
            <a:ext cx="384048" cy="384048"/>
          </a:xfrm>
          <a:prstGeom prst="rect">
            <a:avLst/>
          </a:prstGeom>
          <a:solidFill>
            <a:srgbClr val="4C9F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0"/>
          <p:cNvSpPr txBox="1"/>
          <p:nvPr/>
        </p:nvSpPr>
        <p:spPr>
          <a:xfrm>
            <a:off x="1508760" y="3566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651" name="Google Shape;651;p10"/>
          <p:cNvSpPr txBox="1"/>
          <p:nvPr/>
        </p:nvSpPr>
        <p:spPr>
          <a:xfrm>
            <a:off x="2039112" y="3474720"/>
            <a:ext cx="4015588"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1250"/>
              <a:buFont typeface="Calibri"/>
              <a:buNone/>
            </a:pPr>
            <a:r>
              <a:rPr lang="en-US" sz="1250">
                <a:solidFill>
                  <a:srgbClr val="F3E7E4"/>
                </a:solidFill>
                <a:latin typeface="Calibri"/>
                <a:ea typeface="Calibri"/>
                <a:cs typeface="Calibri"/>
                <a:sym typeface="Calibri"/>
              </a:rPr>
              <a:t>Zero API cost overhead via free, open global data feeds</a:t>
            </a:r>
            <a:endParaRPr sz="1250">
              <a:solidFill>
                <a:schemeClr val="dk1"/>
              </a:solidFill>
              <a:latin typeface="Calibri"/>
              <a:ea typeface="Calibri"/>
              <a:cs typeface="Calibri"/>
              <a:sym typeface="Calibri"/>
            </a:endParaRPr>
          </a:p>
        </p:txBody>
      </p:sp>
      <p:sp>
        <p:nvSpPr>
          <p:cNvPr id="652" name="Google Shape;652;p10"/>
          <p:cNvSpPr/>
          <p:nvPr/>
        </p:nvSpPr>
        <p:spPr>
          <a:xfrm>
            <a:off x="1508760" y="4709160"/>
            <a:ext cx="384048" cy="384048"/>
          </a:xfrm>
          <a:prstGeom prst="rect">
            <a:avLst/>
          </a:prstGeom>
          <a:solidFill>
            <a:srgbClr val="4C9F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0"/>
          <p:cNvSpPr txBox="1"/>
          <p:nvPr/>
        </p:nvSpPr>
        <p:spPr>
          <a:xfrm>
            <a:off x="1508760" y="4709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654" name="Google Shape;654;p10"/>
          <p:cNvSpPr txBox="1"/>
          <p:nvPr/>
        </p:nvSpPr>
        <p:spPr>
          <a:xfrm>
            <a:off x="2039112" y="4617720"/>
            <a:ext cx="4015588"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3E7E4"/>
              </a:buClr>
              <a:buSzPts val="1250"/>
              <a:buFont typeface="Calibri"/>
              <a:buNone/>
            </a:pPr>
            <a:r>
              <a:rPr lang="en-US" sz="1250">
                <a:solidFill>
                  <a:srgbClr val="F3E7E4"/>
                </a:solidFill>
                <a:latin typeface="Calibri"/>
                <a:ea typeface="Calibri"/>
                <a:cs typeface="Calibri"/>
                <a:sym typeface="Calibri"/>
              </a:rPr>
              <a:t>Immediate interoperability with police and revenue control rooms</a:t>
            </a:r>
            <a:endParaRPr sz="1250">
              <a:solidFill>
                <a:schemeClr val="dk1"/>
              </a:solidFill>
              <a:latin typeface="Calibri"/>
              <a:ea typeface="Calibri"/>
              <a:cs typeface="Calibri"/>
              <a:sym typeface="Calibri"/>
            </a:endParaRPr>
          </a:p>
        </p:txBody>
      </p:sp>
      <p:sp>
        <p:nvSpPr>
          <p:cNvPr id="655" name="Google Shape;655;p10"/>
          <p:cNvSpPr/>
          <p:nvPr/>
        </p:nvSpPr>
        <p:spPr>
          <a:xfrm>
            <a:off x="6621628" y="1783080"/>
            <a:ext cx="5067148" cy="4434840"/>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6" name="Google Shape;656;p10"/>
          <p:cNvCxnSpPr/>
          <p:nvPr/>
        </p:nvCxnSpPr>
        <p:spPr>
          <a:xfrm>
            <a:off x="6621628" y="1783080"/>
            <a:ext cx="182880" cy="0"/>
          </a:xfrm>
          <a:prstGeom prst="straightConnector1">
            <a:avLst/>
          </a:prstGeom>
          <a:noFill/>
          <a:ln cap="flat" cmpd="sng" w="19050">
            <a:solidFill>
              <a:srgbClr val="E8A23B"/>
            </a:solidFill>
            <a:prstDash val="solid"/>
            <a:round/>
            <a:headEnd len="sm" w="sm" type="none"/>
            <a:tailEnd len="sm" w="sm" type="none"/>
          </a:ln>
        </p:spPr>
      </p:cxnSp>
      <p:cxnSp>
        <p:nvCxnSpPr>
          <p:cNvPr id="657" name="Google Shape;657;p10"/>
          <p:cNvCxnSpPr/>
          <p:nvPr/>
        </p:nvCxnSpPr>
        <p:spPr>
          <a:xfrm>
            <a:off x="6621628" y="1783080"/>
            <a:ext cx="0" cy="182880"/>
          </a:xfrm>
          <a:prstGeom prst="straightConnector1">
            <a:avLst/>
          </a:prstGeom>
          <a:noFill/>
          <a:ln cap="flat" cmpd="sng" w="19050">
            <a:solidFill>
              <a:srgbClr val="E8A23B"/>
            </a:solidFill>
            <a:prstDash val="solid"/>
            <a:round/>
            <a:headEnd len="sm" w="sm" type="none"/>
            <a:tailEnd len="sm" w="sm" type="none"/>
          </a:ln>
        </p:spPr>
      </p:cxnSp>
      <p:cxnSp>
        <p:nvCxnSpPr>
          <p:cNvPr id="658" name="Google Shape;658;p10"/>
          <p:cNvCxnSpPr/>
          <p:nvPr/>
        </p:nvCxnSpPr>
        <p:spPr>
          <a:xfrm>
            <a:off x="11505895" y="6217920"/>
            <a:ext cx="182880" cy="0"/>
          </a:xfrm>
          <a:prstGeom prst="straightConnector1">
            <a:avLst/>
          </a:prstGeom>
          <a:noFill/>
          <a:ln cap="flat" cmpd="sng" w="19050">
            <a:solidFill>
              <a:srgbClr val="E8A23B"/>
            </a:solidFill>
            <a:prstDash val="solid"/>
            <a:round/>
            <a:headEnd len="sm" w="sm" type="none"/>
            <a:tailEnd len="sm" w="sm" type="none"/>
          </a:ln>
        </p:spPr>
      </p:cxnSp>
      <p:cxnSp>
        <p:nvCxnSpPr>
          <p:cNvPr id="659" name="Google Shape;659;p10"/>
          <p:cNvCxnSpPr/>
          <p:nvPr/>
        </p:nvCxnSpPr>
        <p:spPr>
          <a:xfrm>
            <a:off x="11688775" y="6035040"/>
            <a:ext cx="0" cy="182880"/>
          </a:xfrm>
          <a:prstGeom prst="straightConnector1">
            <a:avLst/>
          </a:prstGeom>
          <a:noFill/>
          <a:ln cap="flat" cmpd="sng" w="19050">
            <a:solidFill>
              <a:srgbClr val="E8A23B"/>
            </a:solidFill>
            <a:prstDash val="solid"/>
            <a:round/>
            <a:headEnd len="sm" w="sm" type="none"/>
            <a:tailEnd len="sm" w="sm" type="none"/>
          </a:ln>
        </p:spPr>
      </p:cxnSp>
      <p:sp>
        <p:nvSpPr>
          <p:cNvPr id="660" name="Google Shape;660;p10"/>
          <p:cNvSpPr/>
          <p:nvPr/>
        </p:nvSpPr>
        <p:spPr>
          <a:xfrm>
            <a:off x="6621628" y="1783080"/>
            <a:ext cx="5067148" cy="502920"/>
          </a:xfrm>
          <a:prstGeom prst="rect">
            <a:avLst/>
          </a:prstGeom>
          <a:solidFill>
            <a:srgbClr val="2410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0"/>
          <p:cNvSpPr txBox="1"/>
          <p:nvPr/>
        </p:nvSpPr>
        <p:spPr>
          <a:xfrm>
            <a:off x="6850228" y="1783080"/>
            <a:ext cx="460994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250"/>
              <a:buFont typeface="Arial"/>
              <a:buNone/>
            </a:pPr>
            <a:r>
              <a:rPr b="1" lang="en-US" sz="1250">
                <a:solidFill>
                  <a:srgbClr val="E8A23B"/>
                </a:solidFill>
                <a:latin typeface="Arial"/>
                <a:ea typeface="Arial"/>
                <a:cs typeface="Arial"/>
                <a:sym typeface="Arial"/>
              </a:rPr>
              <a:t>PHASE 2 OPERATIONAL ROADMAP</a:t>
            </a:r>
            <a:endParaRPr sz="1250">
              <a:solidFill>
                <a:schemeClr val="dk1"/>
              </a:solidFill>
              <a:latin typeface="Calibri"/>
              <a:ea typeface="Calibri"/>
              <a:cs typeface="Calibri"/>
              <a:sym typeface="Calibri"/>
            </a:endParaRPr>
          </a:p>
        </p:txBody>
      </p:sp>
      <p:sp>
        <p:nvSpPr>
          <p:cNvPr id="662" name="Google Shape;662;p10"/>
          <p:cNvSpPr/>
          <p:nvPr/>
        </p:nvSpPr>
        <p:spPr>
          <a:xfrm>
            <a:off x="6895948" y="2423160"/>
            <a:ext cx="384048" cy="384048"/>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0"/>
          <p:cNvSpPr txBox="1"/>
          <p:nvPr/>
        </p:nvSpPr>
        <p:spPr>
          <a:xfrm>
            <a:off x="6895948" y="2423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2400"/>
              </a:buClr>
              <a:buSzPts val="1400"/>
              <a:buFont typeface="Calibri"/>
              <a:buNone/>
            </a:pPr>
            <a:r>
              <a:rPr b="1" lang="en-US" sz="1400">
                <a:solidFill>
                  <a:srgbClr val="3A2400"/>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664" name="Google Shape;664;p10"/>
          <p:cNvSpPr txBox="1"/>
          <p:nvPr/>
        </p:nvSpPr>
        <p:spPr>
          <a:xfrm>
            <a:off x="7426300" y="2313432"/>
            <a:ext cx="401558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250"/>
              <a:buFont typeface="Arial"/>
              <a:buNone/>
            </a:pPr>
            <a:r>
              <a:rPr b="1" lang="en-US" sz="1250">
                <a:solidFill>
                  <a:srgbClr val="F3E7E4"/>
                </a:solidFill>
                <a:latin typeface="Arial"/>
                <a:ea typeface="Arial"/>
                <a:cs typeface="Arial"/>
                <a:sym typeface="Arial"/>
              </a:rPr>
              <a:t>IMD Doppler Radar Ingestion</a:t>
            </a:r>
            <a:endParaRPr sz="1250">
              <a:solidFill>
                <a:schemeClr val="dk1"/>
              </a:solidFill>
              <a:latin typeface="Calibri"/>
              <a:ea typeface="Calibri"/>
              <a:cs typeface="Calibri"/>
              <a:sym typeface="Calibri"/>
            </a:endParaRPr>
          </a:p>
        </p:txBody>
      </p:sp>
      <p:sp>
        <p:nvSpPr>
          <p:cNvPr id="665" name="Google Shape;665;p10"/>
          <p:cNvSpPr txBox="1"/>
          <p:nvPr/>
        </p:nvSpPr>
        <p:spPr>
          <a:xfrm>
            <a:off x="7426300" y="2624328"/>
            <a:ext cx="4015588"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050"/>
              <a:buFont typeface="Calibri"/>
              <a:buNone/>
            </a:pPr>
            <a:r>
              <a:rPr lang="en-US" sz="1050">
                <a:solidFill>
                  <a:srgbClr val="C7A19C"/>
                </a:solidFill>
                <a:latin typeface="Calibri"/>
                <a:ea typeface="Calibri"/>
                <a:cs typeface="Calibri"/>
                <a:sym typeface="Calibri"/>
              </a:rPr>
              <a:t>Sub-hourly nowcasting sweeps for near-term precision.</a:t>
            </a:r>
            <a:endParaRPr sz="1050">
              <a:solidFill>
                <a:schemeClr val="dk1"/>
              </a:solidFill>
              <a:latin typeface="Calibri"/>
              <a:ea typeface="Calibri"/>
              <a:cs typeface="Calibri"/>
              <a:sym typeface="Calibri"/>
            </a:endParaRPr>
          </a:p>
        </p:txBody>
      </p:sp>
      <p:sp>
        <p:nvSpPr>
          <p:cNvPr id="666" name="Google Shape;666;p10"/>
          <p:cNvSpPr/>
          <p:nvPr/>
        </p:nvSpPr>
        <p:spPr>
          <a:xfrm>
            <a:off x="6895948" y="3566160"/>
            <a:ext cx="384048" cy="384048"/>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0"/>
          <p:cNvSpPr txBox="1"/>
          <p:nvPr/>
        </p:nvSpPr>
        <p:spPr>
          <a:xfrm>
            <a:off x="6895948" y="3566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2400"/>
              </a:buClr>
              <a:buSzPts val="1400"/>
              <a:buFont typeface="Calibri"/>
              <a:buNone/>
            </a:pPr>
            <a:r>
              <a:rPr b="1" lang="en-US" sz="1400">
                <a:solidFill>
                  <a:srgbClr val="3A2400"/>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sp>
        <p:nvSpPr>
          <p:cNvPr id="668" name="Google Shape;668;p10"/>
          <p:cNvSpPr txBox="1"/>
          <p:nvPr/>
        </p:nvSpPr>
        <p:spPr>
          <a:xfrm>
            <a:off x="7426300" y="3456432"/>
            <a:ext cx="401558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250"/>
              <a:buFont typeface="Arial"/>
              <a:buNone/>
            </a:pPr>
            <a:r>
              <a:rPr b="1" lang="en-US" sz="1250">
                <a:solidFill>
                  <a:srgbClr val="F3E7E4"/>
                </a:solidFill>
                <a:latin typeface="Arial"/>
                <a:ea typeface="Arial"/>
                <a:cs typeface="Arial"/>
                <a:sym typeface="Arial"/>
              </a:rPr>
              <a:t>Physical LoRa Mesh Deployment</a:t>
            </a:r>
            <a:endParaRPr sz="1250">
              <a:solidFill>
                <a:schemeClr val="dk1"/>
              </a:solidFill>
              <a:latin typeface="Calibri"/>
              <a:ea typeface="Calibri"/>
              <a:cs typeface="Calibri"/>
              <a:sym typeface="Calibri"/>
            </a:endParaRPr>
          </a:p>
        </p:txBody>
      </p:sp>
      <p:sp>
        <p:nvSpPr>
          <p:cNvPr id="669" name="Google Shape;669;p10"/>
          <p:cNvSpPr txBox="1"/>
          <p:nvPr/>
        </p:nvSpPr>
        <p:spPr>
          <a:xfrm>
            <a:off x="7426300" y="3767328"/>
            <a:ext cx="4015588"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050"/>
              <a:buFont typeface="Calibri"/>
              <a:buNone/>
            </a:pPr>
            <a:r>
              <a:rPr lang="en-US" sz="1050">
                <a:solidFill>
                  <a:srgbClr val="C7A19C"/>
                </a:solidFill>
                <a:latin typeface="Calibri"/>
                <a:ea typeface="Calibri"/>
                <a:cs typeface="Calibri"/>
                <a:sym typeface="Calibri"/>
              </a:rPr>
              <a:t>Solar-powered ESP32 nodes on tea plantation hillsides.</a:t>
            </a:r>
            <a:endParaRPr sz="1050">
              <a:solidFill>
                <a:schemeClr val="dk1"/>
              </a:solidFill>
              <a:latin typeface="Calibri"/>
              <a:ea typeface="Calibri"/>
              <a:cs typeface="Calibri"/>
              <a:sym typeface="Calibri"/>
            </a:endParaRPr>
          </a:p>
        </p:txBody>
      </p:sp>
      <p:sp>
        <p:nvSpPr>
          <p:cNvPr id="670" name="Google Shape;670;p10"/>
          <p:cNvSpPr/>
          <p:nvPr/>
        </p:nvSpPr>
        <p:spPr>
          <a:xfrm>
            <a:off x="6895948" y="4709160"/>
            <a:ext cx="384048" cy="384048"/>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0"/>
          <p:cNvSpPr txBox="1"/>
          <p:nvPr/>
        </p:nvSpPr>
        <p:spPr>
          <a:xfrm>
            <a:off x="6895948" y="4709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2400"/>
              </a:buClr>
              <a:buSzPts val="1400"/>
              <a:buFont typeface="Calibri"/>
              <a:buNone/>
            </a:pPr>
            <a:r>
              <a:rPr b="1" lang="en-US" sz="1400">
                <a:solidFill>
                  <a:srgbClr val="3A2400"/>
                </a:solidFill>
                <a:latin typeface="Calibri"/>
                <a:ea typeface="Calibri"/>
                <a:cs typeface="Calibri"/>
                <a:sym typeface="Calibri"/>
              </a:rPr>
              <a:t>3</a:t>
            </a:r>
            <a:endParaRPr sz="1400">
              <a:solidFill>
                <a:schemeClr val="dk1"/>
              </a:solidFill>
              <a:latin typeface="Calibri"/>
              <a:ea typeface="Calibri"/>
              <a:cs typeface="Calibri"/>
              <a:sym typeface="Calibri"/>
            </a:endParaRPr>
          </a:p>
        </p:txBody>
      </p:sp>
      <p:sp>
        <p:nvSpPr>
          <p:cNvPr id="672" name="Google Shape;672;p10"/>
          <p:cNvSpPr txBox="1"/>
          <p:nvPr/>
        </p:nvSpPr>
        <p:spPr>
          <a:xfrm>
            <a:off x="7426300" y="4599432"/>
            <a:ext cx="401558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250"/>
              <a:buFont typeface="Arial"/>
              <a:buNone/>
            </a:pPr>
            <a:r>
              <a:rPr b="1" lang="en-US" sz="1250">
                <a:solidFill>
                  <a:srgbClr val="F3E7E4"/>
                </a:solidFill>
                <a:latin typeface="Arial"/>
                <a:ea typeface="Arial"/>
                <a:cs typeface="Arial"/>
                <a:sym typeface="Arial"/>
              </a:rPr>
              <a:t>Multi-Lingual Voice Alerts</a:t>
            </a:r>
            <a:endParaRPr sz="1250">
              <a:solidFill>
                <a:schemeClr val="dk1"/>
              </a:solidFill>
              <a:latin typeface="Calibri"/>
              <a:ea typeface="Calibri"/>
              <a:cs typeface="Calibri"/>
              <a:sym typeface="Calibri"/>
            </a:endParaRPr>
          </a:p>
        </p:txBody>
      </p:sp>
      <p:sp>
        <p:nvSpPr>
          <p:cNvPr id="673" name="Google Shape;673;p10"/>
          <p:cNvSpPr txBox="1"/>
          <p:nvPr/>
        </p:nvSpPr>
        <p:spPr>
          <a:xfrm>
            <a:off x="7426300" y="4910328"/>
            <a:ext cx="4015588"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A19C"/>
              </a:buClr>
              <a:buSzPts val="1050"/>
              <a:buFont typeface="Calibri"/>
              <a:buNone/>
            </a:pPr>
            <a:r>
              <a:rPr lang="en-US" sz="1050">
                <a:solidFill>
                  <a:srgbClr val="C7A19C"/>
                </a:solidFill>
                <a:latin typeface="Calibri"/>
                <a:ea typeface="Calibri"/>
                <a:cs typeface="Calibri"/>
                <a:sym typeface="Calibri"/>
              </a:rPr>
              <a:t>Automated Malayalam &amp; Tamil IVR broadcasts for rural families without smartphones.</a:t>
            </a:r>
            <a:endParaRPr sz="10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606"/>
        </a:solidFill>
      </p:bgPr>
    </p:bg>
    <p:spTree>
      <p:nvGrpSpPr>
        <p:cNvPr id="678" name="Shape 678"/>
        <p:cNvGrpSpPr/>
        <p:nvPr/>
      </p:nvGrpSpPr>
      <p:grpSpPr>
        <a:xfrm>
          <a:off x="0" y="0"/>
          <a:ext cx="0" cy="0"/>
          <a:chOff x="0" y="0"/>
          <a:chExt cx="0" cy="0"/>
        </a:xfrm>
      </p:grpSpPr>
      <p:sp>
        <p:nvSpPr>
          <p:cNvPr id="679" name="Google Shape;679;p11"/>
          <p:cNvSpPr/>
          <p:nvPr/>
        </p:nvSpPr>
        <p:spPr>
          <a:xfrm>
            <a:off x="0" y="0"/>
            <a:ext cx="822960" cy="6858000"/>
          </a:xfrm>
          <a:prstGeom prst="rect">
            <a:avLst/>
          </a:prstGeom>
          <a:solidFill>
            <a:srgbClr val="2A0F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0" name="Google Shape;680;p11"/>
          <p:cNvCxnSpPr/>
          <p:nvPr/>
        </p:nvCxnSpPr>
        <p:spPr>
          <a:xfrm>
            <a:off x="822960" y="0"/>
            <a:ext cx="0" cy="6858000"/>
          </a:xfrm>
          <a:prstGeom prst="straightConnector1">
            <a:avLst/>
          </a:prstGeom>
          <a:noFill/>
          <a:ln cap="flat" cmpd="sng" w="12700">
            <a:solidFill>
              <a:srgbClr val="45201D"/>
            </a:solidFill>
            <a:prstDash val="solid"/>
            <a:round/>
            <a:headEnd len="sm" w="sm" type="none"/>
            <a:tailEnd len="sm" w="sm" type="none"/>
          </a:ln>
        </p:spPr>
      </p:cxnSp>
      <p:sp>
        <p:nvSpPr>
          <p:cNvPr id="681" name="Google Shape;681;p11"/>
          <p:cNvSpPr txBox="1"/>
          <p:nvPr/>
        </p:nvSpPr>
        <p:spPr>
          <a:xfrm rot="-5400000">
            <a:off x="-1691640" y="32004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ECOSHIELD</a:t>
            </a:r>
            <a:endParaRPr sz="1100">
              <a:solidFill>
                <a:schemeClr val="dk1"/>
              </a:solidFill>
              <a:latin typeface="Calibri"/>
              <a:ea typeface="Calibri"/>
              <a:cs typeface="Calibri"/>
              <a:sym typeface="Calibri"/>
            </a:endParaRPr>
          </a:p>
        </p:txBody>
      </p:sp>
      <p:sp>
        <p:nvSpPr>
          <p:cNvPr id="682" name="Google Shape;682;p11"/>
          <p:cNvSpPr txBox="1"/>
          <p:nvPr/>
        </p:nvSpPr>
        <p:spPr>
          <a:xfrm rot="-5400000">
            <a:off x="-502920" y="5897880"/>
            <a:ext cx="1828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ourier New"/>
              <a:buNone/>
            </a:pPr>
            <a:r>
              <a:rPr b="1" lang="en-US" sz="2200">
                <a:solidFill>
                  <a:srgbClr val="FFFFFF"/>
                </a:solidFill>
                <a:latin typeface="Courier New"/>
                <a:ea typeface="Courier New"/>
                <a:cs typeface="Courier New"/>
                <a:sym typeface="Courier New"/>
              </a:rPr>
              <a:t>11</a:t>
            </a:r>
            <a:endParaRPr sz="2200">
              <a:solidFill>
                <a:schemeClr val="dk1"/>
              </a:solidFill>
              <a:latin typeface="Calibri"/>
              <a:ea typeface="Calibri"/>
              <a:cs typeface="Calibri"/>
              <a:sym typeface="Calibri"/>
            </a:endParaRPr>
          </a:p>
        </p:txBody>
      </p:sp>
      <p:sp>
        <p:nvSpPr>
          <p:cNvPr id="683" name="Google Shape;683;p11"/>
          <p:cNvSpPr txBox="1"/>
          <p:nvPr/>
        </p:nvSpPr>
        <p:spPr>
          <a:xfrm rot="-5400000">
            <a:off x="-777240" y="647395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A19C"/>
              </a:buClr>
              <a:buSzPts val="900"/>
              <a:buFont typeface="Courier New"/>
              <a:buNone/>
            </a:pPr>
            <a:r>
              <a:rPr lang="en-US" sz="900">
                <a:solidFill>
                  <a:srgbClr val="C7A19C"/>
                </a:solidFill>
                <a:latin typeface="Courier New"/>
                <a:ea typeface="Courier New"/>
                <a:cs typeface="Courier New"/>
                <a:sym typeface="Courier New"/>
              </a:rPr>
              <a:t>/ 11</a:t>
            </a:r>
            <a:endParaRPr sz="900">
              <a:solidFill>
                <a:schemeClr val="dk1"/>
              </a:solidFill>
              <a:latin typeface="Calibri"/>
              <a:ea typeface="Calibri"/>
              <a:cs typeface="Calibri"/>
              <a:sym typeface="Calibri"/>
            </a:endParaRPr>
          </a:p>
        </p:txBody>
      </p:sp>
      <p:sp>
        <p:nvSpPr>
          <p:cNvPr id="684" name="Google Shape;684;p11"/>
          <p:cNvSpPr/>
          <p:nvPr/>
        </p:nvSpPr>
        <p:spPr>
          <a:xfrm>
            <a:off x="365760" y="1097280"/>
            <a:ext cx="91440" cy="73152"/>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1"/>
          <p:cNvSpPr/>
          <p:nvPr/>
        </p:nvSpPr>
        <p:spPr>
          <a:xfrm>
            <a:off x="365760" y="1298448"/>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1"/>
          <p:cNvSpPr/>
          <p:nvPr/>
        </p:nvSpPr>
        <p:spPr>
          <a:xfrm>
            <a:off x="365760" y="1499616"/>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1"/>
          <p:cNvSpPr/>
          <p:nvPr/>
        </p:nvSpPr>
        <p:spPr>
          <a:xfrm>
            <a:off x="365760" y="1700784"/>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1"/>
          <p:cNvSpPr/>
          <p:nvPr/>
        </p:nvSpPr>
        <p:spPr>
          <a:xfrm>
            <a:off x="365760" y="1901952"/>
            <a:ext cx="91440" cy="73152"/>
          </a:xfrm>
          <a:prstGeom prst="rect">
            <a:avLst/>
          </a:prstGeom>
          <a:solidFill>
            <a:srgbClr val="452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1"/>
          <p:cNvSpPr/>
          <p:nvPr/>
        </p:nvSpPr>
        <p:spPr>
          <a:xfrm rot="1200000">
            <a:off x="7985455" y="2926080"/>
            <a:ext cx="5120640" cy="5120640"/>
          </a:xfrm>
          <a:prstGeom prst="rect">
            <a:avLst/>
          </a:prstGeom>
          <a:noFill/>
          <a:ln cap="flat" cmpd="sng" w="19050">
            <a:solidFill>
              <a:srgbClr val="2A0F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1"/>
          <p:cNvSpPr txBox="1"/>
          <p:nvPr/>
        </p:nvSpPr>
        <p:spPr>
          <a:xfrm>
            <a:off x="1234440" y="548640"/>
            <a:ext cx="8686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23B"/>
              </a:buClr>
              <a:buSzPts val="1100"/>
              <a:buFont typeface="Courier New"/>
              <a:buNone/>
            </a:pPr>
            <a:r>
              <a:rPr b="1" lang="en-US" sz="1100">
                <a:solidFill>
                  <a:srgbClr val="E8A23B"/>
                </a:solidFill>
                <a:latin typeface="Courier New"/>
                <a:ea typeface="Courier New"/>
                <a:cs typeface="Courier New"/>
                <a:sym typeface="Courier New"/>
              </a:rPr>
              <a:t>// PROTECTING COMMUNITIES WITH TRANSPARENT INTELLIGENCE</a:t>
            </a:r>
            <a:endParaRPr sz="1100">
              <a:solidFill>
                <a:schemeClr val="dk1"/>
              </a:solidFill>
              <a:latin typeface="Calibri"/>
              <a:ea typeface="Calibri"/>
              <a:cs typeface="Calibri"/>
              <a:sym typeface="Calibri"/>
            </a:endParaRPr>
          </a:p>
        </p:txBody>
      </p:sp>
      <p:sp>
        <p:nvSpPr>
          <p:cNvPr id="691" name="Google Shape;691;p11"/>
          <p:cNvSpPr txBox="1"/>
          <p:nvPr/>
        </p:nvSpPr>
        <p:spPr>
          <a:xfrm>
            <a:off x="1234440" y="1051560"/>
            <a:ext cx="96012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lang="en-US" sz="3800">
                <a:solidFill>
                  <a:srgbClr val="FFFFFF"/>
                </a:solidFill>
                <a:latin typeface="Arial"/>
                <a:ea typeface="Arial"/>
                <a:cs typeface="Arial"/>
                <a:sym typeface="Arial"/>
              </a:rPr>
              <a:t>ECOSHIELD IS LIVE &amp; READY.</a:t>
            </a:r>
            <a:endParaRPr sz="3800">
              <a:solidFill>
                <a:schemeClr val="dk1"/>
              </a:solidFill>
              <a:latin typeface="Calibri"/>
              <a:ea typeface="Calibri"/>
              <a:cs typeface="Calibri"/>
              <a:sym typeface="Calibri"/>
            </a:endParaRPr>
          </a:p>
        </p:txBody>
      </p:sp>
      <p:sp>
        <p:nvSpPr>
          <p:cNvPr id="692" name="Google Shape;692;p11"/>
          <p:cNvSpPr/>
          <p:nvPr/>
        </p:nvSpPr>
        <p:spPr>
          <a:xfrm>
            <a:off x="1234440" y="2194560"/>
            <a:ext cx="7680960" cy="777240"/>
          </a:xfrm>
          <a:prstGeom prst="rect">
            <a:avLst/>
          </a:prstGeom>
          <a:solidFill>
            <a:srgbClr val="E8A2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3" name="Google Shape;693;p11"/>
          <p:cNvCxnSpPr/>
          <p:nvPr/>
        </p:nvCxnSpPr>
        <p:spPr>
          <a:xfrm>
            <a:off x="1234440" y="2194560"/>
            <a:ext cx="146304" cy="0"/>
          </a:xfrm>
          <a:prstGeom prst="straightConnector1">
            <a:avLst/>
          </a:prstGeom>
          <a:noFill/>
          <a:ln cap="flat" cmpd="sng" w="19050">
            <a:solidFill>
              <a:srgbClr val="3A2400"/>
            </a:solidFill>
            <a:prstDash val="solid"/>
            <a:round/>
            <a:headEnd len="sm" w="sm" type="none"/>
            <a:tailEnd len="sm" w="sm" type="none"/>
          </a:ln>
        </p:spPr>
      </p:cxnSp>
      <p:cxnSp>
        <p:nvCxnSpPr>
          <p:cNvPr id="694" name="Google Shape;694;p11"/>
          <p:cNvCxnSpPr/>
          <p:nvPr/>
        </p:nvCxnSpPr>
        <p:spPr>
          <a:xfrm>
            <a:off x="1234440" y="2194560"/>
            <a:ext cx="0" cy="146304"/>
          </a:xfrm>
          <a:prstGeom prst="straightConnector1">
            <a:avLst/>
          </a:prstGeom>
          <a:noFill/>
          <a:ln cap="flat" cmpd="sng" w="19050">
            <a:solidFill>
              <a:srgbClr val="3A2400"/>
            </a:solidFill>
            <a:prstDash val="solid"/>
            <a:round/>
            <a:headEnd len="sm" w="sm" type="none"/>
            <a:tailEnd len="sm" w="sm" type="none"/>
          </a:ln>
        </p:spPr>
      </p:cxnSp>
      <p:cxnSp>
        <p:nvCxnSpPr>
          <p:cNvPr id="695" name="Google Shape;695;p11"/>
          <p:cNvCxnSpPr/>
          <p:nvPr/>
        </p:nvCxnSpPr>
        <p:spPr>
          <a:xfrm>
            <a:off x="8769096" y="2971800"/>
            <a:ext cx="146304" cy="0"/>
          </a:xfrm>
          <a:prstGeom prst="straightConnector1">
            <a:avLst/>
          </a:prstGeom>
          <a:noFill/>
          <a:ln cap="flat" cmpd="sng" w="19050">
            <a:solidFill>
              <a:srgbClr val="3A2400"/>
            </a:solidFill>
            <a:prstDash val="solid"/>
            <a:round/>
            <a:headEnd len="sm" w="sm" type="none"/>
            <a:tailEnd len="sm" w="sm" type="none"/>
          </a:ln>
        </p:spPr>
      </p:cxnSp>
      <p:cxnSp>
        <p:nvCxnSpPr>
          <p:cNvPr id="696" name="Google Shape;696;p11"/>
          <p:cNvCxnSpPr/>
          <p:nvPr/>
        </p:nvCxnSpPr>
        <p:spPr>
          <a:xfrm>
            <a:off x="8915400" y="2825496"/>
            <a:ext cx="0" cy="146304"/>
          </a:xfrm>
          <a:prstGeom prst="straightConnector1">
            <a:avLst/>
          </a:prstGeom>
          <a:noFill/>
          <a:ln cap="flat" cmpd="sng" w="19050">
            <a:solidFill>
              <a:srgbClr val="3A2400"/>
            </a:solidFill>
            <a:prstDash val="solid"/>
            <a:round/>
            <a:headEnd len="sm" w="sm" type="none"/>
            <a:tailEnd len="sm" w="sm" type="none"/>
          </a:ln>
        </p:spPr>
      </p:cxnSp>
      <p:sp>
        <p:nvSpPr>
          <p:cNvPr id="697" name="Google Shape;697;p11"/>
          <p:cNvSpPr txBox="1"/>
          <p:nvPr/>
        </p:nvSpPr>
        <p:spPr>
          <a:xfrm>
            <a:off x="1463040" y="2194560"/>
            <a:ext cx="7315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2400"/>
              </a:buClr>
              <a:buSzPts val="1900"/>
              <a:buFont typeface="Courier New"/>
              <a:buNone/>
            </a:pPr>
            <a:r>
              <a:rPr b="1" lang="en-US" sz="1900" u="sng">
                <a:solidFill>
                  <a:schemeClr val="hlink"/>
                </a:solidFill>
                <a:latin typeface="Courier New"/>
                <a:ea typeface="Courier New"/>
                <a:cs typeface="Courier New"/>
                <a:sym typeface="Courier New"/>
                <a:hlinkClick r:id="rId3"/>
              </a:rPr>
              <a:t>https://ecoshield-xi.vercel.app</a:t>
            </a:r>
            <a:endParaRPr sz="1900">
              <a:solidFill>
                <a:schemeClr val="dk1"/>
              </a:solidFill>
              <a:latin typeface="Calibri"/>
              <a:ea typeface="Calibri"/>
              <a:cs typeface="Calibri"/>
              <a:sym typeface="Calibri"/>
            </a:endParaRPr>
          </a:p>
        </p:txBody>
      </p:sp>
      <p:sp>
        <p:nvSpPr>
          <p:cNvPr id="698" name="Google Shape;698;p11"/>
          <p:cNvSpPr/>
          <p:nvPr/>
        </p:nvSpPr>
        <p:spPr>
          <a:xfrm>
            <a:off x="1234440" y="3246120"/>
            <a:ext cx="4998568" cy="93268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9" name="Google Shape;699;p11"/>
          <p:cNvCxnSpPr/>
          <p:nvPr/>
        </p:nvCxnSpPr>
        <p:spPr>
          <a:xfrm>
            <a:off x="1234440" y="3246120"/>
            <a:ext cx="128016" cy="0"/>
          </a:xfrm>
          <a:prstGeom prst="straightConnector1">
            <a:avLst/>
          </a:prstGeom>
          <a:noFill/>
          <a:ln cap="flat" cmpd="sng" w="19050">
            <a:solidFill>
              <a:srgbClr val="B3271D"/>
            </a:solidFill>
            <a:prstDash val="solid"/>
            <a:round/>
            <a:headEnd len="sm" w="sm" type="none"/>
            <a:tailEnd len="sm" w="sm" type="none"/>
          </a:ln>
        </p:spPr>
      </p:cxnSp>
      <p:cxnSp>
        <p:nvCxnSpPr>
          <p:cNvPr id="700" name="Google Shape;700;p11"/>
          <p:cNvCxnSpPr/>
          <p:nvPr/>
        </p:nvCxnSpPr>
        <p:spPr>
          <a:xfrm>
            <a:off x="1234440" y="3246120"/>
            <a:ext cx="0" cy="128016"/>
          </a:xfrm>
          <a:prstGeom prst="straightConnector1">
            <a:avLst/>
          </a:prstGeom>
          <a:noFill/>
          <a:ln cap="flat" cmpd="sng" w="19050">
            <a:solidFill>
              <a:srgbClr val="B3271D"/>
            </a:solidFill>
            <a:prstDash val="solid"/>
            <a:round/>
            <a:headEnd len="sm" w="sm" type="none"/>
            <a:tailEnd len="sm" w="sm" type="none"/>
          </a:ln>
        </p:spPr>
      </p:cxnSp>
      <p:cxnSp>
        <p:nvCxnSpPr>
          <p:cNvPr id="701" name="Google Shape;701;p11"/>
          <p:cNvCxnSpPr/>
          <p:nvPr/>
        </p:nvCxnSpPr>
        <p:spPr>
          <a:xfrm>
            <a:off x="6104992" y="4178808"/>
            <a:ext cx="128016" cy="0"/>
          </a:xfrm>
          <a:prstGeom prst="straightConnector1">
            <a:avLst/>
          </a:prstGeom>
          <a:noFill/>
          <a:ln cap="flat" cmpd="sng" w="19050">
            <a:solidFill>
              <a:srgbClr val="B3271D"/>
            </a:solidFill>
            <a:prstDash val="solid"/>
            <a:round/>
            <a:headEnd len="sm" w="sm" type="none"/>
            <a:tailEnd len="sm" w="sm" type="none"/>
          </a:ln>
        </p:spPr>
      </p:cxnSp>
      <p:cxnSp>
        <p:nvCxnSpPr>
          <p:cNvPr id="702" name="Google Shape;702;p11"/>
          <p:cNvCxnSpPr/>
          <p:nvPr/>
        </p:nvCxnSpPr>
        <p:spPr>
          <a:xfrm>
            <a:off x="6233008" y="4050792"/>
            <a:ext cx="0" cy="128016"/>
          </a:xfrm>
          <a:prstGeom prst="straightConnector1">
            <a:avLst/>
          </a:prstGeom>
          <a:noFill/>
          <a:ln cap="flat" cmpd="sng" w="19050">
            <a:solidFill>
              <a:srgbClr val="B3271D"/>
            </a:solidFill>
            <a:prstDash val="solid"/>
            <a:round/>
            <a:headEnd len="sm" w="sm" type="none"/>
            <a:tailEnd len="sm" w="sm" type="none"/>
          </a:ln>
        </p:spPr>
      </p:cxnSp>
      <p:sp>
        <p:nvSpPr>
          <p:cNvPr id="703" name="Google Shape;703;p11"/>
          <p:cNvSpPr/>
          <p:nvPr/>
        </p:nvSpPr>
        <p:spPr>
          <a:xfrm>
            <a:off x="1380744" y="3419856"/>
            <a:ext cx="502920" cy="502920"/>
          </a:xfrm>
          <a:prstGeom prst="rect">
            <a:avLst/>
          </a:prstGeom>
          <a:solidFill>
            <a:srgbClr val="B327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1"/>
          <p:cNvSpPr txBox="1"/>
          <p:nvPr/>
        </p:nvSpPr>
        <p:spPr>
          <a:xfrm>
            <a:off x="1380744" y="341985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705" name="Google Shape;705;p11"/>
          <p:cNvSpPr txBox="1"/>
          <p:nvPr/>
        </p:nvSpPr>
        <p:spPr>
          <a:xfrm>
            <a:off x="2039112" y="3246120"/>
            <a:ext cx="4038448" cy="9326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200"/>
              <a:buFont typeface="Calibri"/>
              <a:buNone/>
            </a:pPr>
            <a:r>
              <a:rPr b="1" lang="en-US" sz="1200">
                <a:solidFill>
                  <a:srgbClr val="F3E7E4"/>
                </a:solidFill>
                <a:latin typeface="Calibri"/>
                <a:ea typeface="Calibri"/>
                <a:cs typeface="Calibri"/>
                <a:sym typeface="Calibri"/>
              </a:rPr>
              <a:t>100% Explainable AI Engine — Zero Black Box</a:t>
            </a:r>
            <a:endParaRPr sz="1200">
              <a:solidFill>
                <a:schemeClr val="dk1"/>
              </a:solidFill>
              <a:latin typeface="Calibri"/>
              <a:ea typeface="Calibri"/>
              <a:cs typeface="Calibri"/>
              <a:sym typeface="Calibri"/>
            </a:endParaRPr>
          </a:p>
        </p:txBody>
      </p:sp>
      <p:sp>
        <p:nvSpPr>
          <p:cNvPr id="706" name="Google Shape;706;p11"/>
          <p:cNvSpPr/>
          <p:nvPr/>
        </p:nvSpPr>
        <p:spPr>
          <a:xfrm>
            <a:off x="6461608" y="3246120"/>
            <a:ext cx="4998568" cy="93268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7" name="Google Shape;707;p11"/>
          <p:cNvCxnSpPr/>
          <p:nvPr/>
        </p:nvCxnSpPr>
        <p:spPr>
          <a:xfrm>
            <a:off x="6461608" y="3246120"/>
            <a:ext cx="128016" cy="0"/>
          </a:xfrm>
          <a:prstGeom prst="straightConnector1">
            <a:avLst/>
          </a:prstGeom>
          <a:noFill/>
          <a:ln cap="flat" cmpd="sng" w="19050">
            <a:solidFill>
              <a:srgbClr val="C4841F"/>
            </a:solidFill>
            <a:prstDash val="solid"/>
            <a:round/>
            <a:headEnd len="sm" w="sm" type="none"/>
            <a:tailEnd len="sm" w="sm" type="none"/>
          </a:ln>
        </p:spPr>
      </p:cxnSp>
      <p:cxnSp>
        <p:nvCxnSpPr>
          <p:cNvPr id="708" name="Google Shape;708;p11"/>
          <p:cNvCxnSpPr/>
          <p:nvPr/>
        </p:nvCxnSpPr>
        <p:spPr>
          <a:xfrm>
            <a:off x="6461608" y="3246120"/>
            <a:ext cx="0" cy="128016"/>
          </a:xfrm>
          <a:prstGeom prst="straightConnector1">
            <a:avLst/>
          </a:prstGeom>
          <a:noFill/>
          <a:ln cap="flat" cmpd="sng" w="19050">
            <a:solidFill>
              <a:srgbClr val="C4841F"/>
            </a:solidFill>
            <a:prstDash val="solid"/>
            <a:round/>
            <a:headEnd len="sm" w="sm" type="none"/>
            <a:tailEnd len="sm" w="sm" type="none"/>
          </a:ln>
        </p:spPr>
      </p:cxnSp>
      <p:cxnSp>
        <p:nvCxnSpPr>
          <p:cNvPr id="709" name="Google Shape;709;p11"/>
          <p:cNvCxnSpPr/>
          <p:nvPr/>
        </p:nvCxnSpPr>
        <p:spPr>
          <a:xfrm>
            <a:off x="11332159" y="4178808"/>
            <a:ext cx="128016" cy="0"/>
          </a:xfrm>
          <a:prstGeom prst="straightConnector1">
            <a:avLst/>
          </a:prstGeom>
          <a:noFill/>
          <a:ln cap="flat" cmpd="sng" w="19050">
            <a:solidFill>
              <a:srgbClr val="C4841F"/>
            </a:solidFill>
            <a:prstDash val="solid"/>
            <a:round/>
            <a:headEnd len="sm" w="sm" type="none"/>
            <a:tailEnd len="sm" w="sm" type="none"/>
          </a:ln>
        </p:spPr>
      </p:cxnSp>
      <p:cxnSp>
        <p:nvCxnSpPr>
          <p:cNvPr id="710" name="Google Shape;710;p11"/>
          <p:cNvCxnSpPr/>
          <p:nvPr/>
        </p:nvCxnSpPr>
        <p:spPr>
          <a:xfrm>
            <a:off x="11460175" y="4050792"/>
            <a:ext cx="0" cy="128016"/>
          </a:xfrm>
          <a:prstGeom prst="straightConnector1">
            <a:avLst/>
          </a:prstGeom>
          <a:noFill/>
          <a:ln cap="flat" cmpd="sng" w="19050">
            <a:solidFill>
              <a:srgbClr val="C4841F"/>
            </a:solidFill>
            <a:prstDash val="solid"/>
            <a:round/>
            <a:headEnd len="sm" w="sm" type="none"/>
            <a:tailEnd len="sm" w="sm" type="none"/>
          </a:ln>
        </p:spPr>
      </p:cxnSp>
      <p:sp>
        <p:nvSpPr>
          <p:cNvPr id="711" name="Google Shape;711;p11"/>
          <p:cNvSpPr/>
          <p:nvPr/>
        </p:nvSpPr>
        <p:spPr>
          <a:xfrm>
            <a:off x="6607912" y="3419856"/>
            <a:ext cx="502920" cy="502920"/>
          </a:xfrm>
          <a:prstGeom prst="rect">
            <a:avLst/>
          </a:prstGeom>
          <a:solidFill>
            <a:srgbClr val="C48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1"/>
          <p:cNvSpPr txBox="1"/>
          <p:nvPr/>
        </p:nvSpPr>
        <p:spPr>
          <a:xfrm>
            <a:off x="6607912" y="341985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713" name="Google Shape;713;p11"/>
          <p:cNvSpPr txBox="1"/>
          <p:nvPr/>
        </p:nvSpPr>
        <p:spPr>
          <a:xfrm>
            <a:off x="7266280" y="3246120"/>
            <a:ext cx="4038448" cy="9326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200"/>
              <a:buFont typeface="Calibri"/>
              <a:buNone/>
            </a:pPr>
            <a:r>
              <a:rPr b="1" lang="en-US" sz="1200">
                <a:solidFill>
                  <a:srgbClr val="F3E7E4"/>
                </a:solidFill>
                <a:latin typeface="Calibri"/>
                <a:ea typeface="Calibri"/>
                <a:cs typeface="Calibri"/>
                <a:sym typeface="Calibri"/>
              </a:rPr>
              <a:t>5 Real-Time Global Telemetry Feeds in Production</a:t>
            </a:r>
            <a:endParaRPr sz="1200">
              <a:solidFill>
                <a:schemeClr val="dk1"/>
              </a:solidFill>
              <a:latin typeface="Calibri"/>
              <a:ea typeface="Calibri"/>
              <a:cs typeface="Calibri"/>
              <a:sym typeface="Calibri"/>
            </a:endParaRPr>
          </a:p>
        </p:txBody>
      </p:sp>
      <p:sp>
        <p:nvSpPr>
          <p:cNvPr id="714" name="Google Shape;714;p11"/>
          <p:cNvSpPr/>
          <p:nvPr/>
        </p:nvSpPr>
        <p:spPr>
          <a:xfrm>
            <a:off x="1234440" y="4343400"/>
            <a:ext cx="4998568" cy="93268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5" name="Google Shape;715;p11"/>
          <p:cNvCxnSpPr/>
          <p:nvPr/>
        </p:nvCxnSpPr>
        <p:spPr>
          <a:xfrm>
            <a:off x="1234440" y="4343400"/>
            <a:ext cx="128016" cy="0"/>
          </a:xfrm>
          <a:prstGeom prst="straightConnector1">
            <a:avLst/>
          </a:prstGeom>
          <a:noFill/>
          <a:ln cap="flat" cmpd="sng" w="19050">
            <a:solidFill>
              <a:srgbClr val="5C1414"/>
            </a:solidFill>
            <a:prstDash val="solid"/>
            <a:round/>
            <a:headEnd len="sm" w="sm" type="none"/>
            <a:tailEnd len="sm" w="sm" type="none"/>
          </a:ln>
        </p:spPr>
      </p:cxnSp>
      <p:cxnSp>
        <p:nvCxnSpPr>
          <p:cNvPr id="716" name="Google Shape;716;p11"/>
          <p:cNvCxnSpPr/>
          <p:nvPr/>
        </p:nvCxnSpPr>
        <p:spPr>
          <a:xfrm>
            <a:off x="1234440" y="4343400"/>
            <a:ext cx="0" cy="128016"/>
          </a:xfrm>
          <a:prstGeom prst="straightConnector1">
            <a:avLst/>
          </a:prstGeom>
          <a:noFill/>
          <a:ln cap="flat" cmpd="sng" w="19050">
            <a:solidFill>
              <a:srgbClr val="5C1414"/>
            </a:solidFill>
            <a:prstDash val="solid"/>
            <a:round/>
            <a:headEnd len="sm" w="sm" type="none"/>
            <a:tailEnd len="sm" w="sm" type="none"/>
          </a:ln>
        </p:spPr>
      </p:cxnSp>
      <p:cxnSp>
        <p:nvCxnSpPr>
          <p:cNvPr id="717" name="Google Shape;717;p11"/>
          <p:cNvCxnSpPr/>
          <p:nvPr/>
        </p:nvCxnSpPr>
        <p:spPr>
          <a:xfrm>
            <a:off x="6104992" y="5276088"/>
            <a:ext cx="128016" cy="0"/>
          </a:xfrm>
          <a:prstGeom prst="straightConnector1">
            <a:avLst/>
          </a:prstGeom>
          <a:noFill/>
          <a:ln cap="flat" cmpd="sng" w="19050">
            <a:solidFill>
              <a:srgbClr val="5C1414"/>
            </a:solidFill>
            <a:prstDash val="solid"/>
            <a:round/>
            <a:headEnd len="sm" w="sm" type="none"/>
            <a:tailEnd len="sm" w="sm" type="none"/>
          </a:ln>
        </p:spPr>
      </p:cxnSp>
      <p:cxnSp>
        <p:nvCxnSpPr>
          <p:cNvPr id="718" name="Google Shape;718;p11"/>
          <p:cNvCxnSpPr/>
          <p:nvPr/>
        </p:nvCxnSpPr>
        <p:spPr>
          <a:xfrm>
            <a:off x="6233008" y="5148072"/>
            <a:ext cx="0" cy="128016"/>
          </a:xfrm>
          <a:prstGeom prst="straightConnector1">
            <a:avLst/>
          </a:prstGeom>
          <a:noFill/>
          <a:ln cap="flat" cmpd="sng" w="19050">
            <a:solidFill>
              <a:srgbClr val="5C1414"/>
            </a:solidFill>
            <a:prstDash val="solid"/>
            <a:round/>
            <a:headEnd len="sm" w="sm" type="none"/>
            <a:tailEnd len="sm" w="sm" type="none"/>
          </a:ln>
        </p:spPr>
      </p:cxnSp>
      <p:sp>
        <p:nvSpPr>
          <p:cNvPr id="719" name="Google Shape;719;p11"/>
          <p:cNvSpPr/>
          <p:nvPr/>
        </p:nvSpPr>
        <p:spPr>
          <a:xfrm>
            <a:off x="1380744" y="4517136"/>
            <a:ext cx="502920" cy="502920"/>
          </a:xfrm>
          <a:prstGeom prst="rect">
            <a:avLst/>
          </a:prstGeom>
          <a:solidFill>
            <a:srgbClr val="5C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1"/>
          <p:cNvSpPr txBox="1"/>
          <p:nvPr/>
        </p:nvSpPr>
        <p:spPr>
          <a:xfrm>
            <a:off x="1380744" y="451713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721" name="Google Shape;721;p11"/>
          <p:cNvSpPr txBox="1"/>
          <p:nvPr/>
        </p:nvSpPr>
        <p:spPr>
          <a:xfrm>
            <a:off x="2039112" y="4343400"/>
            <a:ext cx="4038448" cy="9326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200"/>
              <a:buFont typeface="Calibri"/>
              <a:buNone/>
            </a:pPr>
            <a:r>
              <a:rPr b="1" lang="en-US" sz="1200">
                <a:solidFill>
                  <a:srgbClr val="F3E7E4"/>
                </a:solidFill>
                <a:latin typeface="Calibri"/>
                <a:ea typeface="Calibri"/>
                <a:cs typeface="Calibri"/>
                <a:sym typeface="Calibri"/>
              </a:rPr>
              <a:t>Automated Resource Allocation &amp; Incident Replay Twin</a:t>
            </a:r>
            <a:endParaRPr sz="1200">
              <a:solidFill>
                <a:schemeClr val="dk1"/>
              </a:solidFill>
              <a:latin typeface="Calibri"/>
              <a:ea typeface="Calibri"/>
              <a:cs typeface="Calibri"/>
              <a:sym typeface="Calibri"/>
            </a:endParaRPr>
          </a:p>
        </p:txBody>
      </p:sp>
      <p:sp>
        <p:nvSpPr>
          <p:cNvPr id="722" name="Google Shape;722;p11"/>
          <p:cNvSpPr/>
          <p:nvPr/>
        </p:nvSpPr>
        <p:spPr>
          <a:xfrm>
            <a:off x="6461608" y="4343400"/>
            <a:ext cx="4998568" cy="932688"/>
          </a:xfrm>
          <a:prstGeom prst="rect">
            <a:avLst/>
          </a:prstGeom>
          <a:solidFill>
            <a:srgbClr val="200B0B"/>
          </a:solidFill>
          <a:ln cap="flat" cmpd="sng" w="12700">
            <a:solidFill>
              <a:srgbClr val="4520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3" name="Google Shape;723;p11"/>
          <p:cNvCxnSpPr/>
          <p:nvPr/>
        </p:nvCxnSpPr>
        <p:spPr>
          <a:xfrm>
            <a:off x="6461608" y="4343400"/>
            <a:ext cx="128016" cy="0"/>
          </a:xfrm>
          <a:prstGeom prst="straightConnector1">
            <a:avLst/>
          </a:prstGeom>
          <a:noFill/>
          <a:ln cap="flat" cmpd="sng" w="19050">
            <a:solidFill>
              <a:srgbClr val="D14A2E"/>
            </a:solidFill>
            <a:prstDash val="solid"/>
            <a:round/>
            <a:headEnd len="sm" w="sm" type="none"/>
            <a:tailEnd len="sm" w="sm" type="none"/>
          </a:ln>
        </p:spPr>
      </p:cxnSp>
      <p:cxnSp>
        <p:nvCxnSpPr>
          <p:cNvPr id="724" name="Google Shape;724;p11"/>
          <p:cNvCxnSpPr/>
          <p:nvPr/>
        </p:nvCxnSpPr>
        <p:spPr>
          <a:xfrm>
            <a:off x="6461608" y="4343400"/>
            <a:ext cx="0" cy="128016"/>
          </a:xfrm>
          <a:prstGeom prst="straightConnector1">
            <a:avLst/>
          </a:prstGeom>
          <a:noFill/>
          <a:ln cap="flat" cmpd="sng" w="19050">
            <a:solidFill>
              <a:srgbClr val="D14A2E"/>
            </a:solidFill>
            <a:prstDash val="solid"/>
            <a:round/>
            <a:headEnd len="sm" w="sm" type="none"/>
            <a:tailEnd len="sm" w="sm" type="none"/>
          </a:ln>
        </p:spPr>
      </p:cxnSp>
      <p:cxnSp>
        <p:nvCxnSpPr>
          <p:cNvPr id="725" name="Google Shape;725;p11"/>
          <p:cNvCxnSpPr/>
          <p:nvPr/>
        </p:nvCxnSpPr>
        <p:spPr>
          <a:xfrm>
            <a:off x="11332159" y="5276088"/>
            <a:ext cx="128016" cy="0"/>
          </a:xfrm>
          <a:prstGeom prst="straightConnector1">
            <a:avLst/>
          </a:prstGeom>
          <a:noFill/>
          <a:ln cap="flat" cmpd="sng" w="19050">
            <a:solidFill>
              <a:srgbClr val="D14A2E"/>
            </a:solidFill>
            <a:prstDash val="solid"/>
            <a:round/>
            <a:headEnd len="sm" w="sm" type="none"/>
            <a:tailEnd len="sm" w="sm" type="none"/>
          </a:ln>
        </p:spPr>
      </p:cxnSp>
      <p:cxnSp>
        <p:nvCxnSpPr>
          <p:cNvPr id="726" name="Google Shape;726;p11"/>
          <p:cNvCxnSpPr/>
          <p:nvPr/>
        </p:nvCxnSpPr>
        <p:spPr>
          <a:xfrm>
            <a:off x="11460175" y="5148072"/>
            <a:ext cx="0" cy="128016"/>
          </a:xfrm>
          <a:prstGeom prst="straightConnector1">
            <a:avLst/>
          </a:prstGeom>
          <a:noFill/>
          <a:ln cap="flat" cmpd="sng" w="19050">
            <a:solidFill>
              <a:srgbClr val="D14A2E"/>
            </a:solidFill>
            <a:prstDash val="solid"/>
            <a:round/>
            <a:headEnd len="sm" w="sm" type="none"/>
            <a:tailEnd len="sm" w="sm" type="none"/>
          </a:ln>
        </p:spPr>
      </p:cxnSp>
      <p:sp>
        <p:nvSpPr>
          <p:cNvPr id="727" name="Google Shape;727;p11"/>
          <p:cNvSpPr/>
          <p:nvPr/>
        </p:nvSpPr>
        <p:spPr>
          <a:xfrm>
            <a:off x="6607912" y="4517136"/>
            <a:ext cx="502920" cy="502920"/>
          </a:xfrm>
          <a:prstGeom prst="rect">
            <a:avLst/>
          </a:prstGeom>
          <a:solidFill>
            <a:srgbClr val="D14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1"/>
          <p:cNvSpPr txBox="1"/>
          <p:nvPr/>
        </p:nvSpPr>
        <p:spPr>
          <a:xfrm>
            <a:off x="6607912" y="451713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729" name="Google Shape;729;p11"/>
          <p:cNvSpPr txBox="1"/>
          <p:nvPr/>
        </p:nvSpPr>
        <p:spPr>
          <a:xfrm>
            <a:off x="7266280" y="4343400"/>
            <a:ext cx="4038448" cy="9326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E7E4"/>
              </a:buClr>
              <a:buSzPts val="1200"/>
              <a:buFont typeface="Calibri"/>
              <a:buNone/>
            </a:pPr>
            <a:r>
              <a:rPr b="1" lang="en-US" sz="1200">
                <a:solidFill>
                  <a:srgbClr val="F3E7E4"/>
                </a:solidFill>
                <a:latin typeface="Calibri"/>
                <a:ea typeface="Calibri"/>
                <a:cs typeface="Calibri"/>
                <a:sym typeface="Calibri"/>
              </a:rPr>
              <a:t>Universal Edge Deployment, Sub-Second Latency</a:t>
            </a:r>
            <a:endParaRPr sz="1200">
              <a:solidFill>
                <a:schemeClr val="dk1"/>
              </a:solidFill>
              <a:latin typeface="Calibri"/>
              <a:ea typeface="Calibri"/>
              <a:cs typeface="Calibri"/>
              <a:sym typeface="Calibri"/>
            </a:endParaRPr>
          </a:p>
        </p:txBody>
      </p:sp>
      <p:sp>
        <p:nvSpPr>
          <p:cNvPr id="730" name="Google Shape;730;p11"/>
          <p:cNvSpPr txBox="1"/>
          <p:nvPr/>
        </p:nvSpPr>
        <p:spPr>
          <a:xfrm>
            <a:off x="1234440" y="57607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A19C"/>
              </a:buClr>
              <a:buSzPts val="1300"/>
              <a:buFont typeface="Calibri"/>
              <a:buNone/>
            </a:pPr>
            <a:r>
              <a:rPr i="1" lang="en-US" sz="1300">
                <a:solidFill>
                  <a:srgbClr val="C7A19C"/>
                </a:solidFill>
                <a:latin typeface="Calibri"/>
                <a:ea typeface="Calibri"/>
                <a:cs typeface="Calibri"/>
                <a:sym typeface="Calibri"/>
              </a:rPr>
              <a:t>Thank you — we welcome your questions.</a:t>
            </a:r>
            <a:endParaRPr sz="13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2026-09-26T02:00:02Z</dcterms:created>
  <dc:creator>PptxGenJS</dc:creator>
</cp:coreProperties>
</file>